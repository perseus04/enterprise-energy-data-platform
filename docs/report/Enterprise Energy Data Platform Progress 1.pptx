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4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0" y="3811934"/>
            <a:ext cx="8572500" cy="2323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95437" y="722114"/>
            <a:ext cx="9001125" cy="2194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0" i="0" u="none">
                <a:solidFill>
                  <a:srgbClr val="F8FAFC"/>
                </a:solidFill>
                <a:latin typeface="Inter ExtraBold"/>
              </a:rPr>
              <a:t>Enterprise Energy Data Platform </a:t>
            </a:r>
            <a:r>
              <a:t>
</a:t>
            </a:r>
            <a:r>
              <a:rPr sz="4800" b="0" i="0" u="none">
                <a:solidFill>
                  <a:srgbClr val="0EA5E9"/>
                </a:solidFill>
                <a:latin typeface="Inter Light"/>
              </a:rPr>
              <a:t>(EEDP)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9750" y="3107084"/>
            <a:ext cx="8572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EA5E9"/>
                </a:solidFill>
                <a:latin typeface="Inter Medium"/>
              </a:rPr>
              <a:t>ABC Energy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5025" y="4107209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CURRENT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5025" y="434340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Sprint 0 &amp; Sprint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8875" y="4107209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8875" y="434340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5025" y="4872930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 dirty="0">
                <a:solidFill>
                  <a:srgbClr val="10B981"/>
                </a:solidFill>
                <a:latin typeface="Inter SemiBold"/>
              </a:rPr>
              <a:t>TEAM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5025" y="5109120"/>
            <a:ext cx="38481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26MML1003 – Jaikrishna</a:t>
            </a:r>
            <a:r>
              <a:rPr dirty="0"/>
              <a:t>
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26MML1014 - Sai Skanda U</a:t>
            </a:r>
            <a:r>
              <a:rPr dirty="0"/>
              <a:t>
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26MML1027 – Perseus Mistry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8875" y="4872930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FACULTY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8875" y="510912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Dr. M. Renukadevi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65870"/>
            <a:ext cx="523875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549747"/>
            <a:ext cx="52387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F8FAFC"/>
                </a:solidFill>
                <a:latin typeface="Inter"/>
              </a:rPr>
              <a:t>EEDP is a Data Engineering platform for ABC Energy Ltd., serving more than </a:t>
            </a:r>
            <a:r>
              <a:rPr sz="1500" b="0" i="0" u="none">
                <a:solidFill>
                  <a:srgbClr val="10B981"/>
                </a:solidFill>
                <a:latin typeface="Inter"/>
              </a:rPr>
              <a:t>10 million consumers</a:t>
            </a:r>
            <a:r>
              <a:rPr sz="1500" b="0" i="0" u="none">
                <a:solidFill>
                  <a:srgbClr val="F8FAFC"/>
                </a:solidFill>
                <a:latin typeface="Inter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397472"/>
            <a:ext cx="52387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The project addresses the problem of fragmented enterprise energy data across multiple systems by providing a unified process for: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34794"/>
            <a:ext cx="52387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1" u="none">
                <a:solidFill>
                  <a:srgbClr val="94A3B8"/>
                </a:solidFill>
                <a:latin typeface="Inter"/>
              </a:rPr>
              <a:t>Note: Sprints 0 &amp; 1 focus on foundational elements. Later sprints will extend to a complete data warehouse.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3410842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Ingestion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</a:t>
            </a:r>
            <a:r>
              <a:rPr sz="1350" b="0" i="0" u="none">
                <a:solidFill>
                  <a:srgbClr val="10B981"/>
                </a:solidFill>
                <a:latin typeface="Inter"/>
              </a:rPr>
              <a:t>[Current Phase: Done]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3875633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Cleaning &amp;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4340423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4805213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" y="5270003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Analytics &amp; Reporting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1975395"/>
            <a:ext cx="5219700" cy="3790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429892"/>
            <a:ext cx="1143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894683"/>
            <a:ext cx="1143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359473"/>
            <a:ext cx="1143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824263"/>
            <a:ext cx="1143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289053"/>
            <a:ext cx="1143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690" y="1221178"/>
            <a:ext cx="5238750" cy="559459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221178"/>
            <a:ext cx="5238750" cy="5594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3025" y="1750665"/>
            <a:ext cx="4280535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0" i="0" u="none">
                <a:solidFill>
                  <a:srgbClr val="0EA5E9"/>
                </a:solidFill>
                <a:latin typeface="Inter SemiBold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345189"/>
            <a:ext cx="445770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F8FAFC"/>
                </a:solidFill>
                <a:latin typeface="Inter"/>
              </a:rPr>
              <a:t>ABC Energy generates large volumes of data distributed across heterogeneous, independent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3275" y="1750665"/>
            <a:ext cx="4280535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0" i="0" u="none">
                <a:solidFill>
                  <a:srgbClr val="10B981"/>
                </a:solidFill>
                <a:latin typeface="Inter SemiBold"/>
              </a:rPr>
              <a:t>The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275" y="2408122"/>
            <a:ext cx="445770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F8FAFC"/>
                </a:solidFill>
                <a:latin typeface="Inter"/>
              </a:rPr>
              <a:t>ABC Energy requires a </a:t>
            </a:r>
            <a:r>
              <a:rPr sz="1650" b="0" i="0" u="none" dirty="0">
                <a:solidFill>
                  <a:srgbClr val="0EA5E9"/>
                </a:solidFill>
                <a:latin typeface="Inter"/>
              </a:rPr>
              <a:t>centralized Data Engineering platform</a:t>
            </a:r>
            <a:r>
              <a:rPr sz="1650" b="0" i="0" u="none" dirty="0">
                <a:solidFill>
                  <a:srgbClr val="F8FAFC"/>
                </a:solidFill>
                <a:latin typeface="Inter"/>
              </a:rPr>
              <a:t> capable of integrating, validating, and preparing enterprise data for reliable analytics and decision-making.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1777305"/>
            <a:ext cx="26670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95400" y="3417391"/>
            <a:ext cx="41243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Data exists in different formats and structures.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3882181"/>
            <a:ext cx="41243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No unified view of enterprise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4346971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Data contains missing, invalid, or duplicate records.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811762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Difficult to integrate information from diverse systems.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5254695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Manual preparation increases effort and reduces consistency.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1777305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0050" y="4157932"/>
            <a:ext cx="533400" cy="609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1575" y="4424632"/>
            <a:ext cx="266700" cy="3048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6400" y="4157932"/>
            <a:ext cx="685800" cy="609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8190" y="337288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BUSINESS PROBLEM &amp; NEED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359144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3436441"/>
            <a:ext cx="19050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3901231"/>
            <a:ext cx="190500" cy="2000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4366021"/>
            <a:ext cx="190500" cy="200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4830812"/>
            <a:ext cx="190500" cy="2000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5295603"/>
            <a:ext cx="1905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034629"/>
            <a:ext cx="110490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F8FAFC"/>
                </a:solidFill>
                <a:latin typeface="Inter"/>
              </a:rPr>
              <a:t>To solve the fragmented data challenge, the EEDP must deliver on the following core requirements: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875" y="275079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Integrate Sources: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Bring relevant enterprise data sources into a common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48987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Standardize: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standardized and validated data for downstream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22895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Define Fields: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Maintain clear definitions and meanings for important data fields.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96803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Map Lineage: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Maintain source-to-target mappings for data integration.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15125" y="275079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Traceability: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complete traceability across the data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5125" y="348987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Centralized Storage: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reliable storage for processed enterprise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5125" y="422895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Enable Reporting: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Support reliable reporting and analytics dashboards.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5125" y="496803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Future-Proof: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Establish a foundation for future energy-data use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BUSINESS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69840"/>
            <a:ext cx="1905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08920"/>
            <a:ext cx="1905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48001"/>
            <a:ext cx="1905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987081"/>
            <a:ext cx="1905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769840"/>
            <a:ext cx="1905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508920"/>
            <a:ext cx="190500" cy="2000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248001"/>
            <a:ext cx="190500" cy="2000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987081"/>
            <a:ext cx="1905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19225"/>
            <a:ext cx="3492400" cy="23087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1419225"/>
            <a:ext cx="3492549" cy="230877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950" y="1419225"/>
            <a:ext cx="3492400" cy="230877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013745"/>
            <a:ext cx="3492400" cy="230877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9650" y="4013745"/>
            <a:ext cx="3492549" cy="230877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7950" y="4013745"/>
            <a:ext cx="3492400" cy="230877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" y="1714500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6775" y="238125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Identify &amp;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2746920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 dirty="0">
                <a:solidFill>
                  <a:srgbClr val="94A3B8"/>
                </a:solidFill>
                <a:latin typeface="Inter"/>
              </a:rPr>
              <a:t>Identify relevant enterprise sources, understand structures, and perform deep data profiling and quality analysis.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4925" y="1714500"/>
            <a:ext cx="476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4925" y="2381250"/>
            <a:ext cx="3047099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Clean &amp; Standardize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4925" y="2746920"/>
            <a:ext cx="2901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Thoroughly clean, validate, and standardize incoming enterprise data to resolve inconsistencies.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23225" y="1714500"/>
            <a:ext cx="476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3225" y="238125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ETL Pipelines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3225" y="2746920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 repeatable, robust ETL pipelines using Pentaho Data Integration for automated workflows.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309020"/>
            <a:ext cx="476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6775" y="497577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Central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5341441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Store processed data efficiently using PostgreSQL to act as the central staging and data warehouse.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309020"/>
            <a:ext cx="476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44925" y="4975770"/>
            <a:ext cx="3047099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Documentation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4925" y="5341441"/>
            <a:ext cx="2901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 a data dictionary, define source-to-staging mappings, and maintain version control via Git.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23225" y="4309020"/>
            <a:ext cx="476250" cy="4762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3225" y="497577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10B981"/>
                </a:solidFill>
                <a:latin typeface="Inter SemiBold"/>
              </a:rPr>
              <a:t>Analytics Foundation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3225" y="5341441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Establish a solid, reliable foundation for future Power BI analytics and energy reporting use cases.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" y="1838325"/>
            <a:ext cx="228600" cy="2286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54463" y="1838325"/>
            <a:ext cx="257175" cy="2286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8475" y="1838325"/>
            <a:ext cx="285750" cy="2286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0600" y="4432845"/>
            <a:ext cx="228600" cy="22860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83038" y="4432845"/>
            <a:ext cx="200025" cy="2286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47050" y="4432845"/>
            <a:ext cx="228600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OBJECTIVES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70608"/>
            <a:ext cx="11049000" cy="420052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184998"/>
              </p:ext>
            </p:extLst>
          </p:nvPr>
        </p:nvGraphicFramePr>
        <p:xfrm>
          <a:off x="581025" y="1780133"/>
          <a:ext cx="11029949" cy="4181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6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Area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Scope / Activity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Tool / Tech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 dirty="0">
                          <a:solidFill>
                            <a:schemeClr val="bg1"/>
                          </a:solidFill>
                          <a:latin typeface="Inter"/>
                        </a:rPr>
                        <a:t>Requirement Analysis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Business requirement documentation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Markdown / MS Word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Discovery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Identification &amp; analysis of enterprise sources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Excel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Dictionary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Documentation of source fields and attributes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Excel / Markdown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Ingestion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Extraction and loading of heterogeneous data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Pentaho Data Integration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Profiling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Analysis of data structure and quality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Pandas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Cleaning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Data cleansing and validation rules implementation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Pandas, Pentaho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Storage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Staging and centralized data warehouse setup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PostgreSQL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Lineage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Source-to-target mapping &amp; lineage docs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Markdown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ETL Orchestration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Automated ETL workflow development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Pentaho Data Integration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135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Version Control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Source-code and project collaboration management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Git / GitHub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146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86955" y="2146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853338" y="2146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1025" y="2527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86955" y="2527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853338" y="2527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1025" y="2908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86955" y="2908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53338" y="2908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1025" y="3289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6955" y="3289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853338" y="3289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3670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86955" y="3670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53338" y="3670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1025" y="4051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86955" y="4051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53338" y="4051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1025" y="4432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86955" y="4432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53338" y="4432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025" y="4813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86955" y="4813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853338" y="4813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1025" y="5194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786955" y="5194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853338" y="5194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1025" y="5575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86955" y="5575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853338" y="5575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SCOPE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1608"/>
            <a:ext cx="11049000" cy="343852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56880"/>
              </p:ext>
            </p:extLst>
          </p:nvPr>
        </p:nvGraphicFramePr>
        <p:xfrm>
          <a:off x="581025" y="2161133"/>
          <a:ext cx="11029948" cy="3419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7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2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2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Dataset Name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Primary Domain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Key Variables (Subset)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asset_maintenance.csv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Predictive Maintenance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Temp, Rotational Speed, Torque, Wear, Failure 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Billing_payments.csv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Utility Financials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Peak Demand, Generation, Sector Revenues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CIS.xml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XML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Customer Info 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Root, Result, Child Data, Unique Attributes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iiot_smart_grid_dataset.csv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 Grid Telemetry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Voltage, Current, Power Factor, Renewable Gen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OMS_data.csv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Outage Management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Event Times, NERC Region, Demand Loss, Affected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owid-energy-data.json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Global Energy Trends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Generation &amp; Shares (Biofuel, Coal, Gas, Solar, Wind)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scada_pipeline.csv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SCADA Pipeline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Pressure, Flow Rate, Valve State, Alarms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947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smart_meter_data.csv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 Meter Consump.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Electricity Consumed, Weather Metrics, Anomaly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527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38512" y="2527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441477" y="2527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98965" y="2527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1025" y="2908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38512" y="2908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41477" y="2908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98965" y="2908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1025" y="3289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8512" y="3289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41477" y="3289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98965" y="3289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3670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8512" y="3670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41477" y="3670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98965" y="3670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1025" y="4051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338512" y="4051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41477" y="4051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98965" y="4051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1025" y="4432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338512" y="4432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41477" y="4432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98965" y="4432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1025" y="4813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38512" y="4813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41477" y="4813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198965" y="4813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1025" y="5194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338512" y="5194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441477" y="5194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98965" y="5194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ENTERPRISE DATA SOURCES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81250"/>
            <a:ext cx="5381625" cy="134674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381250"/>
            <a:ext cx="5381625" cy="134674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13745"/>
            <a:ext cx="5381625" cy="134674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4013745"/>
            <a:ext cx="5381625" cy="134674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721173"/>
            <a:ext cx="666750" cy="6667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2721173"/>
            <a:ext cx="666750" cy="666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775" y="4353669"/>
            <a:ext cx="666750" cy="6667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4353669"/>
            <a:ext cx="666750" cy="666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" y="2902148"/>
            <a:ext cx="3810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24025" y="2676525"/>
            <a:ext cx="3740467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Data Integration &amp;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4025" y="2975520"/>
            <a:ext cx="35623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Pentaho (Spoon):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ETL development &amp; orchestration.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PostgreSQL: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Staging and centralized data storage.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4175" y="2902148"/>
            <a:ext cx="2667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91400" y="2676525"/>
            <a:ext cx="336042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Analysis &amp;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1400" y="29755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Python: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Data analysis and advanced profiling.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Pandas: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Data manipulation and quality analysis.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800" y="4534644"/>
            <a:ext cx="266700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24025" y="4309020"/>
            <a:ext cx="349043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Version Control &amp; Mgmt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24025" y="4608016"/>
            <a:ext cx="3324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Git/GitHub: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Version control &amp; team collaboration.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Scrum: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Sprint and backlog management.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5125" y="4534644"/>
            <a:ext cx="304800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91400" y="4309020"/>
            <a:ext cx="3720465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10B981"/>
                </a:solidFill>
                <a:latin typeface="Inter SemiBold"/>
              </a:rPr>
              <a:t>Analytics &amp; Documentation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608016"/>
            <a:ext cx="3543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Power BI: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Analytics and visualization dashboarding.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Markdown/Word: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Technical project documentation.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TECHNOLOGY STACK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2475" y="334848"/>
            <a:ext cx="5000625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 dirty="0">
                <a:solidFill>
                  <a:srgbClr val="F8FAFC"/>
                </a:solidFill>
                <a:latin typeface="Inter"/>
              </a:rPr>
              <a:t>INITIAL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1975" y="334848"/>
            <a:ext cx="57150" cy="50413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9125" y="1066338"/>
            <a:ext cx="52006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 u="none" dirty="0">
                <a:solidFill>
                  <a:srgbClr val="10B981"/>
                </a:solidFill>
                <a:latin typeface="Inter SemiBold"/>
              </a:rPr>
              <a:t>Sprint 0 &amp; Sprint 1 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" y="1531128"/>
            <a:ext cx="495300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The current architecture focuses on establishing the foundational data pipelines, collecting diverse file formats, and loading them into a structured database.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6573276"/>
            <a:ext cx="4953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1" u="none" dirty="0">
                <a:solidFill>
                  <a:srgbClr val="94A3B8"/>
                </a:solidFill>
                <a:latin typeface="Inter"/>
              </a:rPr>
              <a:t>* Architecture is subject to change in subsequent sprints as the warehouse evolves.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592124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Collection: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Ingestion of CSV, JSON, Excel, XML, and SQL formats.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331204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Column Mapping: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Identifying appropriate columns and schemas for staging.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070285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Pentaho Processing: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Applying formatting rules and handling missing values systematically.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809365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Logging &amp; Error Handling: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Displaying logs and capturing pipeline metrics.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5548446"/>
            <a:ext cx="4619625" cy="512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PostgreSQL DB: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Storing output tables in a centralized relational database.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2611174"/>
            <a:ext cx="1143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3350254"/>
            <a:ext cx="1143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4089335"/>
            <a:ext cx="1143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4828415"/>
            <a:ext cx="1143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5567496"/>
            <a:ext cx="114300" cy="20002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CCC2E9C-C003-59EE-C3DD-422CC2696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8259" y="0"/>
            <a:ext cx="5933741" cy="67872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36390"/>
            <a:ext cx="5381625" cy="18916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836390"/>
            <a:ext cx="5381625" cy="18916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13745"/>
            <a:ext cx="5381625" cy="189160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4013745"/>
            <a:ext cx="5381625" cy="1891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350" y="2131665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Heterogeneous Source Formats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95350" y="2503140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5350" y="2655540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" y="297552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Implemented rigorous data profiling and dynamic standardization processes to unify file structures.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2131665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Data Quality Inconsistencies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2725" y="2503140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62725" y="2655540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2725" y="297552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Developed strict validation and automated cleaning rules within Python and Pentaho pipelines.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50" y="4309020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Multiple Enterprise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" y="4680495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5350" y="4832895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" y="5152876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Designed a centralized integration architecture (PostgreSQL Data Warehouse) as a single source of truth.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2725" y="4309020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Difficulty Tracing Source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2725" y="4680495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62725" y="4832895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725" y="5152876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Established a comprehensive Data Dictionary and detailed source-to-target mapping documentation.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" y="2674590"/>
            <a:ext cx="17145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725" y="2674590"/>
            <a:ext cx="171450" cy="1714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350" y="4851945"/>
            <a:ext cx="171450" cy="1714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2725" y="4851945"/>
            <a:ext cx="171450" cy="1714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CHALLENGES &amp; SOLUTIONS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50839"/>
            <a:ext cx="3492400" cy="38402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1950839"/>
            <a:ext cx="3492549" cy="38402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950" y="1950839"/>
            <a:ext cx="3492400" cy="38402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00" y="2341364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4228" y="3293864"/>
            <a:ext cx="3046943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 dirty="0">
                <a:solidFill>
                  <a:srgbClr val="F8FAFC"/>
                </a:solidFill>
                <a:latin typeface="Inter SemiBold"/>
              </a:rPr>
              <a:t>Perseus 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661469"/>
            <a:ext cx="2901850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 dirty="0">
                <a:solidFill>
                  <a:srgbClr val="0EA5E9"/>
                </a:solidFill>
                <a:latin typeface="Inter"/>
              </a:rPr>
              <a:t>26MML1027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4851" y="2341364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375" y="3293864"/>
            <a:ext cx="3047099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>
                <a:solidFill>
                  <a:srgbClr val="F8FAFC"/>
                </a:solidFill>
                <a:latin typeface="Inter SemiBold"/>
              </a:rPr>
              <a:t>Sai Skanda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925" y="3661469"/>
            <a:ext cx="2901999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10B981"/>
                </a:solidFill>
                <a:latin typeface="Inter"/>
              </a:rPr>
              <a:t>26MML1014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3150" y="2341364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50679" y="3293864"/>
            <a:ext cx="3046943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>
                <a:solidFill>
                  <a:srgbClr val="F8FAFC"/>
                </a:solidFill>
                <a:latin typeface="Inter SemiBold"/>
              </a:rPr>
              <a:t>Jaikrishna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225" y="3661469"/>
            <a:ext cx="2901850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0EA5E9"/>
                </a:solidFill>
                <a:latin typeface="Inter"/>
              </a:rPr>
              <a:t>26MML1003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65300" y="2550914"/>
            <a:ext cx="304800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6775" y="411286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Handling Documentation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775" y="448240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GitHub Repository Mgmt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4851945"/>
            <a:ext cx="2901850" cy="54858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 Debugging/Supervising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538" y="2550914"/>
            <a:ext cx="428625" cy="3429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44925" y="4112865"/>
            <a:ext cx="2901999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Finding Datasets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4925" y="4482405"/>
            <a:ext cx="2901999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4925" y="4851945"/>
            <a:ext cx="2901999" cy="54858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Mapping Data Sources (Documentation)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21750" y="2550914"/>
            <a:ext cx="304800" cy="342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23225" y="411286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Finding Datasets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225" y="448240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3225" y="485194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Jobs Integration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155727"/>
            <a:ext cx="85725" cy="1809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525267"/>
            <a:ext cx="85725" cy="1809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894808"/>
            <a:ext cx="85725" cy="1809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155727"/>
            <a:ext cx="85725" cy="1809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525267"/>
            <a:ext cx="85725" cy="1809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894808"/>
            <a:ext cx="85725" cy="1809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155727"/>
            <a:ext cx="85725" cy="1809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525267"/>
            <a:ext cx="85725" cy="1809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894808"/>
            <a:ext cx="85725" cy="180975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TEAM CONTRIBUTIONS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4323417"/>
            <a:ext cx="8839200" cy="857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94204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80748" y="1684992"/>
            <a:ext cx="4030503" cy="923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8FAFC"/>
                </a:solidFill>
                <a:latin typeface="Inter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687" y="2799417"/>
            <a:ext cx="50006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10B981"/>
                </a:solidFill>
                <a:latin typeface="Inter Medium"/>
              </a:rPr>
              <a:t>Enterprise Energy Data Platform (EEDP)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5337" y="3504267"/>
            <a:ext cx="29813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94A3B8"/>
                </a:solidFill>
                <a:latin typeface="Inter"/>
              </a:rPr>
              <a:t>We are open to any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4841662"/>
            <a:ext cx="26923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9700" y="4841662"/>
            <a:ext cx="2692449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3150" y="4841662"/>
            <a:ext cx="26923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243" y="4613929"/>
            <a:ext cx="282691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F8FAFC"/>
                </a:solidFill>
                <a:latin typeface="Inter SemiBold"/>
              </a:rPr>
              <a:t>Jaikrishna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906" y="4618291"/>
            <a:ext cx="282707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8FAFC"/>
                </a:solidFill>
                <a:latin typeface="Inter SemiBold"/>
              </a:rPr>
              <a:t>Sai Skanda 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5842" y="4618291"/>
            <a:ext cx="282691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F8FAFC"/>
                </a:solidFill>
                <a:latin typeface="Inter SemiBold"/>
              </a:rPr>
              <a:t>Perseus Mistry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1040</Words>
  <Application>Microsoft Office PowerPoint</Application>
  <PresentationFormat>Widescreen</PresentationFormat>
  <Paragraphs>179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Inter</vt:lpstr>
      <vt:lpstr>Inter ExtraBold</vt:lpstr>
      <vt:lpstr>Inter Light</vt:lpstr>
      <vt:lpstr>Inter Medium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Perseus Mistry</cp:lastModifiedBy>
  <cp:revision>4</cp:revision>
  <dcterms:created xsi:type="dcterms:W3CDTF">2013-01-27T09:14:16Z</dcterms:created>
  <dcterms:modified xsi:type="dcterms:W3CDTF">2026-08-20T17:36:52Z</dcterms:modified>
  <cp:category/>
</cp:coreProperties>
</file>