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8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85" r:id="rId12"/>
    <p:sldId id="274" r:id="rId13"/>
    <p:sldId id="275" r:id="rId14"/>
    <p:sldId id="276" r:id="rId15"/>
    <p:sldId id="277" r:id="rId16"/>
    <p:sldId id="278" r:id="rId17"/>
    <p:sldId id="272" r:id="rId18"/>
    <p:sldId id="273" r:id="rId19"/>
    <p:sldId id="280" r:id="rId20"/>
    <p:sldId id="281" r:id="rId21"/>
    <p:sldId id="282" r:id="rId22"/>
    <p:sldId id="283" r:id="rId23"/>
    <p:sldId id="284" r:id="rId24"/>
    <p:sldId id="266" r:id="rId25"/>
    <p:sldId id="267" r:id="rId26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204" autoAdjust="0"/>
    <p:restoredTop sz="94660"/>
  </p:normalViewPr>
  <p:slideViewPr>
    <p:cSldViewPr snapToGrid="0" snapToObjects="1">
      <p:cViewPr varScale="1">
        <p:scale>
          <a:sx n="81" d="100"/>
          <a:sy n="81" d="100"/>
        </p:scale>
        <p:origin x="744" y="53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10/15/2026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10/15/2026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10/15/2026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png"/><Relationship Id="rId3" Type="http://schemas.openxmlformats.org/officeDocument/2006/relationships/image" Target="../media/image6.png"/><Relationship Id="rId7" Type="http://schemas.openxmlformats.org/officeDocument/2006/relationships/image" Target="../media/image10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10" Type="http://schemas.openxmlformats.org/officeDocument/2006/relationships/image" Target="../media/image13.png"/><Relationship Id="rId4" Type="http://schemas.openxmlformats.org/officeDocument/2006/relationships/image" Target="../media/image7.png"/><Relationship Id="rId9" Type="http://schemas.openxmlformats.org/officeDocument/2006/relationships/image" Target="../media/image12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9.png"/><Relationship Id="rId13" Type="http://schemas.openxmlformats.org/officeDocument/2006/relationships/image" Target="../media/image24.png"/><Relationship Id="rId18" Type="http://schemas.openxmlformats.org/officeDocument/2006/relationships/image" Target="../media/image29.png"/><Relationship Id="rId3" Type="http://schemas.openxmlformats.org/officeDocument/2006/relationships/image" Target="../media/image14.png"/><Relationship Id="rId7" Type="http://schemas.openxmlformats.org/officeDocument/2006/relationships/image" Target="../media/image18.png"/><Relationship Id="rId12" Type="http://schemas.openxmlformats.org/officeDocument/2006/relationships/image" Target="../media/image23.png"/><Relationship Id="rId17" Type="http://schemas.openxmlformats.org/officeDocument/2006/relationships/image" Target="../media/image28.png"/><Relationship Id="rId2" Type="http://schemas.openxmlformats.org/officeDocument/2006/relationships/image" Target="../media/image2.png"/><Relationship Id="rId16" Type="http://schemas.openxmlformats.org/officeDocument/2006/relationships/image" Target="../media/image27.png"/><Relationship Id="rId20" Type="http://schemas.openxmlformats.org/officeDocument/2006/relationships/image" Target="../media/image3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7.png"/><Relationship Id="rId11" Type="http://schemas.openxmlformats.org/officeDocument/2006/relationships/image" Target="../media/image22.png"/><Relationship Id="rId5" Type="http://schemas.openxmlformats.org/officeDocument/2006/relationships/image" Target="../media/image16.png"/><Relationship Id="rId15" Type="http://schemas.openxmlformats.org/officeDocument/2006/relationships/image" Target="../media/image26.png"/><Relationship Id="rId10" Type="http://schemas.openxmlformats.org/officeDocument/2006/relationships/image" Target="../media/image21.png"/><Relationship Id="rId19" Type="http://schemas.openxmlformats.org/officeDocument/2006/relationships/image" Target="../media/image30.png"/><Relationship Id="rId4" Type="http://schemas.openxmlformats.org/officeDocument/2006/relationships/image" Target="../media/image15.png"/><Relationship Id="rId9" Type="http://schemas.openxmlformats.org/officeDocument/2006/relationships/image" Target="../media/image20.png"/><Relationship Id="rId14" Type="http://schemas.openxmlformats.org/officeDocument/2006/relationships/image" Target="../media/image25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39.png"/><Relationship Id="rId13" Type="http://schemas.openxmlformats.org/officeDocument/2006/relationships/image" Target="../media/image44.png"/><Relationship Id="rId3" Type="http://schemas.openxmlformats.org/officeDocument/2006/relationships/image" Target="../media/image34.png"/><Relationship Id="rId7" Type="http://schemas.openxmlformats.org/officeDocument/2006/relationships/image" Target="../media/image38.png"/><Relationship Id="rId12" Type="http://schemas.openxmlformats.org/officeDocument/2006/relationships/image" Target="../media/image4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7.png"/><Relationship Id="rId11" Type="http://schemas.openxmlformats.org/officeDocument/2006/relationships/image" Target="../media/image42.png"/><Relationship Id="rId5" Type="http://schemas.openxmlformats.org/officeDocument/2006/relationships/image" Target="../media/image36.png"/><Relationship Id="rId10" Type="http://schemas.openxmlformats.org/officeDocument/2006/relationships/image" Target="../media/image41.png"/><Relationship Id="rId4" Type="http://schemas.openxmlformats.org/officeDocument/2006/relationships/image" Target="../media/image35.png"/><Relationship Id="rId9" Type="http://schemas.openxmlformats.org/officeDocument/2006/relationships/image" Target="../media/image40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5.jpe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51.png"/><Relationship Id="rId3" Type="http://schemas.openxmlformats.org/officeDocument/2006/relationships/image" Target="../media/image46.png"/><Relationship Id="rId7" Type="http://schemas.openxmlformats.org/officeDocument/2006/relationships/image" Target="../media/image50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9.png"/><Relationship Id="rId5" Type="http://schemas.openxmlformats.org/officeDocument/2006/relationships/image" Target="../media/image48.png"/><Relationship Id="rId4" Type="http://schemas.openxmlformats.org/officeDocument/2006/relationships/image" Target="../media/image47.pn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57.png"/><Relationship Id="rId3" Type="http://schemas.openxmlformats.org/officeDocument/2006/relationships/image" Target="../media/image52.png"/><Relationship Id="rId7" Type="http://schemas.openxmlformats.org/officeDocument/2006/relationships/image" Target="../media/image56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5.png"/><Relationship Id="rId11" Type="http://schemas.openxmlformats.org/officeDocument/2006/relationships/image" Target="../media/image60.png"/><Relationship Id="rId5" Type="http://schemas.openxmlformats.org/officeDocument/2006/relationships/image" Target="../media/image54.png"/><Relationship Id="rId10" Type="http://schemas.openxmlformats.org/officeDocument/2006/relationships/image" Target="../media/image59.png"/><Relationship Id="rId4" Type="http://schemas.openxmlformats.org/officeDocument/2006/relationships/image" Target="../media/image53.png"/><Relationship Id="rId9" Type="http://schemas.openxmlformats.org/officeDocument/2006/relationships/image" Target="../media/image58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62.png"/><Relationship Id="rId4" Type="http://schemas.openxmlformats.org/officeDocument/2006/relationships/image" Target="../media/image61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64.png"/><Relationship Id="rId4" Type="http://schemas.openxmlformats.org/officeDocument/2006/relationships/image" Target="../media/image63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66.png"/><Relationship Id="rId5" Type="http://schemas.openxmlformats.org/officeDocument/2006/relationships/image" Target="../media/image65.png"/><Relationship Id="rId4" Type="http://schemas.openxmlformats.org/officeDocument/2006/relationships/image" Target="../media/image13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68.png"/><Relationship Id="rId5" Type="http://schemas.openxmlformats.org/officeDocument/2006/relationships/image" Target="../media/image67.png"/><Relationship Id="rId4" Type="http://schemas.openxmlformats.org/officeDocument/2006/relationships/image" Target="../media/image13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70.png"/><Relationship Id="rId4" Type="http://schemas.openxmlformats.org/officeDocument/2006/relationships/image" Target="../media/image69.png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image" Target="../media/image76.png"/><Relationship Id="rId3" Type="http://schemas.openxmlformats.org/officeDocument/2006/relationships/image" Target="../media/image71.png"/><Relationship Id="rId7" Type="http://schemas.openxmlformats.org/officeDocument/2006/relationships/image" Target="../media/image75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74.png"/><Relationship Id="rId11" Type="http://schemas.openxmlformats.org/officeDocument/2006/relationships/image" Target="../media/image79.png"/><Relationship Id="rId5" Type="http://schemas.openxmlformats.org/officeDocument/2006/relationships/image" Target="../media/image73.png"/><Relationship Id="rId10" Type="http://schemas.openxmlformats.org/officeDocument/2006/relationships/image" Target="../media/image78.png"/><Relationship Id="rId4" Type="http://schemas.openxmlformats.org/officeDocument/2006/relationships/image" Target="../media/image72.png"/><Relationship Id="rId9" Type="http://schemas.openxmlformats.org/officeDocument/2006/relationships/image" Target="../media/image77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0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82.png"/><Relationship Id="rId4" Type="http://schemas.openxmlformats.org/officeDocument/2006/relationships/image" Target="../media/image81.png"/></Relationships>
</file>

<file path=ppt/slides/_rels/slide19.xml.rels><?xml version="1.0" encoding="UTF-8" standalone="yes"?>
<Relationships xmlns="http://schemas.openxmlformats.org/package/2006/relationships"><Relationship Id="rId8" Type="http://schemas.openxmlformats.org/officeDocument/2006/relationships/image" Target="../media/image88.png"/><Relationship Id="rId3" Type="http://schemas.openxmlformats.org/officeDocument/2006/relationships/image" Target="../media/image83.png"/><Relationship Id="rId7" Type="http://schemas.openxmlformats.org/officeDocument/2006/relationships/image" Target="../media/image87.png"/><Relationship Id="rId12" Type="http://schemas.openxmlformats.org/officeDocument/2006/relationships/image" Target="../media/image92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86.png"/><Relationship Id="rId11" Type="http://schemas.openxmlformats.org/officeDocument/2006/relationships/image" Target="../media/image91.png"/><Relationship Id="rId5" Type="http://schemas.openxmlformats.org/officeDocument/2006/relationships/image" Target="../media/image85.png"/><Relationship Id="rId10" Type="http://schemas.openxmlformats.org/officeDocument/2006/relationships/image" Target="../media/image90.png"/><Relationship Id="rId4" Type="http://schemas.openxmlformats.org/officeDocument/2006/relationships/image" Target="../media/image84.png"/><Relationship Id="rId9" Type="http://schemas.openxmlformats.org/officeDocument/2006/relationships/image" Target="../media/image89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3.png"/><Relationship Id="rId7" Type="http://schemas.openxmlformats.org/officeDocument/2006/relationships/image" Target="../media/image97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96.png"/><Relationship Id="rId5" Type="http://schemas.openxmlformats.org/officeDocument/2006/relationships/image" Target="../media/image95.png"/><Relationship Id="rId4" Type="http://schemas.openxmlformats.org/officeDocument/2006/relationships/image" Target="../media/image94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00.png"/><Relationship Id="rId5" Type="http://schemas.openxmlformats.org/officeDocument/2006/relationships/image" Target="../media/image99.png"/><Relationship Id="rId4" Type="http://schemas.openxmlformats.org/officeDocument/2006/relationships/image" Target="../media/image98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02.png"/><Relationship Id="rId4" Type="http://schemas.openxmlformats.org/officeDocument/2006/relationships/image" Target="../media/image101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05.png"/><Relationship Id="rId5" Type="http://schemas.openxmlformats.org/officeDocument/2006/relationships/image" Target="../media/image104.png"/><Relationship Id="rId4" Type="http://schemas.openxmlformats.org/officeDocument/2006/relationships/image" Target="../media/image103.png"/></Relationships>
</file>

<file path=ppt/slides/_rels/slide2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1.png"/><Relationship Id="rId13" Type="http://schemas.openxmlformats.org/officeDocument/2006/relationships/image" Target="../media/image116.png"/><Relationship Id="rId3" Type="http://schemas.openxmlformats.org/officeDocument/2006/relationships/image" Target="../media/image106.png"/><Relationship Id="rId7" Type="http://schemas.openxmlformats.org/officeDocument/2006/relationships/image" Target="../media/image110.png"/><Relationship Id="rId12" Type="http://schemas.openxmlformats.org/officeDocument/2006/relationships/image" Target="../media/image115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09.png"/><Relationship Id="rId11" Type="http://schemas.openxmlformats.org/officeDocument/2006/relationships/image" Target="../media/image114.png"/><Relationship Id="rId5" Type="http://schemas.openxmlformats.org/officeDocument/2006/relationships/image" Target="../media/image108.png"/><Relationship Id="rId10" Type="http://schemas.openxmlformats.org/officeDocument/2006/relationships/image" Target="../media/image113.png"/><Relationship Id="rId4" Type="http://schemas.openxmlformats.org/officeDocument/2006/relationships/image" Target="../media/image107.png"/><Relationship Id="rId9" Type="http://schemas.openxmlformats.org/officeDocument/2006/relationships/image" Target="../media/image112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8.png"/><Relationship Id="rId2" Type="http://schemas.openxmlformats.org/officeDocument/2006/relationships/image" Target="../media/image117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19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B11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2" name="Picture 1" descr="image.png"/>
          <p:cNvPicPr>
            <a:picLocks noChangeAspect="1"/>
          </p:cNvPicPr>
          <p:nvPr/>
        </p:nvPicPr>
        <p:blipFill rotWithShape="1"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25000"/>
                    </a14:imgEffect>
                  </a14:imgLayer>
                </a14:imgProps>
              </a:ext>
            </a:extLst>
          </a:blip>
          <a:srcRect r="62500" b="28945"/>
          <a:stretch>
            <a:fillRect/>
          </a:stretch>
        </p:blipFill>
        <p:spPr>
          <a:xfrm>
            <a:off x="1" y="0"/>
            <a:ext cx="12191998" cy="6791646"/>
          </a:xfrm>
          <a:prstGeom prst="rect">
            <a:avLst/>
          </a:prstGeom>
        </p:spPr>
      </p:pic>
      <p:sp>
        <p:nvSpPr>
          <p:cNvPr id="4" name="Rounded Rectangle 3"/>
          <p:cNvSpPr/>
          <p:nvPr/>
        </p:nvSpPr>
        <p:spPr>
          <a:xfrm>
            <a:off x="1809750" y="3811934"/>
            <a:ext cx="8572500" cy="2323802"/>
          </a:xfrm>
          <a:prstGeom prst="roundRect">
            <a:avLst>
              <a:gd name="adj" fmla="val 6558"/>
            </a:avLst>
          </a:prstGeom>
          <a:solidFill>
            <a:srgbClr val="161F30"/>
          </a:solidFill>
          <a:ln w="9525">
            <a:solidFill>
              <a:srgbClr val="23293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ounded Rectangle 3">
            <a:extLst>
              <a:ext uri="{FF2B5EF4-FFF2-40B4-BE49-F238E27FC236}">
                <a16:creationId xmlns:a16="http://schemas.microsoft.com/office/drawing/2014/main" id="{8375679B-B753-1858-510B-3DE6E22878D6}"/>
              </a:ext>
            </a:extLst>
          </p:cNvPr>
          <p:cNvSpPr/>
          <p:nvPr/>
        </p:nvSpPr>
        <p:spPr>
          <a:xfrm>
            <a:off x="1809750" y="722114"/>
            <a:ext cx="8572500" cy="1521466"/>
          </a:xfrm>
          <a:prstGeom prst="roundRect">
            <a:avLst>
              <a:gd name="adj" fmla="val 6558"/>
            </a:avLst>
          </a:prstGeom>
          <a:solidFill>
            <a:srgbClr val="161F30"/>
          </a:solidFill>
          <a:ln w="9525">
            <a:solidFill>
              <a:srgbClr val="23293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70296" y="722114"/>
            <a:ext cx="11251406" cy="219447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5759"/>
              </a:lnSpc>
            </a:pPr>
            <a:r>
              <a:rPr sz="4800" b="1" i="0" u="none" dirty="0">
                <a:solidFill>
                  <a:srgbClr val="F8FAFC"/>
                </a:solidFill>
                <a:latin typeface="Inter"/>
              </a:rPr>
              <a:t>Enterprise Energy Data Platform </a:t>
            </a:r>
            <a:r>
              <a:rPr dirty="0"/>
              <a:t>
</a:t>
            </a:r>
            <a:r>
              <a:rPr sz="4800" b="0" i="0" u="none" dirty="0">
                <a:solidFill>
                  <a:srgbClr val="0EA5E9"/>
                </a:solidFill>
                <a:latin typeface="Inter"/>
              </a:rPr>
              <a:t>(EEDP)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74F9E730-9FEE-0460-C626-8EE9518DD971}"/>
              </a:ext>
            </a:extLst>
          </p:cNvPr>
          <p:cNvSpPr txBox="1"/>
          <p:nvPr/>
        </p:nvSpPr>
        <p:spPr>
          <a:xfrm>
            <a:off x="2105025" y="4107209"/>
            <a:ext cx="4040505" cy="15999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260"/>
              </a:lnSpc>
            </a:pPr>
            <a:r>
              <a:rPr lang="en-IN" sz="1050" b="0" i="0" u="none" dirty="0">
                <a:solidFill>
                  <a:srgbClr val="10B981"/>
                </a:solidFill>
                <a:latin typeface="Inter SemiBold"/>
              </a:rPr>
              <a:t>CURRENT PHASE</a:t>
            </a:r>
            <a:endParaRPr sz="1050" b="0" i="0" u="none" dirty="0">
              <a:solidFill>
                <a:srgbClr val="10B981"/>
              </a:solidFill>
              <a:latin typeface="Inter SemiBold"/>
            </a:endParaRP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766957C6-9A54-5111-2A0F-0A863585630E}"/>
              </a:ext>
            </a:extLst>
          </p:cNvPr>
          <p:cNvSpPr txBox="1"/>
          <p:nvPr/>
        </p:nvSpPr>
        <p:spPr>
          <a:xfrm>
            <a:off x="2105025" y="4343400"/>
            <a:ext cx="3848100" cy="22339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ts val="1920"/>
              </a:lnSpc>
            </a:pPr>
            <a:r>
              <a:rPr sz="1200" b="0" i="0" u="none" dirty="0">
                <a:solidFill>
                  <a:srgbClr val="F8FAFC"/>
                </a:solidFill>
                <a:latin typeface="Inter"/>
              </a:rPr>
              <a:t>Sprint 0</a:t>
            </a:r>
            <a:r>
              <a:rPr lang="en-IN" sz="1200" b="0" i="0" u="none" dirty="0">
                <a:solidFill>
                  <a:srgbClr val="F8FAFC"/>
                </a:solidFill>
                <a:latin typeface="Inter"/>
              </a:rPr>
              <a:t>,</a:t>
            </a:r>
            <a:r>
              <a:rPr sz="1200" b="0" i="0" u="none" dirty="0">
                <a:solidFill>
                  <a:srgbClr val="F8FAFC"/>
                </a:solidFill>
                <a:latin typeface="Inter"/>
              </a:rPr>
              <a:t> Sprint 1</a:t>
            </a:r>
            <a:r>
              <a:rPr lang="en-IN" sz="1200" dirty="0">
                <a:solidFill>
                  <a:srgbClr val="F8FAFC"/>
                </a:solidFill>
                <a:latin typeface="Inter"/>
              </a:rPr>
              <a:t>, Sprint 2 &amp; Sprint 3</a:t>
            </a:r>
            <a:endParaRPr sz="1200" b="0" i="0" u="none" dirty="0">
              <a:solidFill>
                <a:srgbClr val="F8FAFC"/>
              </a:solidFill>
              <a:latin typeface="Inter"/>
            </a:endParaRP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A0684ABA-A21F-F24F-5F22-E873B6E8F8EC}"/>
              </a:ext>
            </a:extLst>
          </p:cNvPr>
          <p:cNvSpPr txBox="1"/>
          <p:nvPr/>
        </p:nvSpPr>
        <p:spPr>
          <a:xfrm>
            <a:off x="6238875" y="4107209"/>
            <a:ext cx="4040505" cy="15999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260"/>
              </a:lnSpc>
            </a:pPr>
            <a:r>
              <a:rPr sz="1050" b="0" i="0" u="none">
                <a:solidFill>
                  <a:srgbClr val="10B981"/>
                </a:solidFill>
                <a:latin typeface="Inter SemiBold"/>
              </a:rPr>
              <a:t>COURSE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36D51F5A-C689-B5CC-F867-F9240D773120}"/>
              </a:ext>
            </a:extLst>
          </p:cNvPr>
          <p:cNvSpPr txBox="1"/>
          <p:nvPr/>
        </p:nvSpPr>
        <p:spPr>
          <a:xfrm>
            <a:off x="6238875" y="4343400"/>
            <a:ext cx="3848100" cy="2437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920"/>
              </a:lnSpc>
            </a:pPr>
            <a:r>
              <a:rPr sz="1200" b="0" i="0" u="none">
                <a:solidFill>
                  <a:srgbClr val="F8FAFC"/>
                </a:solidFill>
                <a:latin typeface="Inter"/>
              </a:rPr>
              <a:t>Data Engineering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2AF9AE91-046C-0289-2F1C-ACFB2B4F61D4}"/>
              </a:ext>
            </a:extLst>
          </p:cNvPr>
          <p:cNvSpPr txBox="1"/>
          <p:nvPr/>
        </p:nvSpPr>
        <p:spPr>
          <a:xfrm>
            <a:off x="2105025" y="4872930"/>
            <a:ext cx="4040505" cy="15999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260"/>
              </a:lnSpc>
            </a:pPr>
            <a:r>
              <a:rPr sz="1050" b="0" i="0" u="none" dirty="0">
                <a:solidFill>
                  <a:srgbClr val="10B981"/>
                </a:solidFill>
                <a:latin typeface="Inter SemiBold"/>
              </a:rPr>
              <a:t>TEAM MEMBERS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83DE9D69-A1A2-AA06-B899-4E0614FE739E}"/>
              </a:ext>
            </a:extLst>
          </p:cNvPr>
          <p:cNvSpPr txBox="1"/>
          <p:nvPr/>
        </p:nvSpPr>
        <p:spPr>
          <a:xfrm>
            <a:off x="2105025" y="5109120"/>
            <a:ext cx="3848100" cy="73134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920"/>
              </a:lnSpc>
            </a:pPr>
            <a:r>
              <a:rPr sz="1200" b="0" i="0" u="none" dirty="0">
                <a:solidFill>
                  <a:srgbClr val="F8FAFC"/>
                </a:solidFill>
                <a:latin typeface="Inter"/>
              </a:rPr>
              <a:t>26MML1003 – Jaikrishna</a:t>
            </a:r>
            <a:r>
              <a:rPr dirty="0"/>
              <a:t>
</a:t>
            </a:r>
            <a:r>
              <a:rPr sz="1200" b="0" i="0" u="none" dirty="0">
                <a:solidFill>
                  <a:srgbClr val="F8FAFC"/>
                </a:solidFill>
                <a:latin typeface="Inter"/>
              </a:rPr>
              <a:t>26MML1014 - Sai Skanda U</a:t>
            </a:r>
            <a:r>
              <a:rPr dirty="0"/>
              <a:t>
</a:t>
            </a:r>
            <a:r>
              <a:rPr sz="1200" b="0" i="0" u="none" dirty="0">
                <a:solidFill>
                  <a:srgbClr val="F8FAFC"/>
                </a:solidFill>
                <a:latin typeface="Inter"/>
              </a:rPr>
              <a:t>26MML1027 – Perseus Mistry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A9F40CA6-2307-2CED-CE82-05AC9FEA13FD}"/>
              </a:ext>
            </a:extLst>
          </p:cNvPr>
          <p:cNvSpPr txBox="1"/>
          <p:nvPr/>
        </p:nvSpPr>
        <p:spPr>
          <a:xfrm>
            <a:off x="6238875" y="4872930"/>
            <a:ext cx="4040505" cy="15999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260"/>
              </a:lnSpc>
            </a:pPr>
            <a:r>
              <a:rPr sz="1050" b="0" i="0" u="none">
                <a:solidFill>
                  <a:srgbClr val="10B981"/>
                </a:solidFill>
                <a:latin typeface="Inter SemiBold"/>
              </a:rPr>
              <a:t>FACULTY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F2488436-2481-D976-7D70-071FB4AD3958}"/>
              </a:ext>
            </a:extLst>
          </p:cNvPr>
          <p:cNvSpPr txBox="1"/>
          <p:nvPr/>
        </p:nvSpPr>
        <p:spPr>
          <a:xfrm>
            <a:off x="6238875" y="5109120"/>
            <a:ext cx="3848100" cy="2437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920"/>
              </a:lnSpc>
            </a:pPr>
            <a:r>
              <a:rPr sz="1200" b="0" i="0" u="none">
                <a:solidFill>
                  <a:srgbClr val="F8FAFC"/>
                </a:solidFill>
                <a:latin typeface="Inter"/>
              </a:rPr>
              <a:t>Dr. M. Renukadevi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81750" y="1965870"/>
            <a:ext cx="5238750" cy="3810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71500" y="1549747"/>
            <a:ext cx="5238750" cy="609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sz="1500" b="0" i="0" u="none">
                <a:solidFill>
                  <a:srgbClr val="F8FAFC"/>
                </a:solidFill>
                <a:latin typeface="Inter"/>
              </a:rPr>
              <a:t>EEDP is a Data Engineering platform for ABC Energy Ltd., serving more than </a:t>
            </a:r>
            <a:r>
              <a:rPr sz="1500" b="0" i="0" u="none">
                <a:solidFill>
                  <a:srgbClr val="10B981"/>
                </a:solidFill>
                <a:latin typeface="Inter"/>
              </a:rPr>
              <a:t>10 million consumers</a:t>
            </a:r>
            <a:r>
              <a:rPr sz="1500" b="0" i="0" u="none">
                <a:solidFill>
                  <a:srgbClr val="F8FAFC"/>
                </a:solidFill>
                <a:latin typeface="Inter"/>
              </a:rPr>
              <a:t>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71500" y="2397472"/>
            <a:ext cx="5238750" cy="82287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sz="1350" b="0" i="0" u="none">
                <a:solidFill>
                  <a:srgbClr val="94A3B8"/>
                </a:solidFill>
                <a:latin typeface="Inter"/>
              </a:rPr>
              <a:t>The project addresses the problem of fragmented enterprise energy data across multiple systems by providing a unified process for: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71500" y="5734794"/>
            <a:ext cx="5238750" cy="4420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125" b="0" i="1" u="none" dirty="0">
                <a:solidFill>
                  <a:srgbClr val="94A3B8"/>
                </a:solidFill>
                <a:latin typeface="Inter"/>
              </a:rPr>
              <a:t>Note: Sprints 0 &amp; 1 focus on foundational elements. </a:t>
            </a:r>
            <a:r>
              <a:rPr lang="en-IN" sz="1125" b="0" i="1" u="none" dirty="0">
                <a:solidFill>
                  <a:srgbClr val="94A3B8"/>
                </a:solidFill>
                <a:latin typeface="Inter"/>
              </a:rPr>
              <a:t>Sprint 2 focuses on data preprocessing and st</a:t>
            </a:r>
            <a:endParaRPr sz="1125" b="0" i="1" u="none" dirty="0">
              <a:solidFill>
                <a:srgbClr val="94A3B8"/>
              </a:solidFill>
              <a:latin typeface="Inter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904875" y="3410842"/>
            <a:ext cx="4905375" cy="27429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sz="1350" b="1" i="0" u="none" dirty="0">
                <a:solidFill>
                  <a:srgbClr val="94A3B8"/>
                </a:solidFill>
                <a:latin typeface="Inter"/>
              </a:rPr>
              <a:t>Data Ingestion</a:t>
            </a:r>
            <a:r>
              <a:rPr sz="1350" b="0" i="0" u="none" dirty="0">
                <a:solidFill>
                  <a:srgbClr val="94A3B8"/>
                </a:solidFill>
                <a:latin typeface="Inter"/>
              </a:rPr>
              <a:t> </a:t>
            </a:r>
            <a:r>
              <a:rPr sz="1350" b="0" i="0" u="none" dirty="0">
                <a:solidFill>
                  <a:srgbClr val="10B981"/>
                </a:solidFill>
                <a:latin typeface="Inter"/>
              </a:rPr>
              <a:t>[Current Phase: Done]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04875" y="3875633"/>
            <a:ext cx="4905375" cy="25731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ts val="2160"/>
              </a:lnSpc>
            </a:pPr>
            <a:r>
              <a:rPr sz="1350" b="1" i="0" u="none" dirty="0">
                <a:solidFill>
                  <a:srgbClr val="94A3B8"/>
                </a:solidFill>
                <a:latin typeface="Inter"/>
              </a:rPr>
              <a:t>Data Cleaning &amp; Validation</a:t>
            </a:r>
            <a:r>
              <a:rPr lang="en-IN" sz="1350" b="1" i="0" u="none" dirty="0">
                <a:solidFill>
                  <a:srgbClr val="94A3B8"/>
                </a:solidFill>
                <a:latin typeface="Inter"/>
              </a:rPr>
              <a:t> </a:t>
            </a:r>
            <a:r>
              <a:rPr lang="en-IN" sz="1350" dirty="0">
                <a:solidFill>
                  <a:srgbClr val="10B981"/>
                </a:solidFill>
                <a:latin typeface="Inter"/>
              </a:rPr>
              <a:t>[Current Phase: Done]</a:t>
            </a:r>
            <a:endParaRPr sz="1350" b="1" i="0" u="none" dirty="0">
              <a:solidFill>
                <a:srgbClr val="94A3B8"/>
              </a:solidFill>
              <a:latin typeface="Inter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904875" y="4340423"/>
            <a:ext cx="4905375" cy="25731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ts val="2160"/>
              </a:lnSpc>
            </a:pPr>
            <a:r>
              <a:rPr sz="1350" b="1" i="0" u="none" dirty="0">
                <a:solidFill>
                  <a:srgbClr val="94A3B8"/>
                </a:solidFill>
                <a:latin typeface="Inter"/>
              </a:rPr>
              <a:t>Data Integration</a:t>
            </a:r>
            <a:r>
              <a:rPr lang="en-IN" sz="1350" b="1" i="0" u="none" dirty="0">
                <a:solidFill>
                  <a:srgbClr val="94A3B8"/>
                </a:solidFill>
                <a:latin typeface="Inter"/>
              </a:rPr>
              <a:t> </a:t>
            </a:r>
            <a:r>
              <a:rPr lang="en-IN" sz="1350" dirty="0">
                <a:solidFill>
                  <a:srgbClr val="10B981"/>
                </a:solidFill>
                <a:latin typeface="Inter"/>
              </a:rPr>
              <a:t>[Current Phase: Done]</a:t>
            </a:r>
            <a:endParaRPr sz="1350" b="1" i="0" u="none" dirty="0">
              <a:solidFill>
                <a:srgbClr val="94A3B8"/>
              </a:solidFill>
              <a:latin typeface="Inter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904875" y="4805213"/>
            <a:ext cx="4905375" cy="25731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ts val="2160"/>
              </a:lnSpc>
            </a:pPr>
            <a:r>
              <a:rPr sz="1350" b="1" i="0" u="none" dirty="0">
                <a:solidFill>
                  <a:srgbClr val="94A3B8"/>
                </a:solidFill>
                <a:latin typeface="Inter"/>
              </a:rPr>
              <a:t>Data Storage</a:t>
            </a:r>
            <a:r>
              <a:rPr lang="en-IN" sz="1350" b="1" i="0" u="none" dirty="0">
                <a:solidFill>
                  <a:srgbClr val="94A3B8"/>
                </a:solidFill>
                <a:latin typeface="Inter"/>
              </a:rPr>
              <a:t> </a:t>
            </a:r>
            <a:r>
              <a:rPr lang="en-IN" sz="1350" dirty="0">
                <a:solidFill>
                  <a:srgbClr val="10B981"/>
                </a:solidFill>
                <a:latin typeface="Inter"/>
              </a:rPr>
              <a:t>[Current Phase: Done]</a:t>
            </a:r>
            <a:endParaRPr sz="1350" b="1" i="0" u="none" dirty="0">
              <a:solidFill>
                <a:srgbClr val="94A3B8"/>
              </a:solidFill>
              <a:latin typeface="Inter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904875" y="5270003"/>
            <a:ext cx="4905375" cy="27429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sz="1350" b="1" i="0" u="none">
                <a:solidFill>
                  <a:srgbClr val="94A3B8"/>
                </a:solidFill>
                <a:latin typeface="Inter"/>
              </a:rPr>
              <a:t>Analytics &amp; Reporting</a:t>
            </a:r>
          </a:p>
        </p:txBody>
      </p:sp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91275" y="1975395"/>
            <a:ext cx="5219700" cy="379095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762000" y="476250"/>
            <a:ext cx="11401425" cy="50289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3959"/>
              </a:lnSpc>
            </a:pPr>
            <a:r>
              <a:rPr sz="3300" b="1" i="0" u="none">
                <a:solidFill>
                  <a:srgbClr val="F8FAFC"/>
                </a:solidFill>
                <a:latin typeface="Inter"/>
              </a:rPr>
              <a:t>PROJECT OVERVIEW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71500" y="476250"/>
            <a:ext cx="57150" cy="502890"/>
          </a:xfrm>
          <a:prstGeom prst="rect">
            <a:avLst/>
          </a:prstGeom>
          <a:solidFill>
            <a:srgbClr val="0EA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1500" y="3429892"/>
            <a:ext cx="114300" cy="200025"/>
          </a:xfrm>
          <a:prstGeom prst="rect">
            <a:avLst/>
          </a:prstGeom>
        </p:spPr>
      </p:pic>
      <p:pic>
        <p:nvPicPr>
          <p:cNvPr id="16" name="Picture 15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1500" y="3894683"/>
            <a:ext cx="114300" cy="200025"/>
          </a:xfrm>
          <a:prstGeom prst="rect">
            <a:avLst/>
          </a:prstGeom>
        </p:spPr>
      </p:pic>
      <p:pic>
        <p:nvPicPr>
          <p:cNvPr id="17" name="Picture 16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1500" y="4359473"/>
            <a:ext cx="114300" cy="200025"/>
          </a:xfrm>
          <a:prstGeom prst="rect">
            <a:avLst/>
          </a:prstGeom>
        </p:spPr>
      </p:pic>
      <p:pic>
        <p:nvPicPr>
          <p:cNvPr id="18" name="Picture 17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1500" y="4824263"/>
            <a:ext cx="114300" cy="200025"/>
          </a:xfrm>
          <a:prstGeom prst="rect">
            <a:avLst/>
          </a:prstGeom>
        </p:spPr>
      </p:pic>
      <p:pic>
        <p:nvPicPr>
          <p:cNvPr id="19" name="Picture 18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1500" y="5289053"/>
            <a:ext cx="114300" cy="200025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7690" y="1221178"/>
            <a:ext cx="5238750" cy="5594598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77940" y="1221178"/>
            <a:ext cx="5238750" cy="5594598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343025" y="1750665"/>
            <a:ext cx="4280535" cy="3199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ts val="2520"/>
              </a:lnSpc>
            </a:pPr>
            <a:r>
              <a:rPr sz="2100" b="0" i="0" u="none">
                <a:solidFill>
                  <a:srgbClr val="0EA5E9"/>
                </a:solidFill>
                <a:latin typeface="Inter SemiBold"/>
              </a:rPr>
              <a:t>The Problem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62025" y="2345189"/>
            <a:ext cx="4457700" cy="82287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sz="1350" b="0" i="0" u="none" dirty="0">
                <a:solidFill>
                  <a:srgbClr val="F8FAFC"/>
                </a:solidFill>
                <a:latin typeface="Inter"/>
              </a:rPr>
              <a:t>ABC Energy generates large volumes of data distributed across heterogeneous, independent sources.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153275" y="1750665"/>
            <a:ext cx="4280535" cy="3199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ts val="2520"/>
              </a:lnSpc>
            </a:pPr>
            <a:r>
              <a:rPr sz="2100" b="0" i="0" u="none">
                <a:solidFill>
                  <a:srgbClr val="10B981"/>
                </a:solidFill>
                <a:latin typeface="Inter SemiBold"/>
              </a:rPr>
              <a:t>The Need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772275" y="2408122"/>
            <a:ext cx="4457700" cy="12573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475"/>
              </a:lnSpc>
            </a:pPr>
            <a:r>
              <a:rPr sz="1650" b="0" i="0" u="none" dirty="0">
                <a:solidFill>
                  <a:srgbClr val="F8FAFC"/>
                </a:solidFill>
                <a:latin typeface="Inter"/>
              </a:rPr>
              <a:t>ABC Energy requires a </a:t>
            </a:r>
            <a:r>
              <a:rPr sz="1650" b="0" i="0" u="none" dirty="0">
                <a:solidFill>
                  <a:srgbClr val="0EA5E9"/>
                </a:solidFill>
                <a:latin typeface="Inter"/>
              </a:rPr>
              <a:t>centralized Data Engineering platform</a:t>
            </a:r>
            <a:r>
              <a:rPr sz="1650" b="0" i="0" u="none" dirty="0">
                <a:solidFill>
                  <a:srgbClr val="F8FAFC"/>
                </a:solidFill>
                <a:latin typeface="Inter"/>
              </a:rPr>
              <a:t> capable of integrating, validating, and preparing enterprise data for reliable analytics and decision-making.</a:t>
            </a:r>
          </a:p>
        </p:txBody>
      </p:sp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62025" y="1777305"/>
            <a:ext cx="266700" cy="26670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1295400" y="3417391"/>
            <a:ext cx="4124325" cy="27429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sz="1350" b="0" i="0" u="none">
                <a:solidFill>
                  <a:srgbClr val="94A3B8"/>
                </a:solidFill>
                <a:latin typeface="Inter"/>
              </a:rPr>
              <a:t>Data exists in different formats and structures.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95400" y="3882181"/>
            <a:ext cx="4124325" cy="27429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sz="1350" b="0" i="0" u="none">
                <a:solidFill>
                  <a:srgbClr val="94A3B8"/>
                </a:solidFill>
                <a:latin typeface="Inter"/>
              </a:rPr>
              <a:t>No unified view of enterprise information.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95400" y="4346971"/>
            <a:ext cx="4124325" cy="5485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sz="1350" b="0" i="0" u="none">
                <a:solidFill>
                  <a:srgbClr val="94A3B8"/>
                </a:solidFill>
                <a:latin typeface="Inter"/>
              </a:rPr>
              <a:t>Data contains missing, invalid, or duplicate records.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95400" y="4811762"/>
            <a:ext cx="4124325" cy="5485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sz="1350" b="0" i="0" u="none" dirty="0">
                <a:solidFill>
                  <a:srgbClr val="94A3B8"/>
                </a:solidFill>
                <a:latin typeface="Inter"/>
              </a:rPr>
              <a:t>Difficult to integrate information from diverse systems.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295400" y="5254695"/>
            <a:ext cx="4124325" cy="5485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sz="1350" b="0" i="0" u="none" dirty="0">
                <a:solidFill>
                  <a:srgbClr val="94A3B8"/>
                </a:solidFill>
                <a:latin typeface="Inter"/>
              </a:rPr>
              <a:t>Manual preparation increases effort and reduces consistency.</a:t>
            </a:r>
          </a:p>
        </p:txBody>
      </p:sp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772275" y="1777305"/>
            <a:ext cx="266700" cy="266700"/>
          </a:xfrm>
          <a:prstGeom prst="rect">
            <a:avLst/>
          </a:prstGeom>
        </p:spPr>
      </p:pic>
      <p:pic>
        <p:nvPicPr>
          <p:cNvPr id="16" name="Picture 15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020050" y="4157932"/>
            <a:ext cx="533400" cy="609600"/>
          </a:xfrm>
          <a:prstGeom prst="rect">
            <a:avLst/>
          </a:prstGeom>
        </p:spPr>
      </p:pic>
      <p:pic>
        <p:nvPicPr>
          <p:cNvPr id="17" name="Picture 16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791575" y="4424632"/>
            <a:ext cx="266700" cy="304800"/>
          </a:xfrm>
          <a:prstGeom prst="rect">
            <a:avLst/>
          </a:prstGeom>
        </p:spPr>
      </p:pic>
      <p:pic>
        <p:nvPicPr>
          <p:cNvPr id="18" name="Picture 17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9296400" y="4157932"/>
            <a:ext cx="685800" cy="609600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758190" y="337288"/>
            <a:ext cx="11401425" cy="50289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3959"/>
              </a:lnSpc>
            </a:pPr>
            <a:r>
              <a:rPr sz="3300" b="1" i="0" u="none">
                <a:solidFill>
                  <a:srgbClr val="F8FAFC"/>
                </a:solidFill>
                <a:latin typeface="Inter"/>
              </a:rPr>
              <a:t>BUSINESS PROBLEM &amp; NEED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71500" y="359144"/>
            <a:ext cx="57150" cy="502890"/>
          </a:xfrm>
          <a:prstGeom prst="rect">
            <a:avLst/>
          </a:prstGeom>
          <a:solidFill>
            <a:srgbClr val="0EA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21" name="Picture 20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962025" y="3436441"/>
            <a:ext cx="190500" cy="200025"/>
          </a:xfrm>
          <a:prstGeom prst="rect">
            <a:avLst/>
          </a:prstGeom>
        </p:spPr>
      </p:pic>
      <p:pic>
        <p:nvPicPr>
          <p:cNvPr id="22" name="Picture 21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962025" y="3901231"/>
            <a:ext cx="190500" cy="200025"/>
          </a:xfrm>
          <a:prstGeom prst="rect">
            <a:avLst/>
          </a:prstGeom>
        </p:spPr>
      </p:pic>
      <p:pic>
        <p:nvPicPr>
          <p:cNvPr id="23" name="Picture 22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962025" y="4366021"/>
            <a:ext cx="190500" cy="200025"/>
          </a:xfrm>
          <a:prstGeom prst="rect">
            <a:avLst/>
          </a:prstGeom>
        </p:spPr>
      </p:pic>
      <p:pic>
        <p:nvPicPr>
          <p:cNvPr id="24" name="Picture 23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962025" y="4830812"/>
            <a:ext cx="190500" cy="200025"/>
          </a:xfrm>
          <a:prstGeom prst="rect">
            <a:avLst/>
          </a:prstGeom>
        </p:spPr>
      </p:pic>
      <p:pic>
        <p:nvPicPr>
          <p:cNvPr id="25" name="Picture 24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962025" y="5295603"/>
            <a:ext cx="190500" cy="200025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71500" y="2034629"/>
            <a:ext cx="11049000" cy="3351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640"/>
              </a:lnSpc>
            </a:pPr>
            <a:r>
              <a:rPr sz="1650" b="0" i="0" u="none">
                <a:solidFill>
                  <a:srgbClr val="F8FAFC"/>
                </a:solidFill>
                <a:latin typeface="Inter"/>
              </a:rPr>
              <a:t>To solve the fragmented data challenge, the EEDP must deliver on the following core requirements: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4875" y="2750790"/>
            <a:ext cx="4905375" cy="5485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sz="1350" b="1" i="0" u="none">
                <a:solidFill>
                  <a:srgbClr val="0EA5E9"/>
                </a:solidFill>
                <a:latin typeface="Inter"/>
              </a:rPr>
              <a:t>Integrate Sources:</a:t>
            </a:r>
            <a:r>
              <a:rPr sz="1350" b="0" i="0" u="none">
                <a:solidFill>
                  <a:srgbClr val="94A3B8"/>
                </a:solidFill>
                <a:latin typeface="Inter"/>
              </a:rPr>
              <a:t> Bring relevant enterprise data sources into a common platform.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04875" y="3489870"/>
            <a:ext cx="4905375" cy="5485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sz="1350" b="1" i="0" u="none">
                <a:solidFill>
                  <a:srgbClr val="0EA5E9"/>
                </a:solidFill>
                <a:latin typeface="Inter"/>
              </a:rPr>
              <a:t>Standardize:</a:t>
            </a:r>
            <a:r>
              <a:rPr sz="1350" b="0" i="0" u="none">
                <a:solidFill>
                  <a:srgbClr val="94A3B8"/>
                </a:solidFill>
                <a:latin typeface="Inter"/>
              </a:rPr>
              <a:t> Provide standardized and validated data for downstream applications.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04875" y="4228951"/>
            <a:ext cx="4905375" cy="5485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sz="1350" b="1" i="0" u="none">
                <a:solidFill>
                  <a:srgbClr val="0EA5E9"/>
                </a:solidFill>
                <a:latin typeface="Inter"/>
              </a:rPr>
              <a:t>Define Fields:</a:t>
            </a:r>
            <a:r>
              <a:rPr sz="1350" b="0" i="0" u="none">
                <a:solidFill>
                  <a:srgbClr val="94A3B8"/>
                </a:solidFill>
                <a:latin typeface="Inter"/>
              </a:rPr>
              <a:t> Maintain clear definitions and meanings for important data fields.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4875" y="4968031"/>
            <a:ext cx="4905375" cy="5485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sz="1350" b="1" i="0" u="none">
                <a:solidFill>
                  <a:srgbClr val="0EA5E9"/>
                </a:solidFill>
                <a:latin typeface="Inter"/>
              </a:rPr>
              <a:t>Map Lineage:</a:t>
            </a:r>
            <a:r>
              <a:rPr sz="1350" b="0" i="0" u="none">
                <a:solidFill>
                  <a:srgbClr val="94A3B8"/>
                </a:solidFill>
                <a:latin typeface="Inter"/>
              </a:rPr>
              <a:t> Maintain source-to-target mappings for data integration.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715125" y="2750790"/>
            <a:ext cx="4905375" cy="5485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sz="1350" b="1" i="0" u="none">
                <a:solidFill>
                  <a:srgbClr val="0EA5E9"/>
                </a:solidFill>
                <a:latin typeface="Inter"/>
              </a:rPr>
              <a:t>Traceability:</a:t>
            </a:r>
            <a:r>
              <a:rPr sz="1350" b="0" i="0" u="none">
                <a:solidFill>
                  <a:srgbClr val="94A3B8"/>
                </a:solidFill>
                <a:latin typeface="Inter"/>
              </a:rPr>
              <a:t> Provide complete traceability across the data pipeline.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715125" y="3489870"/>
            <a:ext cx="4905375" cy="5485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sz="1350" b="1" i="0" u="none">
                <a:solidFill>
                  <a:srgbClr val="0EA5E9"/>
                </a:solidFill>
                <a:latin typeface="Inter"/>
              </a:rPr>
              <a:t>Centralized Storage:</a:t>
            </a:r>
            <a:r>
              <a:rPr sz="1350" b="0" i="0" u="none">
                <a:solidFill>
                  <a:srgbClr val="94A3B8"/>
                </a:solidFill>
                <a:latin typeface="Inter"/>
              </a:rPr>
              <a:t> Provide reliable storage for processed enterprise data.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715125" y="4228951"/>
            <a:ext cx="4905375" cy="5485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sz="1350" b="1" i="0" u="none">
                <a:solidFill>
                  <a:srgbClr val="0EA5E9"/>
                </a:solidFill>
                <a:latin typeface="Inter"/>
              </a:rPr>
              <a:t>Enable Reporting:</a:t>
            </a:r>
            <a:r>
              <a:rPr sz="1350" b="0" i="0" u="none">
                <a:solidFill>
                  <a:srgbClr val="94A3B8"/>
                </a:solidFill>
                <a:latin typeface="Inter"/>
              </a:rPr>
              <a:t> Support reliable reporting and analytics dashboards.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715125" y="4968031"/>
            <a:ext cx="4905375" cy="5485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sz="1350" b="1" i="0" u="none">
                <a:solidFill>
                  <a:srgbClr val="0EA5E9"/>
                </a:solidFill>
                <a:latin typeface="Inter"/>
              </a:rPr>
              <a:t>Future-Proof:</a:t>
            </a:r>
            <a:r>
              <a:rPr sz="1350" b="0" i="0" u="none">
                <a:solidFill>
                  <a:srgbClr val="94A3B8"/>
                </a:solidFill>
                <a:latin typeface="Inter"/>
              </a:rPr>
              <a:t> Establish a foundation for future energy-data use cases.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62000" y="476250"/>
            <a:ext cx="11401425" cy="50289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3959"/>
              </a:lnSpc>
            </a:pPr>
            <a:r>
              <a:rPr sz="3300" b="1" i="0" u="none">
                <a:solidFill>
                  <a:srgbClr val="F8FAFC"/>
                </a:solidFill>
                <a:latin typeface="Inter"/>
              </a:rPr>
              <a:t>BUSINESS REQUIREMENTS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71500" y="476250"/>
            <a:ext cx="57150" cy="502890"/>
          </a:xfrm>
          <a:prstGeom prst="rect">
            <a:avLst/>
          </a:prstGeom>
          <a:solidFill>
            <a:srgbClr val="0EA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2769840"/>
            <a:ext cx="190500" cy="200025"/>
          </a:xfrm>
          <a:prstGeom prst="rect">
            <a:avLst/>
          </a:prstGeom>
        </p:spPr>
      </p:pic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3508920"/>
            <a:ext cx="190500" cy="200025"/>
          </a:xfrm>
          <a:prstGeom prst="rect">
            <a:avLst/>
          </a:prstGeom>
        </p:spPr>
      </p:pic>
      <p:pic>
        <p:nvPicPr>
          <p:cNvPr id="16" name="Picture 15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4248001"/>
            <a:ext cx="190500" cy="200025"/>
          </a:xfrm>
          <a:prstGeom prst="rect">
            <a:avLst/>
          </a:prstGeom>
        </p:spPr>
      </p:pic>
      <p:pic>
        <p:nvPicPr>
          <p:cNvPr id="17" name="Picture 16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4987081"/>
            <a:ext cx="190500" cy="200025"/>
          </a:xfrm>
          <a:prstGeom prst="rect">
            <a:avLst/>
          </a:prstGeom>
        </p:spPr>
      </p:pic>
      <p:pic>
        <p:nvPicPr>
          <p:cNvPr id="18" name="Picture 17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81750" y="2769840"/>
            <a:ext cx="190500" cy="200025"/>
          </a:xfrm>
          <a:prstGeom prst="rect">
            <a:avLst/>
          </a:prstGeom>
        </p:spPr>
      </p:pic>
      <p:pic>
        <p:nvPicPr>
          <p:cNvPr id="19" name="Picture 18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81750" y="3508920"/>
            <a:ext cx="190500" cy="200025"/>
          </a:xfrm>
          <a:prstGeom prst="rect">
            <a:avLst/>
          </a:prstGeom>
        </p:spPr>
      </p:pic>
      <p:pic>
        <p:nvPicPr>
          <p:cNvPr id="20" name="Picture 19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81750" y="4248001"/>
            <a:ext cx="190500" cy="200025"/>
          </a:xfrm>
          <a:prstGeom prst="rect">
            <a:avLst/>
          </a:prstGeom>
        </p:spPr>
      </p:pic>
      <p:pic>
        <p:nvPicPr>
          <p:cNvPr id="21" name="Picture 20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81750" y="4987081"/>
            <a:ext cx="190500" cy="200025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1419225"/>
            <a:ext cx="3492400" cy="2308770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49650" y="1419225"/>
            <a:ext cx="3492549" cy="2308770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127950" y="1419225"/>
            <a:ext cx="3492400" cy="2308770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71500" y="4013745"/>
            <a:ext cx="3492400" cy="2308770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349650" y="4013745"/>
            <a:ext cx="3492549" cy="2308770"/>
          </a:xfrm>
          <a:prstGeom prst="rect">
            <a:avLst/>
          </a:prstGeom>
        </p:spPr>
      </p:pic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127950" y="4013745"/>
            <a:ext cx="3492400" cy="2308770"/>
          </a:xfrm>
          <a:prstGeom prst="rect">
            <a:avLst/>
          </a:prstGeom>
        </p:spPr>
      </p:pic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66775" y="1714500"/>
            <a:ext cx="476250" cy="47625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866775" y="2381250"/>
            <a:ext cx="3046943" cy="25137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979"/>
              </a:lnSpc>
            </a:pPr>
            <a:r>
              <a:rPr sz="1650" b="0" i="0" u="none">
                <a:solidFill>
                  <a:srgbClr val="F8FAFC"/>
                </a:solidFill>
                <a:latin typeface="Inter SemiBold"/>
              </a:rPr>
              <a:t>Identify &amp; Profile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6775" y="2746920"/>
            <a:ext cx="2901850" cy="685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125" b="0" i="0" u="none" dirty="0">
                <a:solidFill>
                  <a:srgbClr val="94A3B8"/>
                </a:solidFill>
                <a:latin typeface="Inter"/>
              </a:rPr>
              <a:t>Identify relevant enterprise sources, understand structures, and perform deep data profiling and quality analysis.</a:t>
            </a:r>
          </a:p>
        </p:txBody>
      </p:sp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644925" y="1714500"/>
            <a:ext cx="476250" cy="47625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4644925" y="2381250"/>
            <a:ext cx="3047099" cy="25137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979"/>
              </a:lnSpc>
            </a:pPr>
            <a:r>
              <a:rPr sz="1650" b="0" i="0" u="none">
                <a:solidFill>
                  <a:srgbClr val="F8FAFC"/>
                </a:solidFill>
                <a:latin typeface="Inter SemiBold"/>
              </a:rPr>
              <a:t>Clean &amp; Standardize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644925" y="2746920"/>
            <a:ext cx="2901999" cy="685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125" b="0" i="0" u="none">
                <a:solidFill>
                  <a:srgbClr val="94A3B8"/>
                </a:solidFill>
                <a:latin typeface="Inter"/>
              </a:rPr>
              <a:t>Thoroughly clean, validate, and standardize incoming enterprise data to resolve inconsistencies.</a:t>
            </a:r>
          </a:p>
        </p:txBody>
      </p:sp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8423225" y="1714500"/>
            <a:ext cx="476250" cy="476250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8423225" y="2381250"/>
            <a:ext cx="3046943" cy="25137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979"/>
              </a:lnSpc>
            </a:pPr>
            <a:r>
              <a:rPr sz="1650" b="0" i="0" u="none">
                <a:solidFill>
                  <a:srgbClr val="F8FAFC"/>
                </a:solidFill>
                <a:latin typeface="Inter SemiBold"/>
              </a:rPr>
              <a:t>ETL Pipelines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423225" y="2746920"/>
            <a:ext cx="2901850" cy="685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125" b="0" i="0" u="none">
                <a:solidFill>
                  <a:srgbClr val="94A3B8"/>
                </a:solidFill>
                <a:latin typeface="Inter"/>
              </a:rPr>
              <a:t>Develop repeatable, robust ETL pipelines using Pentaho Data Integration for automated workflows.</a:t>
            </a:r>
          </a:p>
        </p:txBody>
      </p:sp>
      <p:pic>
        <p:nvPicPr>
          <p:cNvPr id="18" name="Picture 17" descr="image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866775" y="4309020"/>
            <a:ext cx="476250" cy="476250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866775" y="4975770"/>
            <a:ext cx="3046943" cy="25137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979"/>
              </a:lnSpc>
            </a:pPr>
            <a:r>
              <a:rPr sz="1650" b="0" i="0" u="none">
                <a:solidFill>
                  <a:srgbClr val="F8FAFC"/>
                </a:solidFill>
                <a:latin typeface="Inter SemiBold"/>
              </a:rPr>
              <a:t>Central Storage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66775" y="5341441"/>
            <a:ext cx="2901850" cy="685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125" b="0" i="0" u="none">
                <a:solidFill>
                  <a:srgbClr val="94A3B8"/>
                </a:solidFill>
                <a:latin typeface="Inter"/>
              </a:rPr>
              <a:t>Store processed data efficiently using PostgreSQL to act as the central staging and data warehouse.</a:t>
            </a:r>
          </a:p>
        </p:txBody>
      </p:sp>
      <p:pic>
        <p:nvPicPr>
          <p:cNvPr id="21" name="Picture 20" descr="image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4644925" y="4309020"/>
            <a:ext cx="476250" cy="476250"/>
          </a:xfrm>
          <a:prstGeom prst="rect">
            <a:avLst/>
          </a:prstGeom>
        </p:spPr>
      </p:pic>
      <p:sp>
        <p:nvSpPr>
          <p:cNvPr id="22" name="TextBox 21"/>
          <p:cNvSpPr txBox="1"/>
          <p:nvPr/>
        </p:nvSpPr>
        <p:spPr>
          <a:xfrm>
            <a:off x="4644925" y="4975770"/>
            <a:ext cx="3047099" cy="25137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979"/>
              </a:lnSpc>
            </a:pPr>
            <a:r>
              <a:rPr sz="1650" b="0" i="0" u="none">
                <a:solidFill>
                  <a:srgbClr val="F8FAFC"/>
                </a:solidFill>
                <a:latin typeface="Inter SemiBold"/>
              </a:rPr>
              <a:t>Documentation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644925" y="5341441"/>
            <a:ext cx="2901999" cy="685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125" b="0" i="0" u="none">
                <a:solidFill>
                  <a:srgbClr val="94A3B8"/>
                </a:solidFill>
                <a:latin typeface="Inter"/>
              </a:rPr>
              <a:t>Develop a data dictionary, define source-to-staging mappings, and maintain version control via Git.</a:t>
            </a:r>
          </a:p>
        </p:txBody>
      </p:sp>
      <p:pic>
        <p:nvPicPr>
          <p:cNvPr id="24" name="Picture 23" descr="image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8423225" y="4309020"/>
            <a:ext cx="476250" cy="476250"/>
          </a:xfrm>
          <a:prstGeom prst="rect">
            <a:avLst/>
          </a:prstGeom>
        </p:spPr>
      </p:pic>
      <p:sp>
        <p:nvSpPr>
          <p:cNvPr id="25" name="TextBox 24"/>
          <p:cNvSpPr txBox="1"/>
          <p:nvPr/>
        </p:nvSpPr>
        <p:spPr>
          <a:xfrm>
            <a:off x="8423225" y="4975770"/>
            <a:ext cx="3046943" cy="25137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979"/>
              </a:lnSpc>
            </a:pPr>
            <a:r>
              <a:rPr sz="1650" b="0" i="0" u="none">
                <a:solidFill>
                  <a:srgbClr val="10B981"/>
                </a:solidFill>
                <a:latin typeface="Inter SemiBold"/>
              </a:rPr>
              <a:t>Analytics Foundation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423225" y="5341441"/>
            <a:ext cx="2901850" cy="685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125" b="0" i="0" u="none">
                <a:solidFill>
                  <a:srgbClr val="94A3B8"/>
                </a:solidFill>
                <a:latin typeface="Inter"/>
              </a:rPr>
              <a:t>Establish a solid, reliable foundation for future Power BI analytics and energy reporting use cases.</a:t>
            </a:r>
          </a:p>
        </p:txBody>
      </p:sp>
      <p:pic>
        <p:nvPicPr>
          <p:cNvPr id="27" name="Picture 26" descr="image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990600" y="1838325"/>
            <a:ext cx="228600" cy="228600"/>
          </a:xfrm>
          <a:prstGeom prst="rect">
            <a:avLst/>
          </a:prstGeom>
        </p:spPr>
      </p:pic>
      <p:pic>
        <p:nvPicPr>
          <p:cNvPr id="28" name="Picture 27" descr="image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4754463" y="1838325"/>
            <a:ext cx="257175" cy="228600"/>
          </a:xfrm>
          <a:prstGeom prst="rect">
            <a:avLst/>
          </a:prstGeom>
        </p:spPr>
      </p:pic>
      <p:pic>
        <p:nvPicPr>
          <p:cNvPr id="29" name="Picture 28" descr="image.png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8518475" y="1838325"/>
            <a:ext cx="285750" cy="228600"/>
          </a:xfrm>
          <a:prstGeom prst="rect">
            <a:avLst/>
          </a:prstGeom>
        </p:spPr>
      </p:pic>
      <p:pic>
        <p:nvPicPr>
          <p:cNvPr id="30" name="Picture 29" descr="image.png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990600" y="4432845"/>
            <a:ext cx="228600" cy="228600"/>
          </a:xfrm>
          <a:prstGeom prst="rect">
            <a:avLst/>
          </a:prstGeom>
        </p:spPr>
      </p:pic>
      <p:pic>
        <p:nvPicPr>
          <p:cNvPr id="31" name="Picture 30" descr="image.png"/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4783038" y="4432845"/>
            <a:ext cx="200025" cy="228600"/>
          </a:xfrm>
          <a:prstGeom prst="rect">
            <a:avLst/>
          </a:prstGeom>
        </p:spPr>
      </p:pic>
      <p:pic>
        <p:nvPicPr>
          <p:cNvPr id="32" name="Picture 31" descr="image.png"/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8547050" y="4432845"/>
            <a:ext cx="228600" cy="228600"/>
          </a:xfrm>
          <a:prstGeom prst="rect">
            <a:avLst/>
          </a:prstGeom>
        </p:spPr>
      </p:pic>
      <p:sp>
        <p:nvSpPr>
          <p:cNvPr id="33" name="TextBox 32"/>
          <p:cNvSpPr txBox="1"/>
          <p:nvPr/>
        </p:nvSpPr>
        <p:spPr>
          <a:xfrm>
            <a:off x="762000" y="476250"/>
            <a:ext cx="11401425" cy="50289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3959"/>
              </a:lnSpc>
            </a:pPr>
            <a:r>
              <a:rPr sz="3300" b="1" i="0" u="none">
                <a:solidFill>
                  <a:srgbClr val="F8FAFC"/>
                </a:solidFill>
                <a:latin typeface="Inter"/>
              </a:rPr>
              <a:t>PROJECT OBJECTIVES</a:t>
            </a:r>
          </a:p>
        </p:txBody>
      </p:sp>
      <p:sp>
        <p:nvSpPr>
          <p:cNvPr id="34" name="Rectangle 33"/>
          <p:cNvSpPr/>
          <p:nvPr/>
        </p:nvSpPr>
        <p:spPr>
          <a:xfrm>
            <a:off x="571500" y="476250"/>
            <a:ext cx="57150" cy="502890"/>
          </a:xfrm>
          <a:prstGeom prst="rect">
            <a:avLst/>
          </a:prstGeom>
          <a:solidFill>
            <a:srgbClr val="0EA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1770608"/>
            <a:ext cx="11049000" cy="4200525"/>
          </a:xfrm>
          <a:prstGeom prst="rect">
            <a:avLst/>
          </a:prstGeom>
        </p:spPr>
      </p:pic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68184998"/>
              </p:ext>
            </p:extLst>
          </p:nvPr>
        </p:nvGraphicFramePr>
        <p:xfrm>
          <a:off x="581025" y="1780133"/>
          <a:ext cx="11029949" cy="41814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0593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06638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75763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80134">
                <a:tc>
                  <a:txBody>
                    <a:bodyPr/>
                    <a:lstStyle/>
                    <a:p>
                      <a:pPr algn="l"/>
                      <a:r>
                        <a:rPr sz="1125" b="0" i="0" u="none">
                          <a:solidFill>
                            <a:srgbClr val="0EA5E9"/>
                          </a:solidFill>
                          <a:latin typeface="Inter SemiBold"/>
                        </a:rPr>
                        <a:t>Area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25" b="0" i="0" u="none">
                          <a:solidFill>
                            <a:srgbClr val="0EA5E9"/>
                          </a:solidFill>
                          <a:latin typeface="Inter SemiBold"/>
                        </a:rPr>
                        <a:t>Scope / Activity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25" b="0" i="0" u="none">
                          <a:solidFill>
                            <a:srgbClr val="0EA5E9"/>
                          </a:solidFill>
                          <a:latin typeface="Inter SemiBold"/>
                        </a:rPr>
                        <a:t>Tool / Tech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F172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0134">
                <a:tc>
                  <a:txBody>
                    <a:bodyPr/>
                    <a:lstStyle/>
                    <a:p>
                      <a:pPr algn="l"/>
                      <a:r>
                        <a:rPr sz="1125" b="1" i="0" u="none" dirty="0">
                          <a:solidFill>
                            <a:schemeClr val="bg1"/>
                          </a:solidFill>
                          <a:latin typeface="Inter"/>
                        </a:rPr>
                        <a:t>Requirement Analysis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25" b="0" i="0" u="none">
                          <a:solidFill>
                            <a:schemeClr val="bg1"/>
                          </a:solidFill>
                          <a:latin typeface="Inter"/>
                        </a:rPr>
                        <a:t>Business requirement documentation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25" b="0" i="0" u="none" dirty="0">
                          <a:solidFill>
                            <a:schemeClr val="bg1"/>
                          </a:solidFill>
                          <a:latin typeface="Inter"/>
                        </a:rPr>
                        <a:t>Markdown / MS Word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0134">
                <a:tc>
                  <a:txBody>
                    <a:bodyPr/>
                    <a:lstStyle/>
                    <a:p>
                      <a:pPr algn="l"/>
                      <a:r>
                        <a:rPr sz="1125" b="1" i="0" u="none">
                          <a:solidFill>
                            <a:schemeClr val="bg1"/>
                          </a:solidFill>
                          <a:latin typeface="Inter"/>
                        </a:rPr>
                        <a:t>Data Discovery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25" b="0" i="0" u="none">
                          <a:solidFill>
                            <a:schemeClr val="bg1"/>
                          </a:solidFill>
                          <a:latin typeface="Inter"/>
                        </a:rPr>
                        <a:t>Identification &amp; analysis of enterprise sources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25" b="0" i="0" u="none" dirty="0">
                          <a:solidFill>
                            <a:schemeClr val="bg1"/>
                          </a:solidFill>
                          <a:latin typeface="Inter"/>
                        </a:rPr>
                        <a:t>Python / Excel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F172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0134">
                <a:tc>
                  <a:txBody>
                    <a:bodyPr/>
                    <a:lstStyle/>
                    <a:p>
                      <a:pPr algn="l"/>
                      <a:r>
                        <a:rPr sz="1125" b="1" i="0" u="none">
                          <a:solidFill>
                            <a:schemeClr val="bg1"/>
                          </a:solidFill>
                          <a:latin typeface="Inter"/>
                        </a:rPr>
                        <a:t>Data Dictionary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25" b="0" i="0" u="none">
                          <a:solidFill>
                            <a:schemeClr val="bg1"/>
                          </a:solidFill>
                          <a:latin typeface="Inter"/>
                        </a:rPr>
                        <a:t>Documentation of source fields and attributes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25" b="0" i="0" u="none" dirty="0">
                          <a:solidFill>
                            <a:schemeClr val="bg1"/>
                          </a:solidFill>
                          <a:latin typeface="Inter"/>
                        </a:rPr>
                        <a:t>Excel / Markdown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80134">
                <a:tc>
                  <a:txBody>
                    <a:bodyPr/>
                    <a:lstStyle/>
                    <a:p>
                      <a:pPr algn="l"/>
                      <a:r>
                        <a:rPr sz="1125" b="1" i="0" u="none">
                          <a:solidFill>
                            <a:schemeClr val="bg1"/>
                          </a:solidFill>
                          <a:latin typeface="Inter"/>
                        </a:rPr>
                        <a:t>Data Ingestion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25" b="0" i="0" u="none">
                          <a:solidFill>
                            <a:schemeClr val="bg1"/>
                          </a:solidFill>
                          <a:latin typeface="Inter"/>
                        </a:rPr>
                        <a:t>Extraction and loading of heterogeneous data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25" b="0" i="0" u="none" dirty="0">
                          <a:solidFill>
                            <a:schemeClr val="bg1"/>
                          </a:solidFill>
                          <a:latin typeface="Inter"/>
                        </a:rPr>
                        <a:t>Pentaho Data Integration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F172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80134">
                <a:tc>
                  <a:txBody>
                    <a:bodyPr/>
                    <a:lstStyle/>
                    <a:p>
                      <a:pPr algn="l"/>
                      <a:r>
                        <a:rPr sz="1125" b="1" i="0" u="none">
                          <a:solidFill>
                            <a:schemeClr val="bg1"/>
                          </a:solidFill>
                          <a:latin typeface="Inter"/>
                        </a:rPr>
                        <a:t>Data Profiling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25" b="0" i="0" u="none">
                          <a:solidFill>
                            <a:schemeClr val="bg1"/>
                          </a:solidFill>
                          <a:latin typeface="Inter"/>
                        </a:rPr>
                        <a:t>Analysis of data structure and quality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25" b="0" i="0" u="none" dirty="0">
                          <a:solidFill>
                            <a:schemeClr val="bg1"/>
                          </a:solidFill>
                          <a:latin typeface="Inter"/>
                        </a:rPr>
                        <a:t>Python / Pandas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80134">
                <a:tc>
                  <a:txBody>
                    <a:bodyPr/>
                    <a:lstStyle/>
                    <a:p>
                      <a:pPr algn="l"/>
                      <a:r>
                        <a:rPr sz="1125" b="1" i="0" u="none">
                          <a:solidFill>
                            <a:schemeClr val="bg1"/>
                          </a:solidFill>
                          <a:latin typeface="Inter"/>
                        </a:rPr>
                        <a:t>Data Cleaning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25" b="0" i="0" u="none">
                          <a:solidFill>
                            <a:schemeClr val="bg1"/>
                          </a:solidFill>
                          <a:latin typeface="Inter"/>
                        </a:rPr>
                        <a:t>Data cleansing and validation rules implementation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25" b="0" i="0" u="none" dirty="0">
                          <a:solidFill>
                            <a:schemeClr val="bg1"/>
                          </a:solidFill>
                          <a:latin typeface="Inter"/>
                        </a:rPr>
                        <a:t>Python / Pandas, Pentaho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F172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80134">
                <a:tc>
                  <a:txBody>
                    <a:bodyPr/>
                    <a:lstStyle/>
                    <a:p>
                      <a:pPr algn="l"/>
                      <a:r>
                        <a:rPr sz="1125" b="1" i="0" u="none">
                          <a:solidFill>
                            <a:schemeClr val="bg1"/>
                          </a:solidFill>
                          <a:latin typeface="Inter"/>
                        </a:rPr>
                        <a:t>Data Storage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25" b="0" i="0" u="none">
                          <a:solidFill>
                            <a:schemeClr val="bg1"/>
                          </a:solidFill>
                          <a:latin typeface="Inter"/>
                        </a:rPr>
                        <a:t>Staging and centralized data warehouse setup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25" b="0" i="0" u="none" dirty="0">
                          <a:solidFill>
                            <a:schemeClr val="bg1"/>
                          </a:solidFill>
                          <a:latin typeface="Inter"/>
                        </a:rPr>
                        <a:t>PostgreSQL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80134">
                <a:tc>
                  <a:txBody>
                    <a:bodyPr/>
                    <a:lstStyle/>
                    <a:p>
                      <a:pPr algn="l"/>
                      <a:r>
                        <a:rPr sz="1125" b="1" i="0" u="none">
                          <a:solidFill>
                            <a:schemeClr val="bg1"/>
                          </a:solidFill>
                          <a:latin typeface="Inter"/>
                        </a:rPr>
                        <a:t>Data Lineage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25" b="0" i="0" u="none">
                          <a:solidFill>
                            <a:schemeClr val="bg1"/>
                          </a:solidFill>
                          <a:latin typeface="Inter"/>
                        </a:rPr>
                        <a:t>Source-to-target mapping &amp; lineage docs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25" b="0" i="0" u="none" dirty="0">
                          <a:solidFill>
                            <a:schemeClr val="bg1"/>
                          </a:solidFill>
                          <a:latin typeface="Inter"/>
                        </a:rPr>
                        <a:t>Markdown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F172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80134">
                <a:tc>
                  <a:txBody>
                    <a:bodyPr/>
                    <a:lstStyle/>
                    <a:p>
                      <a:pPr algn="l"/>
                      <a:r>
                        <a:rPr sz="1125" b="1" i="0" u="none">
                          <a:solidFill>
                            <a:schemeClr val="bg1"/>
                          </a:solidFill>
                          <a:latin typeface="Inter"/>
                        </a:rPr>
                        <a:t>ETL Orchestration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25" b="0" i="0" u="none">
                          <a:solidFill>
                            <a:schemeClr val="bg1"/>
                          </a:solidFill>
                          <a:latin typeface="Inter"/>
                        </a:rPr>
                        <a:t>Automated ETL workflow development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25" b="0" i="0" u="none" dirty="0">
                          <a:solidFill>
                            <a:schemeClr val="bg1"/>
                          </a:solidFill>
                          <a:latin typeface="Inter"/>
                        </a:rPr>
                        <a:t>Pentaho Data Integration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80135">
                <a:tc>
                  <a:txBody>
                    <a:bodyPr/>
                    <a:lstStyle/>
                    <a:p>
                      <a:pPr algn="l"/>
                      <a:r>
                        <a:rPr sz="1125" b="1" i="0" u="none">
                          <a:solidFill>
                            <a:schemeClr val="bg1"/>
                          </a:solidFill>
                          <a:latin typeface="Inter"/>
                        </a:rPr>
                        <a:t>Version Control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25" b="0" i="0" u="none">
                          <a:solidFill>
                            <a:schemeClr val="bg1"/>
                          </a:solidFill>
                          <a:latin typeface="Inter"/>
                        </a:rPr>
                        <a:t>Source-code and project collaboration management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25" b="0" i="0" u="none" dirty="0">
                          <a:solidFill>
                            <a:schemeClr val="bg1"/>
                          </a:solidFill>
                          <a:latin typeface="Inter"/>
                        </a:rPr>
                        <a:t>Git / GitHub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F172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</a:tbl>
          </a:graphicData>
        </a:graphic>
      </p:graphicFrame>
      <p:sp>
        <p:nvSpPr>
          <p:cNvPr id="5" name="Rectangle 4"/>
          <p:cNvSpPr/>
          <p:nvPr/>
        </p:nvSpPr>
        <p:spPr>
          <a:xfrm>
            <a:off x="581025" y="2146845"/>
            <a:ext cx="2205930" cy="9525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2786955" y="2146845"/>
            <a:ext cx="6066383" cy="9525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8853338" y="2146845"/>
            <a:ext cx="2757636" cy="9525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581025" y="2527845"/>
            <a:ext cx="2205930" cy="9525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2786955" y="2527845"/>
            <a:ext cx="6066383" cy="9525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8853338" y="2527845"/>
            <a:ext cx="2757636" cy="9525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581025" y="2908845"/>
            <a:ext cx="2205930" cy="9525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2786955" y="2908845"/>
            <a:ext cx="6066383" cy="9525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8853338" y="2908845"/>
            <a:ext cx="2757636" cy="9525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581025" y="3289845"/>
            <a:ext cx="2205930" cy="9525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2786955" y="3289845"/>
            <a:ext cx="6066383" cy="9525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8853338" y="3289845"/>
            <a:ext cx="2757636" cy="9525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581025" y="3670845"/>
            <a:ext cx="2205930" cy="9525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2786955" y="3670845"/>
            <a:ext cx="6066383" cy="9525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8853338" y="3670845"/>
            <a:ext cx="2757636" cy="9525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581025" y="4051845"/>
            <a:ext cx="2205930" cy="9525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2786955" y="4051845"/>
            <a:ext cx="6066383" cy="9525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8853338" y="4051845"/>
            <a:ext cx="2757636" cy="9525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581025" y="4432845"/>
            <a:ext cx="2205930" cy="9525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2786955" y="4432845"/>
            <a:ext cx="6066383" cy="9525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ectangle 24"/>
          <p:cNvSpPr/>
          <p:nvPr/>
        </p:nvSpPr>
        <p:spPr>
          <a:xfrm>
            <a:off x="8853338" y="4432845"/>
            <a:ext cx="2757636" cy="9525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ectangle 25"/>
          <p:cNvSpPr/>
          <p:nvPr/>
        </p:nvSpPr>
        <p:spPr>
          <a:xfrm>
            <a:off x="581025" y="4813845"/>
            <a:ext cx="2205930" cy="9525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ectangle 26"/>
          <p:cNvSpPr/>
          <p:nvPr/>
        </p:nvSpPr>
        <p:spPr>
          <a:xfrm>
            <a:off x="2786955" y="4813845"/>
            <a:ext cx="6066383" cy="9525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ectangle 27"/>
          <p:cNvSpPr/>
          <p:nvPr/>
        </p:nvSpPr>
        <p:spPr>
          <a:xfrm>
            <a:off x="8853338" y="4813845"/>
            <a:ext cx="2757636" cy="9525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Rectangle 28"/>
          <p:cNvSpPr/>
          <p:nvPr/>
        </p:nvSpPr>
        <p:spPr>
          <a:xfrm>
            <a:off x="581025" y="5194845"/>
            <a:ext cx="2205930" cy="9525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Rectangle 29"/>
          <p:cNvSpPr/>
          <p:nvPr/>
        </p:nvSpPr>
        <p:spPr>
          <a:xfrm>
            <a:off x="2786955" y="5194845"/>
            <a:ext cx="6066383" cy="9525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Rectangle 30"/>
          <p:cNvSpPr/>
          <p:nvPr/>
        </p:nvSpPr>
        <p:spPr>
          <a:xfrm>
            <a:off x="8853338" y="5194845"/>
            <a:ext cx="2757636" cy="9525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Rectangle 31"/>
          <p:cNvSpPr/>
          <p:nvPr/>
        </p:nvSpPr>
        <p:spPr>
          <a:xfrm>
            <a:off x="581025" y="5575845"/>
            <a:ext cx="2205930" cy="9525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Rectangle 32"/>
          <p:cNvSpPr/>
          <p:nvPr/>
        </p:nvSpPr>
        <p:spPr>
          <a:xfrm>
            <a:off x="2786955" y="5575845"/>
            <a:ext cx="6066383" cy="9525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Rectangle 33"/>
          <p:cNvSpPr/>
          <p:nvPr/>
        </p:nvSpPr>
        <p:spPr>
          <a:xfrm>
            <a:off x="8853338" y="5575845"/>
            <a:ext cx="2757636" cy="9525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762000" y="476250"/>
            <a:ext cx="11401425" cy="50289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3959"/>
              </a:lnSpc>
            </a:pPr>
            <a:r>
              <a:rPr sz="3300" b="1" i="0" u="none">
                <a:solidFill>
                  <a:srgbClr val="F8FAFC"/>
                </a:solidFill>
                <a:latin typeface="Inter"/>
              </a:rPr>
              <a:t>PROJECT SCOPE</a:t>
            </a:r>
          </a:p>
        </p:txBody>
      </p:sp>
      <p:sp>
        <p:nvSpPr>
          <p:cNvPr id="36" name="Rectangle 35"/>
          <p:cNvSpPr/>
          <p:nvPr/>
        </p:nvSpPr>
        <p:spPr>
          <a:xfrm>
            <a:off x="571500" y="476250"/>
            <a:ext cx="57150" cy="502890"/>
          </a:xfrm>
          <a:prstGeom prst="rect">
            <a:avLst/>
          </a:prstGeom>
          <a:solidFill>
            <a:srgbClr val="0EA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2151608"/>
            <a:ext cx="11049000" cy="3438525"/>
          </a:xfrm>
          <a:prstGeom prst="rect">
            <a:avLst/>
          </a:prstGeom>
        </p:spPr>
      </p:pic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8656880"/>
              </p:ext>
            </p:extLst>
          </p:nvPr>
        </p:nvGraphicFramePr>
        <p:xfrm>
          <a:off x="581025" y="2161133"/>
          <a:ext cx="11029948" cy="34194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5748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0296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75748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41200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79941">
                <a:tc>
                  <a:txBody>
                    <a:bodyPr/>
                    <a:lstStyle/>
                    <a:p>
                      <a:pPr algn="l"/>
                      <a:r>
                        <a:rPr sz="1125" b="0" i="0" u="none">
                          <a:solidFill>
                            <a:srgbClr val="0EA5E9"/>
                          </a:solidFill>
                          <a:latin typeface="Inter SemiBold"/>
                        </a:rPr>
                        <a:t>Dataset Name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25" b="0" i="0" u="none">
                          <a:solidFill>
                            <a:srgbClr val="0EA5E9"/>
                          </a:solidFill>
                          <a:latin typeface="Inter SemiBold"/>
                        </a:rPr>
                        <a:t>Type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25" b="0" i="0" u="none">
                          <a:solidFill>
                            <a:srgbClr val="0EA5E9"/>
                          </a:solidFill>
                          <a:latin typeface="Inter SemiBold"/>
                        </a:rPr>
                        <a:t>Primary Domain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25" b="0" i="0" u="none">
                          <a:solidFill>
                            <a:srgbClr val="0EA5E9"/>
                          </a:solidFill>
                          <a:latin typeface="Inter SemiBold"/>
                        </a:rPr>
                        <a:t>Key Variables (Subset)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F172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9941">
                <a:tc>
                  <a:txBody>
                    <a:bodyPr/>
                    <a:lstStyle/>
                    <a:p>
                      <a:pPr algn="l"/>
                      <a:r>
                        <a:rPr sz="1125" b="0" i="0" u="none">
                          <a:solidFill>
                            <a:schemeClr val="bg1"/>
                          </a:solidFill>
                          <a:latin typeface="Inter"/>
                        </a:rPr>
                        <a:t>asset_maintenance.csv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25" b="0" i="0" u="none">
                          <a:solidFill>
                            <a:schemeClr val="bg1"/>
                          </a:solidFill>
                          <a:latin typeface="Inter"/>
                        </a:rPr>
                        <a:t>CSV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25" b="0" i="0" u="none">
                          <a:solidFill>
                            <a:schemeClr val="bg1"/>
                          </a:solidFill>
                          <a:latin typeface="Inter"/>
                        </a:rPr>
                        <a:t>Predictive Maintenance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25" b="0" i="0" u="none" dirty="0">
                          <a:solidFill>
                            <a:schemeClr val="bg1"/>
                          </a:solidFill>
                          <a:latin typeface="Inter"/>
                        </a:rPr>
                        <a:t>Temp, Rotational Speed, Torque, Wear, Failure Type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9941">
                <a:tc>
                  <a:txBody>
                    <a:bodyPr/>
                    <a:lstStyle/>
                    <a:p>
                      <a:pPr algn="l"/>
                      <a:r>
                        <a:rPr sz="1125" b="0" i="0" u="none">
                          <a:solidFill>
                            <a:schemeClr val="bg1"/>
                          </a:solidFill>
                          <a:latin typeface="Inter"/>
                        </a:rPr>
                        <a:t>Billing_payments.csv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25" b="0" i="0" u="none">
                          <a:solidFill>
                            <a:schemeClr val="bg1"/>
                          </a:solidFill>
                          <a:latin typeface="Inter"/>
                        </a:rPr>
                        <a:t>CSV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25" b="0" i="0" u="none">
                          <a:solidFill>
                            <a:schemeClr val="bg1"/>
                          </a:solidFill>
                          <a:latin typeface="Inter"/>
                        </a:rPr>
                        <a:t>Utility Financials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25" b="0" i="0" u="none" dirty="0">
                          <a:solidFill>
                            <a:schemeClr val="bg1"/>
                          </a:solidFill>
                          <a:latin typeface="Inter"/>
                        </a:rPr>
                        <a:t>Peak Demand, Generation, Sector Revenues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F172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9941">
                <a:tc>
                  <a:txBody>
                    <a:bodyPr/>
                    <a:lstStyle/>
                    <a:p>
                      <a:pPr algn="l"/>
                      <a:r>
                        <a:rPr sz="1125" b="0" i="0" u="none">
                          <a:solidFill>
                            <a:schemeClr val="bg1"/>
                          </a:solidFill>
                          <a:latin typeface="Inter"/>
                        </a:rPr>
                        <a:t>CIS.xml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25" b="0" i="0" u="none">
                          <a:solidFill>
                            <a:schemeClr val="bg1"/>
                          </a:solidFill>
                          <a:latin typeface="Inter"/>
                        </a:rPr>
                        <a:t>XML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25" b="0" i="0" u="none">
                          <a:solidFill>
                            <a:schemeClr val="bg1"/>
                          </a:solidFill>
                          <a:latin typeface="Inter"/>
                        </a:rPr>
                        <a:t>Customer Info System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25" b="0" i="0" u="none" dirty="0">
                          <a:solidFill>
                            <a:schemeClr val="bg1"/>
                          </a:solidFill>
                          <a:latin typeface="Inter"/>
                        </a:rPr>
                        <a:t>Root, Result, Child Data, Unique Attributes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9941">
                <a:tc>
                  <a:txBody>
                    <a:bodyPr/>
                    <a:lstStyle/>
                    <a:p>
                      <a:pPr algn="l"/>
                      <a:r>
                        <a:rPr sz="1125" b="0" i="0" u="none">
                          <a:solidFill>
                            <a:schemeClr val="bg1"/>
                          </a:solidFill>
                          <a:latin typeface="Inter"/>
                        </a:rPr>
                        <a:t>iiot_smart_grid_dataset.csv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25" b="0" i="0" u="none">
                          <a:solidFill>
                            <a:schemeClr val="bg1"/>
                          </a:solidFill>
                          <a:latin typeface="Inter"/>
                        </a:rPr>
                        <a:t>CSV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25" b="0" i="0" u="none">
                          <a:solidFill>
                            <a:schemeClr val="bg1"/>
                          </a:solidFill>
                          <a:latin typeface="Inter"/>
                        </a:rPr>
                        <a:t>Smart Grid Telemetry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25" b="0" i="0" u="none" dirty="0">
                          <a:solidFill>
                            <a:schemeClr val="bg1"/>
                          </a:solidFill>
                          <a:latin typeface="Inter"/>
                        </a:rPr>
                        <a:t>Voltage, Current, Power Factor, Renewable Gen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F172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9941">
                <a:tc>
                  <a:txBody>
                    <a:bodyPr/>
                    <a:lstStyle/>
                    <a:p>
                      <a:pPr algn="l"/>
                      <a:r>
                        <a:rPr sz="1125" b="0" i="0" u="none">
                          <a:solidFill>
                            <a:schemeClr val="bg1"/>
                          </a:solidFill>
                          <a:latin typeface="Inter"/>
                        </a:rPr>
                        <a:t>OMS_data.csv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25" b="0" i="0" u="none">
                          <a:solidFill>
                            <a:schemeClr val="bg1"/>
                          </a:solidFill>
                          <a:latin typeface="Inter"/>
                        </a:rPr>
                        <a:t>CSV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25" b="0" i="0" u="none">
                          <a:solidFill>
                            <a:schemeClr val="bg1"/>
                          </a:solidFill>
                          <a:latin typeface="Inter"/>
                        </a:rPr>
                        <a:t>Outage Management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25" b="0" i="0" u="none" dirty="0">
                          <a:solidFill>
                            <a:schemeClr val="bg1"/>
                          </a:solidFill>
                          <a:latin typeface="Inter"/>
                        </a:rPr>
                        <a:t>Event Times, NERC Region, Demand Loss, Affected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79941">
                <a:tc>
                  <a:txBody>
                    <a:bodyPr/>
                    <a:lstStyle/>
                    <a:p>
                      <a:pPr algn="l"/>
                      <a:r>
                        <a:rPr sz="1125" b="0" i="0" u="none">
                          <a:solidFill>
                            <a:schemeClr val="bg1"/>
                          </a:solidFill>
                          <a:latin typeface="Inter"/>
                        </a:rPr>
                        <a:t>owid-energy-data.json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25" b="0" i="0" u="none">
                          <a:solidFill>
                            <a:schemeClr val="bg1"/>
                          </a:solidFill>
                          <a:latin typeface="Inter"/>
                        </a:rPr>
                        <a:t>JSON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25" b="0" i="0" u="none">
                          <a:solidFill>
                            <a:schemeClr val="bg1"/>
                          </a:solidFill>
                          <a:latin typeface="Inter"/>
                        </a:rPr>
                        <a:t>Global Energy Trends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25" b="0" i="0" u="none" dirty="0">
                          <a:solidFill>
                            <a:schemeClr val="bg1"/>
                          </a:solidFill>
                          <a:latin typeface="Inter"/>
                        </a:rPr>
                        <a:t>Generation &amp; Shares (Biofuel, Coal, Gas, Solar, Wind)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F172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79941">
                <a:tc>
                  <a:txBody>
                    <a:bodyPr/>
                    <a:lstStyle/>
                    <a:p>
                      <a:pPr algn="l"/>
                      <a:r>
                        <a:rPr sz="1125" b="0" i="0" u="none">
                          <a:solidFill>
                            <a:schemeClr val="bg1"/>
                          </a:solidFill>
                          <a:latin typeface="Inter"/>
                        </a:rPr>
                        <a:t>scada_pipeline.csv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25" b="0" i="0" u="none">
                          <a:solidFill>
                            <a:schemeClr val="bg1"/>
                          </a:solidFill>
                          <a:latin typeface="Inter"/>
                        </a:rPr>
                        <a:t>CSV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25" b="0" i="0" u="none">
                          <a:solidFill>
                            <a:schemeClr val="bg1"/>
                          </a:solidFill>
                          <a:latin typeface="Inter"/>
                        </a:rPr>
                        <a:t>SCADA Pipeline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25" b="0" i="0" u="none" dirty="0">
                          <a:solidFill>
                            <a:schemeClr val="bg1"/>
                          </a:solidFill>
                          <a:latin typeface="Inter"/>
                        </a:rPr>
                        <a:t>Pressure, Flow Rate, Valve State, Alarms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79947">
                <a:tc>
                  <a:txBody>
                    <a:bodyPr/>
                    <a:lstStyle/>
                    <a:p>
                      <a:pPr algn="l"/>
                      <a:r>
                        <a:rPr sz="1125" b="0" i="0" u="none">
                          <a:solidFill>
                            <a:schemeClr val="bg1"/>
                          </a:solidFill>
                          <a:latin typeface="Inter"/>
                        </a:rPr>
                        <a:t>smart_meter_data.csv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25" b="0" i="0" u="none">
                          <a:solidFill>
                            <a:schemeClr val="bg1"/>
                          </a:solidFill>
                          <a:latin typeface="Inter"/>
                        </a:rPr>
                        <a:t>CSV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25" b="0" i="0" u="none">
                          <a:solidFill>
                            <a:schemeClr val="bg1"/>
                          </a:solidFill>
                          <a:latin typeface="Inter"/>
                        </a:rPr>
                        <a:t>Smart Meter Consump.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25" b="0" i="0" u="none" dirty="0">
                          <a:solidFill>
                            <a:schemeClr val="bg1"/>
                          </a:solidFill>
                          <a:latin typeface="Inter"/>
                        </a:rPr>
                        <a:t>Electricity Consumed, Weather Metrics, Anomaly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F172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5" name="Rectangle 4"/>
          <p:cNvSpPr/>
          <p:nvPr/>
        </p:nvSpPr>
        <p:spPr>
          <a:xfrm>
            <a:off x="581025" y="2527845"/>
            <a:ext cx="2757487" cy="9525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3338512" y="2527845"/>
            <a:ext cx="1102965" cy="9525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4441477" y="2527845"/>
            <a:ext cx="2757487" cy="9525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7198965" y="2527845"/>
            <a:ext cx="4412009" cy="9525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581025" y="2908845"/>
            <a:ext cx="2757487" cy="9525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3338512" y="2908845"/>
            <a:ext cx="1102965" cy="9525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4441477" y="2908845"/>
            <a:ext cx="2757487" cy="9525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7198965" y="2908845"/>
            <a:ext cx="4412009" cy="9525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581025" y="3289845"/>
            <a:ext cx="2757487" cy="9525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3338512" y="3289845"/>
            <a:ext cx="1102965" cy="9525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4441477" y="3289845"/>
            <a:ext cx="2757487" cy="9525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7198965" y="3289845"/>
            <a:ext cx="4412009" cy="9525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581025" y="3670845"/>
            <a:ext cx="2757487" cy="9525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3338512" y="3670845"/>
            <a:ext cx="1102965" cy="9525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4441477" y="3670845"/>
            <a:ext cx="2757487" cy="9525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7198965" y="3670845"/>
            <a:ext cx="4412009" cy="9525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581025" y="4051845"/>
            <a:ext cx="2757487" cy="9525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3338512" y="4051845"/>
            <a:ext cx="1102965" cy="9525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4441477" y="4051845"/>
            <a:ext cx="2757487" cy="9525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7198965" y="4051845"/>
            <a:ext cx="4412009" cy="9525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ectangle 24"/>
          <p:cNvSpPr/>
          <p:nvPr/>
        </p:nvSpPr>
        <p:spPr>
          <a:xfrm>
            <a:off x="581025" y="4432845"/>
            <a:ext cx="2757487" cy="9525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ectangle 25"/>
          <p:cNvSpPr/>
          <p:nvPr/>
        </p:nvSpPr>
        <p:spPr>
          <a:xfrm>
            <a:off x="3338512" y="4432845"/>
            <a:ext cx="1102965" cy="9525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ectangle 26"/>
          <p:cNvSpPr/>
          <p:nvPr/>
        </p:nvSpPr>
        <p:spPr>
          <a:xfrm>
            <a:off x="4441477" y="4432845"/>
            <a:ext cx="2757487" cy="9525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ectangle 27"/>
          <p:cNvSpPr/>
          <p:nvPr/>
        </p:nvSpPr>
        <p:spPr>
          <a:xfrm>
            <a:off x="7198965" y="4432845"/>
            <a:ext cx="4412009" cy="9525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Rectangle 28"/>
          <p:cNvSpPr/>
          <p:nvPr/>
        </p:nvSpPr>
        <p:spPr>
          <a:xfrm>
            <a:off x="581025" y="4813845"/>
            <a:ext cx="2757487" cy="9525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Rectangle 29"/>
          <p:cNvSpPr/>
          <p:nvPr/>
        </p:nvSpPr>
        <p:spPr>
          <a:xfrm>
            <a:off x="3338512" y="4813845"/>
            <a:ext cx="1102965" cy="9525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Rectangle 30"/>
          <p:cNvSpPr/>
          <p:nvPr/>
        </p:nvSpPr>
        <p:spPr>
          <a:xfrm>
            <a:off x="4441477" y="4813845"/>
            <a:ext cx="2757487" cy="9525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Rectangle 31"/>
          <p:cNvSpPr/>
          <p:nvPr/>
        </p:nvSpPr>
        <p:spPr>
          <a:xfrm>
            <a:off x="7198965" y="4813845"/>
            <a:ext cx="4412009" cy="9525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Rectangle 32"/>
          <p:cNvSpPr/>
          <p:nvPr/>
        </p:nvSpPr>
        <p:spPr>
          <a:xfrm>
            <a:off x="581025" y="5194845"/>
            <a:ext cx="2757487" cy="9525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Rectangle 33"/>
          <p:cNvSpPr/>
          <p:nvPr/>
        </p:nvSpPr>
        <p:spPr>
          <a:xfrm>
            <a:off x="3338512" y="5194845"/>
            <a:ext cx="1102965" cy="9525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Rectangle 34"/>
          <p:cNvSpPr/>
          <p:nvPr/>
        </p:nvSpPr>
        <p:spPr>
          <a:xfrm>
            <a:off x="4441477" y="5194845"/>
            <a:ext cx="2757487" cy="9525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Rectangle 35"/>
          <p:cNvSpPr/>
          <p:nvPr/>
        </p:nvSpPr>
        <p:spPr>
          <a:xfrm>
            <a:off x="7198965" y="5194845"/>
            <a:ext cx="4412009" cy="9525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762000" y="476250"/>
            <a:ext cx="11401425" cy="50289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3959"/>
              </a:lnSpc>
            </a:pPr>
            <a:r>
              <a:rPr sz="3300" b="1" i="0" u="none">
                <a:solidFill>
                  <a:srgbClr val="F8FAFC"/>
                </a:solidFill>
                <a:latin typeface="Inter"/>
              </a:rPr>
              <a:t>ENTERPRISE DATA SOURCES</a:t>
            </a:r>
          </a:p>
        </p:txBody>
      </p:sp>
      <p:sp>
        <p:nvSpPr>
          <p:cNvPr id="38" name="Rectangle 37"/>
          <p:cNvSpPr/>
          <p:nvPr/>
        </p:nvSpPr>
        <p:spPr>
          <a:xfrm>
            <a:off x="571500" y="476250"/>
            <a:ext cx="57150" cy="502890"/>
          </a:xfrm>
          <a:prstGeom prst="rect">
            <a:avLst/>
          </a:prstGeom>
          <a:solidFill>
            <a:srgbClr val="0EA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2381250"/>
            <a:ext cx="5381625" cy="1346745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38875" y="2381250"/>
            <a:ext cx="5381625" cy="1346745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1500" y="4013745"/>
            <a:ext cx="5381625" cy="1346745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238875" y="4013745"/>
            <a:ext cx="5381625" cy="1346745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66775" y="2721173"/>
            <a:ext cx="666750" cy="666750"/>
          </a:xfrm>
          <a:prstGeom prst="rect">
            <a:avLst/>
          </a:prstGeom>
        </p:spPr>
      </p:pic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534150" y="2721173"/>
            <a:ext cx="666750" cy="666750"/>
          </a:xfrm>
          <a:prstGeom prst="rect">
            <a:avLst/>
          </a:prstGeom>
        </p:spPr>
      </p:pic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66775" y="4353669"/>
            <a:ext cx="666750" cy="666750"/>
          </a:xfrm>
          <a:prstGeom prst="rect">
            <a:avLst/>
          </a:prstGeom>
        </p:spPr>
      </p:pic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534150" y="4353669"/>
            <a:ext cx="666750" cy="666750"/>
          </a:xfrm>
          <a:prstGeom prst="rect">
            <a:avLst/>
          </a:prstGeom>
        </p:spPr>
      </p:pic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009650" y="2902148"/>
            <a:ext cx="381000" cy="30480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1724025" y="2676525"/>
            <a:ext cx="3740467" cy="25137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979"/>
              </a:lnSpc>
            </a:pPr>
            <a:r>
              <a:rPr sz="1650" b="0" i="0" u="none">
                <a:solidFill>
                  <a:srgbClr val="0EA5E9"/>
                </a:solidFill>
                <a:latin typeface="Inter SemiBold"/>
              </a:rPr>
              <a:t>Data Integration &amp; Storage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724025" y="2975520"/>
            <a:ext cx="356235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125" b="1" i="0" u="none">
                <a:solidFill>
                  <a:srgbClr val="F8FAFC"/>
                </a:solidFill>
                <a:latin typeface="Inter"/>
              </a:rPr>
              <a:t>Pentaho (Spoon):</a:t>
            </a:r>
            <a:r>
              <a:rPr sz="1125" b="0" i="0" u="none">
                <a:solidFill>
                  <a:srgbClr val="94A3B8"/>
                </a:solidFill>
                <a:latin typeface="Inter"/>
              </a:rPr>
              <a:t> ETL development &amp; orchestration.</a:t>
            </a:r>
            <a:r>
              <a:t>
</a:t>
            </a:r>
            <a:r>
              <a:rPr sz="1125" b="1" i="0" u="none">
                <a:solidFill>
                  <a:srgbClr val="F8FAFC"/>
                </a:solidFill>
                <a:latin typeface="Inter"/>
              </a:rPr>
              <a:t>PostgreSQL:</a:t>
            </a:r>
            <a:r>
              <a:rPr sz="1125" b="0" i="0" u="none">
                <a:solidFill>
                  <a:srgbClr val="94A3B8"/>
                </a:solidFill>
                <a:latin typeface="Inter"/>
              </a:rPr>
              <a:t> Staging and centralized data storage.</a:t>
            </a:r>
          </a:p>
        </p:txBody>
      </p:sp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734175" y="2902148"/>
            <a:ext cx="266700" cy="304800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7391400" y="2676525"/>
            <a:ext cx="3360420" cy="25137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979"/>
              </a:lnSpc>
            </a:pPr>
            <a:r>
              <a:rPr sz="1650" b="0" i="0" u="none">
                <a:solidFill>
                  <a:srgbClr val="0EA5E9"/>
                </a:solidFill>
                <a:latin typeface="Inter SemiBold"/>
              </a:rPr>
              <a:t>Analysis &amp; Processing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91400" y="2975520"/>
            <a:ext cx="32004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125" b="1" i="0" u="none">
                <a:solidFill>
                  <a:srgbClr val="F8FAFC"/>
                </a:solidFill>
                <a:latin typeface="Inter"/>
              </a:rPr>
              <a:t>Python:</a:t>
            </a:r>
            <a:r>
              <a:rPr sz="1125" b="0" i="0" u="none">
                <a:solidFill>
                  <a:srgbClr val="94A3B8"/>
                </a:solidFill>
                <a:latin typeface="Inter"/>
              </a:rPr>
              <a:t> Data analysis and advanced profiling.</a:t>
            </a:r>
            <a:r>
              <a:t>
</a:t>
            </a:r>
            <a:r>
              <a:rPr sz="1125" b="1" i="0" u="none">
                <a:solidFill>
                  <a:srgbClr val="F8FAFC"/>
                </a:solidFill>
                <a:latin typeface="Inter"/>
              </a:rPr>
              <a:t>Pandas:</a:t>
            </a:r>
            <a:r>
              <a:rPr sz="1125" b="0" i="0" u="none">
                <a:solidFill>
                  <a:srgbClr val="94A3B8"/>
                </a:solidFill>
                <a:latin typeface="Inter"/>
              </a:rPr>
              <a:t> Data manipulation and quality analysis.</a:t>
            </a:r>
          </a:p>
        </p:txBody>
      </p:sp>
      <p:pic>
        <p:nvPicPr>
          <p:cNvPr id="17" name="Picture 16" descr="image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1066800" y="4534644"/>
            <a:ext cx="266700" cy="304800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1724025" y="4309020"/>
            <a:ext cx="3490436" cy="25137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979"/>
              </a:lnSpc>
            </a:pPr>
            <a:r>
              <a:rPr sz="1650" b="0" i="0" u="none">
                <a:solidFill>
                  <a:srgbClr val="0EA5E9"/>
                </a:solidFill>
                <a:latin typeface="Inter SemiBold"/>
              </a:rPr>
              <a:t>Version Control &amp; Mgmt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724025" y="4608016"/>
            <a:ext cx="3324225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125" b="1" i="0" u="none">
                <a:solidFill>
                  <a:srgbClr val="F8FAFC"/>
                </a:solidFill>
                <a:latin typeface="Inter"/>
              </a:rPr>
              <a:t>Git/GitHub:</a:t>
            </a:r>
            <a:r>
              <a:rPr sz="1125" b="0" i="0" u="none">
                <a:solidFill>
                  <a:srgbClr val="94A3B8"/>
                </a:solidFill>
                <a:latin typeface="Inter"/>
              </a:rPr>
              <a:t> Version control &amp; team collaboration.</a:t>
            </a:r>
            <a:r>
              <a:t>
</a:t>
            </a:r>
            <a:r>
              <a:rPr sz="1125" b="1" i="0" u="none">
                <a:solidFill>
                  <a:srgbClr val="F8FAFC"/>
                </a:solidFill>
                <a:latin typeface="Inter"/>
              </a:rPr>
              <a:t>Scrum:</a:t>
            </a:r>
            <a:r>
              <a:rPr sz="1125" b="0" i="0" u="none">
                <a:solidFill>
                  <a:srgbClr val="94A3B8"/>
                </a:solidFill>
                <a:latin typeface="Inter"/>
              </a:rPr>
              <a:t> Sprint and backlog management.</a:t>
            </a:r>
          </a:p>
        </p:txBody>
      </p:sp>
      <p:pic>
        <p:nvPicPr>
          <p:cNvPr id="20" name="Picture 19" descr="image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6715125" y="4534644"/>
            <a:ext cx="304800" cy="304800"/>
          </a:xfrm>
          <a:prstGeom prst="rect">
            <a:avLst/>
          </a:prstGeom>
        </p:spPr>
      </p:pic>
      <p:sp>
        <p:nvSpPr>
          <p:cNvPr id="21" name="TextBox 20"/>
          <p:cNvSpPr txBox="1"/>
          <p:nvPr/>
        </p:nvSpPr>
        <p:spPr>
          <a:xfrm>
            <a:off x="7391400" y="4309020"/>
            <a:ext cx="3720465" cy="25137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979"/>
              </a:lnSpc>
            </a:pPr>
            <a:r>
              <a:rPr sz="1650" b="0" i="0" u="none">
                <a:solidFill>
                  <a:srgbClr val="10B981"/>
                </a:solidFill>
                <a:latin typeface="Inter SemiBold"/>
              </a:rPr>
              <a:t>Analytics &amp; Documentation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391400" y="4608016"/>
            <a:ext cx="35433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125" b="1" i="0" u="none">
                <a:solidFill>
                  <a:srgbClr val="F8FAFC"/>
                </a:solidFill>
                <a:latin typeface="Inter"/>
              </a:rPr>
              <a:t>Power BI:</a:t>
            </a:r>
            <a:r>
              <a:rPr sz="1125" b="0" i="0" u="none">
                <a:solidFill>
                  <a:srgbClr val="94A3B8"/>
                </a:solidFill>
                <a:latin typeface="Inter"/>
              </a:rPr>
              <a:t> Analytics and visualization dashboarding.</a:t>
            </a:r>
            <a:r>
              <a:t>
</a:t>
            </a:r>
            <a:r>
              <a:rPr sz="1125" b="1" i="0" u="none">
                <a:solidFill>
                  <a:srgbClr val="F8FAFC"/>
                </a:solidFill>
                <a:latin typeface="Inter"/>
              </a:rPr>
              <a:t>Markdown/Word:</a:t>
            </a:r>
            <a:r>
              <a:rPr sz="1125" b="0" i="0" u="none">
                <a:solidFill>
                  <a:srgbClr val="94A3B8"/>
                </a:solidFill>
                <a:latin typeface="Inter"/>
              </a:rPr>
              <a:t> Technical project documentation.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62000" y="476250"/>
            <a:ext cx="11401425" cy="50289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3959"/>
              </a:lnSpc>
            </a:pPr>
            <a:r>
              <a:rPr sz="3300" b="1" i="0" u="none">
                <a:solidFill>
                  <a:srgbClr val="F8FAFC"/>
                </a:solidFill>
                <a:latin typeface="Inter"/>
              </a:rPr>
              <a:t>TECHNOLOGY STACK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71500" y="476250"/>
            <a:ext cx="57150" cy="502890"/>
          </a:xfrm>
          <a:prstGeom prst="rect">
            <a:avLst/>
          </a:prstGeom>
          <a:solidFill>
            <a:srgbClr val="0EA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52475" y="334848"/>
            <a:ext cx="5000625" cy="10057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3959"/>
              </a:lnSpc>
            </a:pPr>
            <a:r>
              <a:rPr sz="3300" b="1" i="0" u="none" dirty="0">
                <a:solidFill>
                  <a:srgbClr val="F8FAFC"/>
                </a:solidFill>
                <a:latin typeface="Inter"/>
              </a:rPr>
              <a:t>INITIAL ARCHITECTURE</a:t>
            </a:r>
          </a:p>
        </p:txBody>
      </p:sp>
      <p:sp>
        <p:nvSpPr>
          <p:cNvPr id="4" name="Rectangle 3"/>
          <p:cNvSpPr/>
          <p:nvPr/>
        </p:nvSpPr>
        <p:spPr>
          <a:xfrm>
            <a:off x="561975" y="334848"/>
            <a:ext cx="57150" cy="504138"/>
          </a:xfrm>
          <a:prstGeom prst="rect">
            <a:avLst/>
          </a:prstGeom>
          <a:solidFill>
            <a:srgbClr val="0EA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19125" y="1066338"/>
            <a:ext cx="5200650" cy="27429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sz="1800" b="0" i="0" u="none" dirty="0">
                <a:solidFill>
                  <a:srgbClr val="10B981"/>
                </a:solidFill>
                <a:latin typeface="Inter SemiBold"/>
              </a:rPr>
              <a:t>Sprint 0 &amp; Sprint 1 Deliverables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19125" y="1531128"/>
            <a:ext cx="4953000" cy="82287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sz="1350" b="0" i="0" u="none" dirty="0">
                <a:solidFill>
                  <a:srgbClr val="94A3B8"/>
                </a:solidFill>
                <a:latin typeface="Inter"/>
              </a:rPr>
              <a:t>The current architecture focuses on establishing the foundational data pipelines, collecting diverse file formats, and loading them into a structured database.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19125" y="6573276"/>
            <a:ext cx="4953000" cy="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679"/>
              </a:lnSpc>
            </a:pPr>
            <a:r>
              <a:rPr sz="1050" b="0" i="1" u="none" dirty="0">
                <a:solidFill>
                  <a:srgbClr val="94A3B8"/>
                </a:solidFill>
                <a:latin typeface="Inter"/>
              </a:rPr>
              <a:t>* Architecture is subject to change in subsequent sprints as the warehouse evolves.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52500" y="2592124"/>
            <a:ext cx="4619625" cy="5485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sz="1350" b="1" i="0" u="none" dirty="0">
                <a:solidFill>
                  <a:srgbClr val="94A3B8"/>
                </a:solidFill>
                <a:latin typeface="Inter"/>
              </a:rPr>
              <a:t>Data Collection:</a:t>
            </a:r>
            <a:r>
              <a:rPr sz="1350" b="0" i="0" u="none" dirty="0">
                <a:solidFill>
                  <a:srgbClr val="94A3B8"/>
                </a:solidFill>
                <a:latin typeface="Inter"/>
              </a:rPr>
              <a:t> Ingestion of CSV, JSON, Excel, XML, and SQL formats.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52500" y="3331204"/>
            <a:ext cx="4619625" cy="5485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sz="1350" b="1" i="0" u="none" dirty="0">
                <a:solidFill>
                  <a:srgbClr val="94A3B8"/>
                </a:solidFill>
                <a:latin typeface="Inter"/>
              </a:rPr>
              <a:t>Column Mapping:</a:t>
            </a:r>
            <a:r>
              <a:rPr sz="1350" b="0" i="0" u="none" dirty="0">
                <a:solidFill>
                  <a:srgbClr val="94A3B8"/>
                </a:solidFill>
                <a:latin typeface="Inter"/>
              </a:rPr>
              <a:t> Identifying appropriate columns and schemas for staging.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52500" y="4070285"/>
            <a:ext cx="4619625" cy="5485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sz="1350" b="1" i="0" u="none">
                <a:solidFill>
                  <a:srgbClr val="94A3B8"/>
                </a:solidFill>
                <a:latin typeface="Inter"/>
              </a:rPr>
              <a:t>Pentaho Processing:</a:t>
            </a:r>
            <a:r>
              <a:rPr sz="1350" b="0" i="0" u="none">
                <a:solidFill>
                  <a:srgbClr val="94A3B8"/>
                </a:solidFill>
                <a:latin typeface="Inter"/>
              </a:rPr>
              <a:t> Applying formatting rules and handling missing values systematically.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52500" y="4809365"/>
            <a:ext cx="4619625" cy="5485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sz="1350" b="1" i="0" u="none">
                <a:solidFill>
                  <a:srgbClr val="94A3B8"/>
                </a:solidFill>
                <a:latin typeface="Inter"/>
              </a:rPr>
              <a:t>Logging &amp; Error Handling:</a:t>
            </a:r>
            <a:r>
              <a:rPr sz="1350" b="0" i="0" u="none">
                <a:solidFill>
                  <a:srgbClr val="94A3B8"/>
                </a:solidFill>
                <a:latin typeface="Inter"/>
              </a:rPr>
              <a:t> Displaying logs and capturing pipeline metrics.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52500" y="5548446"/>
            <a:ext cx="4619625" cy="51286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sz="1350" b="1" i="0" u="none" dirty="0">
                <a:solidFill>
                  <a:srgbClr val="94A3B8"/>
                </a:solidFill>
                <a:latin typeface="Inter"/>
              </a:rPr>
              <a:t>PostgreSQL DB:</a:t>
            </a:r>
            <a:r>
              <a:rPr sz="1350" b="0" i="0" u="none" dirty="0">
                <a:solidFill>
                  <a:srgbClr val="94A3B8"/>
                </a:solidFill>
                <a:latin typeface="Inter"/>
              </a:rPr>
              <a:t> Storing output tables in a centralized relational database.</a:t>
            </a:r>
          </a:p>
        </p:txBody>
      </p:sp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9125" y="2611174"/>
            <a:ext cx="114300" cy="200025"/>
          </a:xfrm>
          <a:prstGeom prst="rect">
            <a:avLst/>
          </a:prstGeom>
        </p:spPr>
      </p:pic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9125" y="3350254"/>
            <a:ext cx="114300" cy="200025"/>
          </a:xfrm>
          <a:prstGeom prst="rect">
            <a:avLst/>
          </a:prstGeom>
        </p:spPr>
      </p:pic>
      <p:pic>
        <p:nvPicPr>
          <p:cNvPr id="16" name="Picture 15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9125" y="4089335"/>
            <a:ext cx="114300" cy="200025"/>
          </a:xfrm>
          <a:prstGeom prst="rect">
            <a:avLst/>
          </a:prstGeom>
        </p:spPr>
      </p:pic>
      <p:pic>
        <p:nvPicPr>
          <p:cNvPr id="17" name="Picture 16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9125" y="4828415"/>
            <a:ext cx="114300" cy="200025"/>
          </a:xfrm>
          <a:prstGeom prst="rect">
            <a:avLst/>
          </a:prstGeom>
        </p:spPr>
      </p:pic>
      <p:pic>
        <p:nvPicPr>
          <p:cNvPr id="18" name="Picture 17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9125" y="5567496"/>
            <a:ext cx="114300" cy="200025"/>
          </a:xfrm>
          <a:prstGeom prst="rect">
            <a:avLst/>
          </a:prstGeom>
        </p:spPr>
      </p:pic>
      <p:pic>
        <p:nvPicPr>
          <p:cNvPr id="37" name="Picture 36">
            <a:extLst>
              <a:ext uri="{FF2B5EF4-FFF2-40B4-BE49-F238E27FC236}">
                <a16:creationId xmlns:a16="http://schemas.microsoft.com/office/drawing/2014/main" id="{CCCC2E9C-C003-59EE-C3DD-422CC2696F6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58259" y="0"/>
            <a:ext cx="5933741" cy="6787297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1836390"/>
            <a:ext cx="5381625" cy="1891605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38875" y="1836390"/>
            <a:ext cx="5381625" cy="1891605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1500" y="4013745"/>
            <a:ext cx="5381625" cy="1891605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38875" y="4013745"/>
            <a:ext cx="5381625" cy="1891605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895350" y="2131665"/>
            <a:ext cx="5000625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500" b="0" i="0" u="none">
                <a:solidFill>
                  <a:srgbClr val="F8FAFC"/>
                </a:solidFill>
                <a:latin typeface="Inter SemiBold"/>
              </a:rPr>
              <a:t>Challenge: </a:t>
            </a:r>
            <a:r>
              <a:rPr sz="1500" b="0" i="0" u="none">
                <a:solidFill>
                  <a:srgbClr val="94A3B8"/>
                </a:solidFill>
                <a:latin typeface="Inter"/>
              </a:rPr>
              <a:t>Heterogeneous Source Formats</a:t>
            </a:r>
          </a:p>
        </p:txBody>
      </p:sp>
      <p:sp>
        <p:nvSpPr>
          <p:cNvPr id="8" name="Rectangle 7"/>
          <p:cNvSpPr/>
          <p:nvPr/>
        </p:nvSpPr>
        <p:spPr>
          <a:xfrm>
            <a:off x="895350" y="2503140"/>
            <a:ext cx="4762500" cy="9525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95350" y="2655540"/>
            <a:ext cx="5000625" cy="205680"/>
          </a:xfrm>
          <a:prstGeom prst="rect">
            <a:avLst/>
          </a:prstGeom>
          <a:noFill/>
        </p:spPr>
        <p:txBody>
          <a:bodyPr wrap="square" lIns="247650" tIns="0" rIns="0" bIns="0" anchor="t">
            <a:spAutoFit/>
          </a:bodyPr>
          <a:lstStyle/>
          <a:p>
            <a:pPr algn="l">
              <a:lnSpc>
                <a:spcPts val="1620"/>
              </a:lnSpc>
            </a:pPr>
            <a:r>
              <a:rPr sz="1350" b="0" i="0" u="none">
                <a:solidFill>
                  <a:srgbClr val="10B981"/>
                </a:solidFill>
                <a:latin typeface="Inter SemiBold"/>
              </a:rPr>
              <a:t>Solution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95350" y="2975520"/>
            <a:ext cx="47625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125" b="0" i="0" u="none">
                <a:solidFill>
                  <a:srgbClr val="94A3B8"/>
                </a:solidFill>
                <a:latin typeface="Inter"/>
              </a:rPr>
              <a:t>Implemented rigorous data profiling and dynamic standardization processes to unify file structures.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62725" y="2131665"/>
            <a:ext cx="5000625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500" b="0" i="0" u="none">
                <a:solidFill>
                  <a:srgbClr val="F8FAFC"/>
                </a:solidFill>
                <a:latin typeface="Inter SemiBold"/>
              </a:rPr>
              <a:t>Challenge: </a:t>
            </a:r>
            <a:r>
              <a:rPr sz="1500" b="0" i="0" u="none">
                <a:solidFill>
                  <a:srgbClr val="94A3B8"/>
                </a:solidFill>
                <a:latin typeface="Inter"/>
              </a:rPr>
              <a:t>Data Quality Inconsistencies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562725" y="2503140"/>
            <a:ext cx="4762500" cy="9525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562725" y="2655540"/>
            <a:ext cx="5000625" cy="205680"/>
          </a:xfrm>
          <a:prstGeom prst="rect">
            <a:avLst/>
          </a:prstGeom>
          <a:noFill/>
        </p:spPr>
        <p:txBody>
          <a:bodyPr wrap="square" lIns="247650" tIns="0" rIns="0" bIns="0" anchor="t">
            <a:spAutoFit/>
          </a:bodyPr>
          <a:lstStyle/>
          <a:p>
            <a:pPr algn="l">
              <a:lnSpc>
                <a:spcPts val="1620"/>
              </a:lnSpc>
            </a:pPr>
            <a:r>
              <a:rPr sz="1350" b="0" i="0" u="none">
                <a:solidFill>
                  <a:srgbClr val="10B981"/>
                </a:solidFill>
                <a:latin typeface="Inter SemiBold"/>
              </a:rPr>
              <a:t>Solution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62725" y="2975520"/>
            <a:ext cx="47625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125" b="0" i="0" u="none">
                <a:solidFill>
                  <a:srgbClr val="94A3B8"/>
                </a:solidFill>
                <a:latin typeface="Inter"/>
              </a:rPr>
              <a:t>Developed strict validation and automated cleaning rules within Python and Pentaho pipelines.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95350" y="4309020"/>
            <a:ext cx="5000625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500" b="0" i="0" u="none">
                <a:solidFill>
                  <a:srgbClr val="F8FAFC"/>
                </a:solidFill>
                <a:latin typeface="Inter SemiBold"/>
              </a:rPr>
              <a:t>Challenge: </a:t>
            </a:r>
            <a:r>
              <a:rPr sz="1500" b="0" i="0" u="none">
                <a:solidFill>
                  <a:srgbClr val="94A3B8"/>
                </a:solidFill>
                <a:latin typeface="Inter"/>
              </a:rPr>
              <a:t>Multiple Enterprise Systems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95350" y="4680495"/>
            <a:ext cx="4762500" cy="9525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95350" y="4832895"/>
            <a:ext cx="5000625" cy="205680"/>
          </a:xfrm>
          <a:prstGeom prst="rect">
            <a:avLst/>
          </a:prstGeom>
          <a:noFill/>
        </p:spPr>
        <p:txBody>
          <a:bodyPr wrap="square" lIns="247650" tIns="0" rIns="0" bIns="0" anchor="t">
            <a:spAutoFit/>
          </a:bodyPr>
          <a:lstStyle/>
          <a:p>
            <a:pPr algn="l">
              <a:lnSpc>
                <a:spcPts val="1620"/>
              </a:lnSpc>
            </a:pPr>
            <a:r>
              <a:rPr sz="1350" b="0" i="0" u="none">
                <a:solidFill>
                  <a:srgbClr val="10B981"/>
                </a:solidFill>
                <a:latin typeface="Inter SemiBold"/>
              </a:rPr>
              <a:t>Solution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95350" y="5152876"/>
            <a:ext cx="47625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125" b="0" i="0" u="none">
                <a:solidFill>
                  <a:srgbClr val="94A3B8"/>
                </a:solidFill>
                <a:latin typeface="Inter"/>
              </a:rPr>
              <a:t>Designed a centralized integration architecture (PostgreSQL Data Warehouse) as a single source of truth.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62725" y="4309020"/>
            <a:ext cx="5000625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500" b="0" i="0" u="none">
                <a:solidFill>
                  <a:srgbClr val="F8FAFC"/>
                </a:solidFill>
                <a:latin typeface="Inter SemiBold"/>
              </a:rPr>
              <a:t>Challenge: </a:t>
            </a:r>
            <a:r>
              <a:rPr sz="1500" b="0" i="0" u="none">
                <a:solidFill>
                  <a:srgbClr val="94A3B8"/>
                </a:solidFill>
                <a:latin typeface="Inter"/>
              </a:rPr>
              <a:t>Difficulty Tracing Source Fields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562725" y="4680495"/>
            <a:ext cx="4762500" cy="9525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6562725" y="4832895"/>
            <a:ext cx="5000625" cy="205680"/>
          </a:xfrm>
          <a:prstGeom prst="rect">
            <a:avLst/>
          </a:prstGeom>
          <a:noFill/>
        </p:spPr>
        <p:txBody>
          <a:bodyPr wrap="square" lIns="247650" tIns="0" rIns="0" bIns="0" anchor="t">
            <a:spAutoFit/>
          </a:bodyPr>
          <a:lstStyle/>
          <a:p>
            <a:pPr algn="l">
              <a:lnSpc>
                <a:spcPts val="1620"/>
              </a:lnSpc>
            </a:pPr>
            <a:r>
              <a:rPr sz="1350" b="0" i="0" u="none">
                <a:solidFill>
                  <a:srgbClr val="10B981"/>
                </a:solidFill>
                <a:latin typeface="Inter SemiBold"/>
              </a:rPr>
              <a:t>Solution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562725" y="5152876"/>
            <a:ext cx="47625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125" b="0" i="0" u="none">
                <a:solidFill>
                  <a:srgbClr val="94A3B8"/>
                </a:solidFill>
                <a:latin typeface="Inter"/>
              </a:rPr>
              <a:t>Established a comprehensive Data Dictionary and detailed source-to-target mapping documentation.</a:t>
            </a:r>
          </a:p>
        </p:txBody>
      </p:sp>
      <p:pic>
        <p:nvPicPr>
          <p:cNvPr id="23" name="Picture 22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95350" y="2674590"/>
            <a:ext cx="171450" cy="171450"/>
          </a:xfrm>
          <a:prstGeom prst="rect">
            <a:avLst/>
          </a:prstGeom>
        </p:spPr>
      </p:pic>
      <p:pic>
        <p:nvPicPr>
          <p:cNvPr id="24" name="Picture 23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562725" y="2674590"/>
            <a:ext cx="171450" cy="171450"/>
          </a:xfrm>
          <a:prstGeom prst="rect">
            <a:avLst/>
          </a:prstGeom>
        </p:spPr>
      </p:pic>
      <p:pic>
        <p:nvPicPr>
          <p:cNvPr id="25" name="Picture 24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95350" y="4851945"/>
            <a:ext cx="171450" cy="171450"/>
          </a:xfrm>
          <a:prstGeom prst="rect">
            <a:avLst/>
          </a:prstGeom>
        </p:spPr>
      </p:pic>
      <p:pic>
        <p:nvPicPr>
          <p:cNvPr id="26" name="Picture 25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562725" y="4851945"/>
            <a:ext cx="171450" cy="171450"/>
          </a:xfrm>
          <a:prstGeom prst="rect">
            <a:avLst/>
          </a:prstGeom>
        </p:spPr>
      </p:pic>
      <p:sp>
        <p:nvSpPr>
          <p:cNvPr id="27" name="TextBox 26"/>
          <p:cNvSpPr txBox="1"/>
          <p:nvPr/>
        </p:nvSpPr>
        <p:spPr>
          <a:xfrm>
            <a:off x="762000" y="476250"/>
            <a:ext cx="11401425" cy="50289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3959"/>
              </a:lnSpc>
            </a:pPr>
            <a:r>
              <a:rPr sz="3300" b="1" i="0" u="none">
                <a:solidFill>
                  <a:srgbClr val="F8FAFC"/>
                </a:solidFill>
                <a:latin typeface="Inter"/>
              </a:rPr>
              <a:t>CHALLENGES &amp; SOLUTIONS</a:t>
            </a:r>
          </a:p>
        </p:txBody>
      </p:sp>
      <p:sp>
        <p:nvSpPr>
          <p:cNvPr id="28" name="Rectangle 27"/>
          <p:cNvSpPr/>
          <p:nvPr/>
        </p:nvSpPr>
        <p:spPr>
          <a:xfrm>
            <a:off x="571500" y="476250"/>
            <a:ext cx="57150" cy="502890"/>
          </a:xfrm>
          <a:prstGeom prst="rect">
            <a:avLst/>
          </a:prstGeom>
          <a:solidFill>
            <a:srgbClr val="0EA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1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0" y="0"/>
            <a:ext cx="6096000" cy="6858000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1500" y="3910607"/>
            <a:ext cx="381000" cy="381000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1500" y="4434482"/>
            <a:ext cx="381000" cy="381000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71500" y="4958357"/>
            <a:ext cx="381000" cy="381000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71500" y="5482232"/>
            <a:ext cx="381000" cy="381000"/>
          </a:xfrm>
          <a:prstGeom prst="rect">
            <a:avLst/>
          </a:prstGeom>
        </p:spPr>
      </p:pic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85800" y="4024907"/>
            <a:ext cx="152400" cy="152400"/>
          </a:xfrm>
          <a:prstGeom prst="rect">
            <a:avLst/>
          </a:prstGeom>
        </p:spPr>
      </p:pic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95325" y="4548782"/>
            <a:ext cx="133350" cy="152400"/>
          </a:xfrm>
          <a:prstGeom prst="rect">
            <a:avLst/>
          </a:prstGeom>
        </p:spPr>
      </p:pic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76275" y="5072657"/>
            <a:ext cx="171450" cy="152400"/>
          </a:xfrm>
          <a:prstGeom prst="rect">
            <a:avLst/>
          </a:prstGeom>
        </p:spPr>
      </p:pic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66750" y="5596532"/>
            <a:ext cx="190500" cy="15240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571500" y="476250"/>
            <a:ext cx="6191250" cy="24378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ts val="192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200" b="1" i="0" u="none" strike="noStrike" kern="1200" cap="none" spc="0" normalizeH="0" baseline="0" noProof="0">
                <a:ln>
                  <a:noFill/>
                </a:ln>
                <a:solidFill>
                  <a:srgbClr val="0EA5E9"/>
                </a:solidFill>
                <a:effectLst/>
                <a:uLnTx/>
                <a:uFillTx/>
                <a:latin typeface="Inter"/>
                <a:ea typeface="+mn-ea"/>
                <a:cs typeface="+mn-cs"/>
              </a:rPr>
              <a:t>ENTERPRISE DATA ENGINEERING PROJECT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71500" y="862905"/>
            <a:ext cx="5300662" cy="164574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ts val="432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3600" b="1" i="0" u="none" strike="noStrike" kern="1200" cap="none" spc="0" normalizeH="0" baseline="0" noProof="0">
                <a:ln>
                  <a:noFill/>
                </a:ln>
                <a:solidFill>
                  <a:srgbClr val="F8FAFC"/>
                </a:solidFill>
                <a:effectLst/>
                <a:uLnTx/>
                <a:uFillTx/>
                <a:latin typeface="Inter"/>
                <a:ea typeface="+mn-ea"/>
                <a:cs typeface="+mn-cs"/>
              </a:rPr>
              <a:t>SPRINT 2: DATA QUALITY &amp; TRANSFORMATION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71500" y="2889646"/>
            <a:ext cx="5048250" cy="639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ts val="252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800" b="0" i="0" u="none" strike="noStrike" kern="1200" cap="none" spc="0" normalizeH="0" baseline="0" noProof="0">
                <a:ln>
                  <a:noFill/>
                </a:ln>
                <a:solidFill>
                  <a:srgbClr val="10B981"/>
                </a:solidFill>
                <a:effectLst/>
                <a:uLnTx/>
                <a:uFillTx/>
                <a:latin typeface="Inter"/>
                <a:ea typeface="+mn-ea"/>
                <a:cs typeface="+mn-cs"/>
              </a:rPr>
              <a:t>Ensuring reliable, standardized, and integrated enterprise data.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95375" y="4001095"/>
            <a:ext cx="1916906" cy="2000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350" b="1" i="0" u="none" strike="noStrike" kern="1200" cap="none" spc="0" normalizeH="0" baseline="0" noProof="0">
                <a:ln>
                  <a:noFill/>
                </a:ln>
                <a:solidFill>
                  <a:srgbClr val="F8FAFC"/>
                </a:solidFill>
                <a:effectLst/>
                <a:uLnTx/>
                <a:uFillTx/>
                <a:latin typeface="Inter"/>
                <a:ea typeface="+mn-ea"/>
                <a:cs typeface="+mn-cs"/>
              </a:rPr>
              <a:t>DATA PROFILING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95375" y="4524970"/>
            <a:ext cx="2714625" cy="2000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350" b="1" i="0" u="none" strike="noStrike" kern="1200" cap="none" spc="0" normalizeH="0" baseline="0" noProof="0">
                <a:ln>
                  <a:noFill/>
                </a:ln>
                <a:solidFill>
                  <a:srgbClr val="F8FAFC"/>
                </a:solidFill>
                <a:effectLst/>
                <a:uLnTx/>
                <a:uFillTx/>
                <a:latin typeface="Inter"/>
                <a:ea typeface="+mn-ea"/>
                <a:cs typeface="+mn-cs"/>
              </a:rPr>
              <a:t>QUALITY &amp; VALIDATION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95375" y="5048845"/>
            <a:ext cx="2226468" cy="2000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350" b="1" i="0" u="none" strike="noStrike" kern="1200" cap="none" spc="0" normalizeH="0" baseline="0" noProof="0">
                <a:ln>
                  <a:noFill/>
                </a:ln>
                <a:solidFill>
                  <a:srgbClr val="F8FAFC"/>
                </a:solidFill>
                <a:effectLst/>
                <a:uLnTx/>
                <a:uFillTx/>
                <a:latin typeface="Inter"/>
                <a:ea typeface="+mn-ea"/>
                <a:cs typeface="+mn-cs"/>
              </a:rPr>
              <a:t>STANDARDIZATION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95375" y="5572720"/>
            <a:ext cx="2214562" cy="2000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350" b="1" i="0" u="none" strike="noStrike" kern="1200" cap="none" spc="0" normalizeH="0" baseline="0" noProof="0">
                <a:ln>
                  <a:noFill/>
                </a:ln>
                <a:solidFill>
                  <a:srgbClr val="F8FAFC"/>
                </a:solidFill>
                <a:effectLst/>
                <a:uLnTx/>
                <a:uFillTx/>
                <a:latin typeface="Inter"/>
                <a:ea typeface="+mn-ea"/>
                <a:cs typeface="+mn-cs"/>
              </a:rPr>
              <a:t>COLUMN MAPPING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2775495"/>
            <a:ext cx="114300" cy="200025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3280197"/>
            <a:ext cx="114300" cy="200025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3746117"/>
            <a:ext cx="114300" cy="200025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4210907"/>
            <a:ext cx="114300" cy="200025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4675697"/>
            <a:ext cx="114300" cy="200025"/>
          </a:xfrm>
          <a:prstGeom prst="rect">
            <a:avLst/>
          </a:prstGeom>
        </p:spPr>
      </p:pic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5140488"/>
            <a:ext cx="114300" cy="200025"/>
          </a:xfrm>
          <a:prstGeom prst="rect">
            <a:avLst/>
          </a:prstGeom>
        </p:spPr>
      </p:pic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5551923"/>
            <a:ext cx="114300" cy="200025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>
          <a:xfrm>
            <a:off x="571500" y="476250"/>
            <a:ext cx="57150" cy="502890"/>
          </a:xfrm>
          <a:prstGeom prst="rect">
            <a:avLst/>
          </a:prstGeom>
          <a:solidFill>
            <a:srgbClr val="0EA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ounded Rectangle 10"/>
          <p:cNvSpPr/>
          <p:nvPr/>
        </p:nvSpPr>
        <p:spPr>
          <a:xfrm>
            <a:off x="6381750" y="2384970"/>
            <a:ext cx="5238750" cy="2209502"/>
          </a:xfrm>
          <a:prstGeom prst="roundRect">
            <a:avLst>
              <a:gd name="adj" fmla="val 6897"/>
            </a:avLst>
          </a:prstGeom>
          <a:solidFill>
            <a:srgbClr val="161F30"/>
          </a:solidFill>
          <a:ln w="9525">
            <a:solidFill>
              <a:srgbClr val="334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77025" y="2699295"/>
            <a:ext cx="133350" cy="171450"/>
          </a:xfrm>
          <a:prstGeom prst="rect">
            <a:avLst/>
          </a:prstGeom>
        </p:spPr>
      </p:pic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77025" y="3529756"/>
            <a:ext cx="133350" cy="171450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762000" y="476250"/>
            <a:ext cx="11430000" cy="50289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3959"/>
              </a:lnSpc>
            </a:pPr>
            <a:r>
              <a:rPr sz="3300" b="1" i="0" u="none" dirty="0">
                <a:solidFill>
                  <a:srgbClr val="F8FAFC"/>
                </a:solidFill>
                <a:latin typeface="Inter"/>
              </a:rPr>
              <a:t>DATA PROFILING &amp; STRUCTURAL ANALYSIS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71500" y="1360140"/>
            <a:ext cx="11620500" cy="27429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sz="1800" b="1" i="0" u="none">
                <a:solidFill>
                  <a:srgbClr val="10B981"/>
                </a:solidFill>
                <a:latin typeface="Inter"/>
              </a:rPr>
              <a:t>Sprint 2 Objective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71500" y="1824930"/>
            <a:ext cx="11620500" cy="27429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sz="1350" b="0" i="0" u="none">
                <a:solidFill>
                  <a:srgbClr val="94A3B8"/>
                </a:solidFill>
                <a:latin typeface="Inter"/>
              </a:rPr>
              <a:t>Understand the structure and quality of source datasets before cleaning and standardization.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71500" y="2384970"/>
            <a:ext cx="6875859" cy="2286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500" b="1" i="0" u="none">
                <a:solidFill>
                  <a:srgbClr val="0EA5E9"/>
                </a:solidFill>
                <a:latin typeface="Inter"/>
              </a:rPr>
              <a:t>Implementation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677025" y="2680245"/>
            <a:ext cx="5514975" cy="205680"/>
          </a:xfrm>
          <a:prstGeom prst="rect">
            <a:avLst/>
          </a:prstGeom>
          <a:noFill/>
        </p:spPr>
        <p:txBody>
          <a:bodyPr wrap="none" lIns="209550" tIns="0" rIns="0" bIns="0" anchor="t">
            <a:spAutoFit/>
          </a:bodyPr>
          <a:lstStyle/>
          <a:p>
            <a:pPr algn="l">
              <a:lnSpc>
                <a:spcPts val="1620"/>
              </a:lnSpc>
            </a:pPr>
            <a:r>
              <a:rPr sz="1350" b="1" i="0" u="none">
                <a:solidFill>
                  <a:srgbClr val="10B981"/>
                </a:solidFill>
                <a:latin typeface="Inter"/>
              </a:rPr>
              <a:t>Expected Output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677025" y="3028801"/>
            <a:ext cx="5514975" cy="24378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1920"/>
              </a:lnSpc>
            </a:pPr>
            <a:r>
              <a:rPr sz="1200" b="0" i="0" u="none">
                <a:solidFill>
                  <a:srgbClr val="F8FAFC"/>
                </a:solidFill>
                <a:latin typeface="monospace"/>
              </a:rPr>
              <a:t>Data_Profiling_Report.xlsx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677025" y="3510706"/>
            <a:ext cx="5514975" cy="205680"/>
          </a:xfrm>
          <a:prstGeom prst="rect">
            <a:avLst/>
          </a:prstGeom>
          <a:noFill/>
        </p:spPr>
        <p:txBody>
          <a:bodyPr wrap="none" lIns="209550" tIns="0" rIns="0" bIns="0" anchor="t">
            <a:spAutoFit/>
          </a:bodyPr>
          <a:lstStyle/>
          <a:p>
            <a:pPr algn="l">
              <a:lnSpc>
                <a:spcPts val="1620"/>
              </a:lnSpc>
            </a:pPr>
            <a:r>
              <a:rPr sz="1350" b="1" i="0" u="none">
                <a:solidFill>
                  <a:srgbClr val="10B981"/>
                </a:solidFill>
                <a:latin typeface="Inter"/>
              </a:rPr>
              <a:t>Business Value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677025" y="3811637"/>
            <a:ext cx="4743450" cy="4875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920"/>
              </a:lnSpc>
            </a:pPr>
            <a:r>
              <a:rPr sz="1200" b="0" i="0" u="none">
                <a:solidFill>
                  <a:srgbClr val="94A3B8"/>
                </a:solidFill>
                <a:latin typeface="Inter"/>
              </a:rPr>
              <a:t>Establishes a baseline for identifying incomplete, inconsistent and potentially invalid data before downstream processing.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04875" y="2756445"/>
            <a:ext cx="6215062" cy="27429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sz="1350" b="0" i="0" u="none">
                <a:solidFill>
                  <a:srgbClr val="94A3B8"/>
                </a:solidFill>
                <a:latin typeface="Inter"/>
              </a:rPr>
              <a:t>Load CSV, Excel and JSON datasets using Pandas.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04875" y="3261147"/>
            <a:ext cx="5000625" cy="5485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sz="1350" b="0" i="0" u="none">
                <a:solidFill>
                  <a:srgbClr val="94A3B8"/>
                </a:solidFill>
                <a:latin typeface="Inter"/>
              </a:rPr>
              <a:t>Identify the number of records and columns in each dataset.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04875" y="3727067"/>
            <a:ext cx="6215062" cy="27429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sz="1350" b="0" i="0" u="none">
                <a:solidFill>
                  <a:srgbClr val="94A3B8"/>
                </a:solidFill>
                <a:latin typeface="Inter"/>
              </a:rPr>
              <a:t>Inspect column data types and sample values.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04875" y="4191857"/>
            <a:ext cx="6215062" cy="27429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sz="1350" b="0" i="0" u="none" dirty="0">
                <a:solidFill>
                  <a:srgbClr val="94A3B8"/>
                </a:solidFill>
                <a:latin typeface="Inter"/>
              </a:rPr>
              <a:t>Calculate missing-value counts and percentages.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04875" y="4656647"/>
            <a:ext cx="6215062" cy="27429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sz="1350" b="0" i="0" u="none" dirty="0">
                <a:solidFill>
                  <a:srgbClr val="94A3B8"/>
                </a:solidFill>
                <a:latin typeface="Inter"/>
              </a:rPr>
              <a:t>Identify duplicate values and unique-value counts.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04875" y="5121438"/>
            <a:ext cx="5000625" cy="5485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sz="1350" b="0" i="0" u="none" dirty="0">
                <a:solidFill>
                  <a:srgbClr val="94A3B8"/>
                </a:solidFill>
                <a:latin typeface="Inter"/>
              </a:rPr>
              <a:t>Calculate minimum, maximum and mean for numeric columns.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04875" y="5532873"/>
            <a:ext cx="6215062" cy="27429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sz="1350" b="0" i="0" u="none">
                <a:solidFill>
                  <a:srgbClr val="94A3B8"/>
                </a:solidFill>
                <a:latin typeface="Inter"/>
              </a:rPr>
              <a:t>Prepare a structured profiling report in Excel format.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2025" y="2943000"/>
            <a:ext cx="190500" cy="200025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2025" y="3407790"/>
            <a:ext cx="190500" cy="200025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2025" y="3872580"/>
            <a:ext cx="190500" cy="200025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72275" y="2943000"/>
            <a:ext cx="190500" cy="200025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72275" y="3682080"/>
            <a:ext cx="190500" cy="200025"/>
          </a:xfrm>
          <a:prstGeom prst="rect">
            <a:avLst/>
          </a:prstGeom>
        </p:spPr>
      </p:pic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72275" y="4695451"/>
            <a:ext cx="190500" cy="200025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571500" y="476250"/>
            <a:ext cx="57150" cy="502890"/>
          </a:xfrm>
          <a:prstGeom prst="rect">
            <a:avLst/>
          </a:prstGeom>
          <a:solidFill>
            <a:srgbClr val="0EA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571500" y="5648401"/>
            <a:ext cx="11049000" cy="1024830"/>
          </a:xfrm>
          <a:prstGeom prst="roundRect">
            <a:avLst>
              <a:gd name="adj" fmla="val 3717"/>
            </a:avLst>
          </a:prstGeom>
          <a:solidFill>
            <a:srgbClr val="0C22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ounded Rectangle 10"/>
          <p:cNvSpPr/>
          <p:nvPr/>
        </p:nvSpPr>
        <p:spPr>
          <a:xfrm>
            <a:off x="571500" y="2139179"/>
            <a:ext cx="5238750" cy="3215433"/>
          </a:xfrm>
          <a:prstGeom prst="roundRect">
            <a:avLst>
              <a:gd name="adj" fmla="val 4156"/>
            </a:avLst>
          </a:prstGeom>
          <a:solidFill>
            <a:srgbClr val="1E293B"/>
          </a:solidFill>
          <a:ln w="9525">
            <a:solidFill>
              <a:srgbClr val="334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ounded Rectangle 11"/>
          <p:cNvSpPr/>
          <p:nvPr/>
        </p:nvSpPr>
        <p:spPr>
          <a:xfrm>
            <a:off x="6381750" y="2139179"/>
            <a:ext cx="5238750" cy="3215433"/>
          </a:xfrm>
          <a:prstGeom prst="roundRect">
            <a:avLst>
              <a:gd name="adj" fmla="val 4156"/>
            </a:avLst>
          </a:prstGeom>
          <a:solidFill>
            <a:srgbClr val="1E293B"/>
          </a:solidFill>
          <a:ln w="9525">
            <a:solidFill>
              <a:srgbClr val="334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571500" y="5648401"/>
            <a:ext cx="38100" cy="102483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62025" y="2550540"/>
            <a:ext cx="180975" cy="209550"/>
          </a:xfrm>
          <a:prstGeom prst="rect">
            <a:avLst/>
          </a:prstGeom>
        </p:spPr>
      </p:pic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772275" y="2550540"/>
            <a:ext cx="238125" cy="209550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762000" y="476250"/>
            <a:ext cx="11430000" cy="50289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3959"/>
              </a:lnSpc>
            </a:pPr>
            <a:r>
              <a:rPr sz="3300" b="1" i="0" u="none">
                <a:solidFill>
                  <a:srgbClr val="F8FAFC"/>
                </a:solidFill>
                <a:latin typeface="Inter"/>
              </a:rPr>
              <a:t>DATA QUALITY &amp; VALIDATION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71500" y="1209599"/>
            <a:ext cx="11620500" cy="27429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sz="1800" b="1" i="0" u="none" dirty="0">
                <a:solidFill>
                  <a:srgbClr val="10B981"/>
                </a:solidFill>
                <a:latin typeface="Inter"/>
              </a:rPr>
              <a:t>Sprint 2 Objective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71500" y="1674389"/>
            <a:ext cx="11620500" cy="27429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sz="1350" b="0" i="0" u="none" dirty="0">
                <a:solidFill>
                  <a:srgbClr val="94A3B8"/>
                </a:solidFill>
                <a:latin typeface="Inter"/>
              </a:rPr>
              <a:t>Identify common data-quality issues and domain-specific inconsistencies in energy datasets.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00100" y="5838901"/>
            <a:ext cx="11391900" cy="27429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sz="1350" b="1" i="0" u="none">
                <a:solidFill>
                  <a:srgbClr val="F8FAFC"/>
                </a:solidFill>
                <a:latin typeface="Inter"/>
              </a:rPr>
              <a:t>Output:</a:t>
            </a:r>
            <a:r>
              <a:rPr sz="1350" b="0" i="0" u="none">
                <a:solidFill>
                  <a:srgbClr val="94A3B8"/>
                </a:solidFill>
                <a:latin typeface="Inter"/>
              </a:rPr>
              <a:t> A structured quality report containing the dataset, affected column, issue type, issue count and severity.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00100" y="6208441"/>
            <a:ext cx="11391900" cy="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sz="1350" b="1" i="0" u="none">
                <a:solidFill>
                  <a:srgbClr val="F8FAFC"/>
                </a:solidFill>
                <a:latin typeface="Inter"/>
              </a:rPr>
              <a:t>Business Value:</a:t>
            </a:r>
            <a:r>
              <a:rPr sz="1350" b="0" i="0" u="none">
                <a:solidFill>
                  <a:srgbClr val="94A3B8"/>
                </a:solidFill>
                <a:latin typeface="Inter"/>
              </a:rPr>
              <a:t> Makes data-quality issues visible before the data is used for operational analysis or reporting.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257300" y="2529704"/>
            <a:ext cx="5540692" cy="25137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>
              <a:lnSpc>
                <a:spcPts val="1979"/>
              </a:lnSpc>
            </a:pPr>
            <a:r>
              <a:rPr sz="1650" b="1" i="0" u="none">
                <a:solidFill>
                  <a:srgbClr val="0EA5E9"/>
                </a:solidFill>
                <a:latin typeface="Inter"/>
              </a:rPr>
              <a:t>General Validation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124700" y="2529704"/>
            <a:ext cx="5067300" cy="25137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>
              <a:lnSpc>
                <a:spcPts val="1979"/>
              </a:lnSpc>
            </a:pPr>
            <a:r>
              <a:rPr sz="1650" b="1" i="0" u="none">
                <a:solidFill>
                  <a:srgbClr val="F59E0B"/>
                </a:solidFill>
                <a:latin typeface="Inter"/>
              </a:rPr>
              <a:t>Domain-Specific Validation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295400" y="2923950"/>
            <a:ext cx="5238750" cy="27429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sz="1350" b="0" i="0" u="none">
                <a:solidFill>
                  <a:srgbClr val="94A3B8"/>
                </a:solidFill>
                <a:latin typeface="Inter"/>
              </a:rPr>
              <a:t>Detect missing values in dataset columns.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295400" y="3388740"/>
            <a:ext cx="5238750" cy="27429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sz="1350" b="0" i="0" u="none">
                <a:solidFill>
                  <a:srgbClr val="94A3B8"/>
                </a:solidFill>
                <a:latin typeface="Inter"/>
              </a:rPr>
              <a:t>Identify duplicate records.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295400" y="3853530"/>
            <a:ext cx="4219575" cy="5485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sz="1350" b="0" i="0" u="none">
                <a:solidFill>
                  <a:srgbClr val="94A3B8"/>
                </a:solidFill>
                <a:latin typeface="Inter"/>
              </a:rPr>
              <a:t>Assign issue severity based on the proportion of missing values.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105650" y="2923950"/>
            <a:ext cx="4219575" cy="5485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sz="1350" b="1" i="0" u="none">
                <a:solidFill>
                  <a:srgbClr val="F8FAFC"/>
                </a:solidFill>
                <a:latin typeface="Inter"/>
              </a:rPr>
              <a:t>SCADA:</a:t>
            </a:r>
            <a:r>
              <a:rPr sz="1350" b="0" i="0" u="none">
                <a:solidFill>
                  <a:srgbClr val="94A3B8"/>
                </a:solidFill>
                <a:latin typeface="Inter"/>
              </a:rPr>
              <a:t> Check for negative sensor measurements and invalid timestamps.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105650" y="3663030"/>
            <a:ext cx="4219575" cy="82287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sz="1350" b="1" i="0" u="none">
                <a:solidFill>
                  <a:srgbClr val="F8FAFC"/>
                </a:solidFill>
                <a:latin typeface="Inter"/>
              </a:rPr>
              <a:t>Smart meters:</a:t>
            </a:r>
            <a:r>
              <a:rPr sz="1350" b="0" i="0" u="none">
                <a:solidFill>
                  <a:srgbClr val="94A3B8"/>
                </a:solidFill>
                <a:latin typeface="Inter"/>
              </a:rPr>
              <a:t> Check for negative consumption-related values and humidity outside the 0–100 range.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105650" y="4676401"/>
            <a:ext cx="4219575" cy="5485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sz="1350" b="1" i="0" u="none">
                <a:solidFill>
                  <a:srgbClr val="F8FAFC"/>
                </a:solidFill>
                <a:latin typeface="Inter"/>
              </a:rPr>
              <a:t>Other energy datasets:</a:t>
            </a:r>
            <a:r>
              <a:rPr sz="1350" b="0" i="0" u="none">
                <a:solidFill>
                  <a:srgbClr val="94A3B8"/>
                </a:solidFill>
                <a:latin typeface="Inter"/>
              </a:rPr>
              <a:t> Apply dataset-specific checks where expected columns are available.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2682478"/>
            <a:ext cx="114300" cy="200025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3421559"/>
            <a:ext cx="114300" cy="200025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3897436"/>
            <a:ext cx="114300" cy="200025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4362227"/>
            <a:ext cx="114300" cy="200025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4827017"/>
            <a:ext cx="114300" cy="200025"/>
          </a:xfrm>
          <a:prstGeom prst="rect">
            <a:avLst/>
          </a:prstGeom>
        </p:spPr>
      </p:pic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81750" y="2682478"/>
            <a:ext cx="190500" cy="200025"/>
          </a:xfrm>
          <a:prstGeom prst="rect">
            <a:avLst/>
          </a:prstGeom>
        </p:spPr>
      </p:pic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81750" y="3421559"/>
            <a:ext cx="190500" cy="200025"/>
          </a:xfrm>
          <a:prstGeom prst="rect">
            <a:avLst/>
          </a:prstGeom>
        </p:spPr>
      </p:pic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81750" y="4171727"/>
            <a:ext cx="190500" cy="200025"/>
          </a:xfrm>
          <a:prstGeom prst="rect">
            <a:avLst/>
          </a:prstGeom>
        </p:spPr>
      </p:pic>
      <p:sp>
        <p:nvSpPr>
          <p:cNvPr id="11" name="Rectangle 10"/>
          <p:cNvSpPr/>
          <p:nvPr/>
        </p:nvSpPr>
        <p:spPr>
          <a:xfrm>
            <a:off x="571500" y="476250"/>
            <a:ext cx="57150" cy="504824"/>
          </a:xfrm>
          <a:prstGeom prst="rect">
            <a:avLst/>
          </a:prstGeom>
          <a:solidFill>
            <a:srgbClr val="0EA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ounded Rectangle 11"/>
          <p:cNvSpPr/>
          <p:nvPr/>
        </p:nvSpPr>
        <p:spPr>
          <a:xfrm>
            <a:off x="571500" y="5726460"/>
            <a:ext cx="11049000" cy="655290"/>
          </a:xfrm>
          <a:prstGeom prst="roundRect">
            <a:avLst>
              <a:gd name="adj" fmla="val 11628"/>
            </a:avLst>
          </a:prstGeom>
          <a:solidFill>
            <a:srgbClr val="1A24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1500" y="2311003"/>
            <a:ext cx="219075" cy="190500"/>
          </a:xfrm>
          <a:prstGeom prst="rect">
            <a:avLst/>
          </a:prstGeom>
        </p:spPr>
      </p:pic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81750" y="2311003"/>
            <a:ext cx="219075" cy="190500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762000" y="476250"/>
            <a:ext cx="11430000" cy="10057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3959"/>
              </a:lnSpc>
            </a:pPr>
            <a:r>
              <a:rPr sz="3300" b="1" i="0" u="none">
                <a:solidFill>
                  <a:srgbClr val="F8FAFC"/>
                </a:solidFill>
                <a:latin typeface="Inter"/>
              </a:rPr>
              <a:t>DATA STANDARDIZATION &amp; MASTER DATA PREPARATION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71500" y="1267123"/>
            <a:ext cx="11620500" cy="27429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sz="1800" b="1" i="0" u="none">
                <a:solidFill>
                  <a:srgbClr val="10B981"/>
                </a:solidFill>
                <a:latin typeface="Inter"/>
              </a:rPr>
              <a:t>Sprint 2 Objective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71500" y="1731913"/>
            <a:ext cx="11620500" cy="27429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sz="1350" b="0" i="0" u="none">
                <a:solidFill>
                  <a:srgbClr val="94A3B8"/>
                </a:solidFill>
                <a:latin typeface="Inter"/>
              </a:rPr>
              <a:t>Improve consistency across source datasets and prepare structured records for downstream integration.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-285750" y="5916960"/>
            <a:ext cx="12763500" cy="27429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ts val="2160"/>
              </a:lnSpc>
            </a:pPr>
            <a:r>
              <a:rPr sz="1350" b="1" i="0" u="none">
                <a:solidFill>
                  <a:srgbClr val="10B981"/>
                </a:solidFill>
                <a:latin typeface="Inter"/>
              </a:rPr>
              <a:t>Intended Outcome:</a:t>
            </a:r>
            <a:r>
              <a:rPr sz="1350" b="0" i="0" u="none">
                <a:solidFill>
                  <a:srgbClr val="94A3B8"/>
                </a:solidFill>
                <a:latin typeface="Inter"/>
              </a:rPr>
              <a:t> More consistent customer/utility, asset and grid records for downstream integration and analysis.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71500" y="2291953"/>
            <a:ext cx="6875859" cy="228600"/>
          </a:xfrm>
          <a:prstGeom prst="rect">
            <a:avLst/>
          </a:prstGeom>
          <a:noFill/>
        </p:spPr>
        <p:txBody>
          <a:bodyPr wrap="none" lIns="295275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500" b="1" i="0" u="none">
                <a:solidFill>
                  <a:srgbClr val="0EA5E9"/>
                </a:solidFill>
                <a:latin typeface="Inter"/>
              </a:rPr>
              <a:t>Standardization Operations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381750" y="2291953"/>
            <a:ext cx="5810250" cy="228600"/>
          </a:xfrm>
          <a:prstGeom prst="rect">
            <a:avLst/>
          </a:prstGeom>
          <a:noFill/>
        </p:spPr>
        <p:txBody>
          <a:bodyPr wrap="none" lIns="295275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500" b="1" i="0" u="none">
                <a:solidFill>
                  <a:srgbClr val="0EA5E9"/>
                </a:solidFill>
                <a:latin typeface="Inter"/>
              </a:rPr>
              <a:t>Master Data Preparation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04875" y="2663428"/>
            <a:ext cx="5000625" cy="5485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sz="1350" b="0" i="0" u="none">
                <a:solidFill>
                  <a:srgbClr val="94A3B8"/>
                </a:solidFill>
                <a:latin typeface="Inter"/>
              </a:rPr>
              <a:t>Normalize column names by removing inconsistent punctuation and formatting.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04875" y="3402509"/>
            <a:ext cx="5000625" cy="5485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sz="1350" b="0" i="0" u="none">
                <a:solidFill>
                  <a:srgbClr val="94A3B8"/>
                </a:solidFill>
                <a:latin typeface="Inter"/>
              </a:rPr>
              <a:t>Trim leading and trailing whitespace from selected text fields.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04875" y="3878386"/>
            <a:ext cx="6215062" cy="27429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sz="1350" b="0" i="0" u="none">
                <a:solidFill>
                  <a:srgbClr val="94A3B8"/>
                </a:solidFill>
                <a:latin typeface="Inter"/>
              </a:rPr>
              <a:t>Normalize repeated whitespace within text values.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04875" y="4343177"/>
            <a:ext cx="6215062" cy="27429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sz="1350" b="0" i="0" u="none">
                <a:solidFill>
                  <a:srgbClr val="94A3B8"/>
                </a:solidFill>
                <a:latin typeface="Inter"/>
              </a:rPr>
              <a:t>Rename selected fields into consistent names.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04875" y="4807967"/>
            <a:ext cx="6215062" cy="27429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sz="1350" b="0" i="0" u="none">
                <a:solidFill>
                  <a:srgbClr val="94A3B8"/>
                </a:solidFill>
                <a:latin typeface="Inter"/>
              </a:rPr>
              <a:t>Remove duplicate records using selected identifiers.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715125" y="2663428"/>
            <a:ext cx="5000625" cy="5485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sz="1350" b="1" i="0" u="none">
                <a:solidFill>
                  <a:srgbClr val="F8FAFC"/>
                </a:solidFill>
                <a:latin typeface="Inter"/>
              </a:rPr>
              <a:t>Customer/utility master:</a:t>
            </a:r>
            <a:r>
              <a:rPr sz="1350" b="0" i="0" u="none">
                <a:solidFill>
                  <a:srgbClr val="94A3B8"/>
                </a:solidFill>
                <a:latin typeface="Inter"/>
              </a:rPr>
              <a:t> Prepare utility identifiers, names, state, type and customer-count attributes from billing data.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715125" y="3402509"/>
            <a:ext cx="5000625" cy="82287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sz="1350" b="1" i="0" u="none">
                <a:solidFill>
                  <a:srgbClr val="F8FAFC"/>
                </a:solidFill>
                <a:latin typeface="Inter"/>
              </a:rPr>
              <a:t>Asset master:</a:t>
            </a:r>
            <a:r>
              <a:rPr sz="1350" b="0" i="0" u="none">
                <a:solidFill>
                  <a:srgbClr val="94A3B8"/>
                </a:solidFill>
                <a:latin typeface="Inter"/>
              </a:rPr>
              <a:t> Prepare asset identifiers, product identifiers, asset types and failure-related attributes from maintenance data.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715125" y="4152677"/>
            <a:ext cx="5000625" cy="5485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sz="1350" b="1" i="0" u="none">
                <a:solidFill>
                  <a:srgbClr val="F8FAFC"/>
                </a:solidFill>
                <a:latin typeface="Inter"/>
              </a:rPr>
              <a:t>Grid master:</a:t>
            </a:r>
            <a:r>
              <a:rPr sz="1350" b="0" i="0" u="none">
                <a:solidFill>
                  <a:srgbClr val="94A3B8"/>
                </a:solidFill>
                <a:latin typeface="Inter"/>
              </a:rPr>
              <a:t> Extract distinct grid-segment identifiers from SCADA data.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6300" y="2545970"/>
            <a:ext cx="114300" cy="200025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6300" y="3189800"/>
            <a:ext cx="114300" cy="200025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6300" y="3833631"/>
            <a:ext cx="114300" cy="200025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6300" y="4477461"/>
            <a:ext cx="114300" cy="200025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6300" y="4847001"/>
            <a:ext cx="114300" cy="200025"/>
          </a:xfrm>
          <a:prstGeom prst="rect">
            <a:avLst/>
          </a:prstGeom>
        </p:spPr>
      </p:pic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6300" y="5169086"/>
            <a:ext cx="114300" cy="200025"/>
          </a:xfrm>
          <a:prstGeom prst="rect">
            <a:avLst/>
          </a:prstGeom>
        </p:spPr>
      </p:pic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86550" y="2545970"/>
            <a:ext cx="190500" cy="200025"/>
          </a:xfrm>
          <a:prstGeom prst="rect">
            <a:avLst/>
          </a:prstGeom>
        </p:spPr>
      </p:pic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86550" y="3285050"/>
            <a:ext cx="190500" cy="200025"/>
          </a:xfrm>
          <a:prstGeom prst="rect">
            <a:avLst/>
          </a:prstGeom>
        </p:spPr>
      </p:pic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86550" y="3749840"/>
            <a:ext cx="190500" cy="200025"/>
          </a:xfrm>
          <a:prstGeom prst="rect">
            <a:avLst/>
          </a:prstGeom>
        </p:spPr>
      </p:pic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86550" y="4214631"/>
            <a:ext cx="190500" cy="200025"/>
          </a:xfrm>
          <a:prstGeom prst="rect">
            <a:avLst/>
          </a:prstGeom>
        </p:spPr>
      </p:pic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86550" y="4679421"/>
            <a:ext cx="190500" cy="200025"/>
          </a:xfrm>
          <a:prstGeom prst="rect">
            <a:avLst/>
          </a:prstGeom>
        </p:spPr>
      </p:pic>
      <p:sp>
        <p:nvSpPr>
          <p:cNvPr id="14" name="Rectangle 13"/>
          <p:cNvSpPr/>
          <p:nvPr/>
        </p:nvSpPr>
        <p:spPr>
          <a:xfrm>
            <a:off x="571500" y="476250"/>
            <a:ext cx="57150" cy="502890"/>
          </a:xfrm>
          <a:prstGeom prst="rect">
            <a:avLst/>
          </a:prstGeom>
          <a:solidFill>
            <a:srgbClr val="0EA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ounded Rectangle 14"/>
          <p:cNvSpPr/>
          <p:nvPr/>
        </p:nvSpPr>
        <p:spPr>
          <a:xfrm>
            <a:off x="628650" y="1930714"/>
            <a:ext cx="5238750" cy="3929431"/>
          </a:xfrm>
          <a:prstGeom prst="roundRect">
            <a:avLst>
              <a:gd name="adj" fmla="val 3365"/>
            </a:avLst>
          </a:prstGeom>
          <a:solidFill>
            <a:srgbClr val="1E293B"/>
          </a:solidFill>
          <a:ln w="9525">
            <a:solidFill>
              <a:srgbClr val="334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ounded Rectangle 15"/>
          <p:cNvSpPr/>
          <p:nvPr/>
        </p:nvSpPr>
        <p:spPr>
          <a:xfrm>
            <a:off x="6438900" y="1930714"/>
            <a:ext cx="5238750" cy="3929431"/>
          </a:xfrm>
          <a:prstGeom prst="roundRect">
            <a:avLst>
              <a:gd name="adj" fmla="val 3365"/>
            </a:avLst>
          </a:prstGeom>
          <a:solidFill>
            <a:srgbClr val="1E293B"/>
          </a:solidFill>
          <a:ln w="9525">
            <a:solidFill>
              <a:srgbClr val="334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6686550" y="4946290"/>
            <a:ext cx="4743450" cy="748605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6686550" y="5027083"/>
            <a:ext cx="4743450" cy="9525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9" name="Picture 18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76300" y="2197414"/>
            <a:ext cx="219075" cy="171450"/>
          </a:xfrm>
          <a:prstGeom prst="rect">
            <a:avLst/>
          </a:prstGeom>
        </p:spPr>
      </p:pic>
      <p:pic>
        <p:nvPicPr>
          <p:cNvPr id="20" name="Picture 19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686550" y="2197414"/>
            <a:ext cx="171450" cy="171450"/>
          </a:xfrm>
          <a:prstGeom prst="rect">
            <a:avLst/>
          </a:prstGeom>
        </p:spPr>
      </p:pic>
      <p:sp>
        <p:nvSpPr>
          <p:cNvPr id="21" name="TextBox 20"/>
          <p:cNvSpPr txBox="1"/>
          <p:nvPr/>
        </p:nvSpPr>
        <p:spPr>
          <a:xfrm>
            <a:off x="762000" y="476250"/>
            <a:ext cx="11430000" cy="50289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3959"/>
              </a:lnSpc>
            </a:pPr>
            <a:r>
              <a:rPr sz="3300" b="1" i="0" u="none">
                <a:solidFill>
                  <a:srgbClr val="F8FAFC"/>
                </a:solidFill>
                <a:latin typeface="Inter"/>
              </a:rPr>
              <a:t>CROSS-DATASET COLUMN MAPPING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28650" y="1166068"/>
            <a:ext cx="11620500" cy="27429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sz="1800" b="1" i="0" u="none">
                <a:solidFill>
                  <a:srgbClr val="10B981"/>
                </a:solidFill>
                <a:latin typeface="Inter"/>
              </a:rPr>
              <a:t>Sprint 2 Objective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28650" y="1493713"/>
            <a:ext cx="11620500" cy="27429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sz="1350" b="0" i="0" u="none">
                <a:solidFill>
                  <a:srgbClr val="94A3B8"/>
                </a:solidFill>
                <a:latin typeface="Inter"/>
              </a:rPr>
              <a:t>Identify related attributes across heterogeneous datasets and assess whether they may support integration.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28650" y="6385061"/>
            <a:ext cx="11620500" cy="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1679"/>
              </a:lnSpc>
            </a:pPr>
            <a:r>
              <a:rPr sz="1050" b="1" i="1" u="none">
                <a:solidFill>
                  <a:srgbClr val="EF4444"/>
                </a:solidFill>
                <a:latin typeface="Inter"/>
              </a:rPr>
              <a:t>Important:</a:t>
            </a:r>
            <a:r>
              <a:rPr sz="1050" b="0" i="1" u="none">
                <a:solidFill>
                  <a:srgbClr val="EF4444"/>
                </a:solidFill>
                <a:latin typeface="Inter"/>
              </a:rPr>
              <a:t> A related attribute does not automatically establish a valid join key. Mapping relationships must be verified before integrating datasets.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76300" y="2178364"/>
            <a:ext cx="6225778" cy="205680"/>
          </a:xfrm>
          <a:prstGeom prst="rect">
            <a:avLst/>
          </a:prstGeom>
          <a:noFill/>
        </p:spPr>
        <p:txBody>
          <a:bodyPr wrap="none" lIns="295275" tIns="0" rIns="0" bIns="0" anchor="t">
            <a:spAutoFit/>
          </a:bodyPr>
          <a:lstStyle/>
          <a:p>
            <a:pPr algn="l">
              <a:lnSpc>
                <a:spcPts val="1620"/>
              </a:lnSpc>
            </a:pPr>
            <a:r>
              <a:rPr sz="1350" b="1" i="0" u="none">
                <a:solidFill>
                  <a:srgbClr val="0EA5E9"/>
                </a:solidFill>
                <a:latin typeface="Inter"/>
              </a:rPr>
              <a:t>Relationships Examined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686550" y="2178364"/>
            <a:ext cx="5562600" cy="205680"/>
          </a:xfrm>
          <a:prstGeom prst="rect">
            <a:avLst/>
          </a:prstGeom>
          <a:noFill/>
        </p:spPr>
        <p:txBody>
          <a:bodyPr wrap="none" lIns="247650" tIns="0" rIns="0" bIns="0" anchor="t">
            <a:spAutoFit/>
          </a:bodyPr>
          <a:lstStyle/>
          <a:p>
            <a:pPr algn="l">
              <a:lnSpc>
                <a:spcPts val="1620"/>
              </a:lnSpc>
            </a:pPr>
            <a:r>
              <a:rPr sz="1350" b="1" i="0" u="none">
                <a:solidFill>
                  <a:srgbClr val="0EA5E9"/>
                </a:solidFill>
                <a:latin typeface="Inter"/>
              </a:rPr>
              <a:t>Mapping Checks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209675" y="2526920"/>
            <a:ext cx="4505325" cy="5485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sz="1350" b="1" i="0" u="none">
                <a:solidFill>
                  <a:srgbClr val="F8FAFC"/>
                </a:solidFill>
                <a:latin typeface="Inter"/>
              </a:rPr>
              <a:t>Renewable energy monitoring ↔ OWID energy data:</a:t>
            </a:r>
            <a:r>
              <a:rPr sz="1350" b="0" i="0" u="none">
                <a:solidFill>
                  <a:srgbClr val="94A3B8"/>
                </a:solidFill>
                <a:latin typeface="Inter"/>
              </a:rPr>
              <a:t> country, year and ISO code.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209675" y="3170750"/>
            <a:ext cx="4505325" cy="5485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sz="1350" b="1" i="0" u="none">
                <a:solidFill>
                  <a:srgbClr val="F8FAFC"/>
                </a:solidFill>
                <a:latin typeface="Inter"/>
              </a:rPr>
              <a:t>Smart meter ↔ IIoT:</a:t>
            </a:r>
            <a:r>
              <a:rPr sz="1350" b="0" i="0" u="none">
                <a:solidFill>
                  <a:srgbClr val="94A3B8"/>
                </a:solidFill>
                <a:latin typeface="Inter"/>
              </a:rPr>
              <a:t> timestamp, energy consumption, temperature and humidity.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209675" y="3814581"/>
            <a:ext cx="4505325" cy="5485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sz="1350" b="1" i="0" u="none">
                <a:solidFill>
                  <a:srgbClr val="F8FAFC"/>
                </a:solidFill>
                <a:latin typeface="Inter"/>
              </a:rPr>
              <a:t>SCADA ↔ IIoT:</a:t>
            </a:r>
            <a:r>
              <a:rPr sz="1350" b="0" i="0" u="none">
                <a:solidFill>
                  <a:srgbClr val="94A3B8"/>
                </a:solidFill>
                <a:latin typeface="Inter"/>
              </a:rPr>
              <a:t> operational timestamp, energy consumption and temperature.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209675" y="4458411"/>
            <a:ext cx="5595937" cy="27429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sz="1350" b="1" i="0" u="none">
                <a:solidFill>
                  <a:srgbClr val="F8FAFC"/>
                </a:solidFill>
                <a:latin typeface="Inter"/>
              </a:rPr>
              <a:t>SCADA ↔ Smart meter:</a:t>
            </a:r>
            <a:r>
              <a:rPr sz="1350" b="0" i="0" u="none">
                <a:solidFill>
                  <a:srgbClr val="94A3B8"/>
                </a:solidFill>
                <a:latin typeface="Inter"/>
              </a:rPr>
              <a:t> timestamp and temperature.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209675" y="4827951"/>
            <a:ext cx="4505325" cy="5485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sz="1350" b="1" i="0" u="none">
                <a:solidFill>
                  <a:srgbClr val="F8FAFC"/>
                </a:solidFill>
                <a:latin typeface="Inter"/>
              </a:rPr>
              <a:t>OMS ↔ Billing:</a:t>
            </a:r>
            <a:r>
              <a:rPr sz="1350" b="0" i="0" u="none">
                <a:solidFill>
                  <a:srgbClr val="94A3B8"/>
                </a:solidFill>
                <a:latin typeface="Inter"/>
              </a:rPr>
              <a:t> geographic and customer-related attributes.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209675" y="5150036"/>
            <a:ext cx="4505325" cy="5485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sz="1350" b="1" i="0" u="none">
                <a:solidFill>
                  <a:srgbClr val="F8FAFC"/>
                </a:solidFill>
                <a:latin typeface="Inter"/>
              </a:rPr>
              <a:t>OMS ↔ Renewable energy data:</a:t>
            </a:r>
            <a:r>
              <a:rPr sz="1350" b="0" i="0" u="none">
                <a:solidFill>
                  <a:srgbClr val="94A3B8"/>
                </a:solidFill>
                <a:latin typeface="Inter"/>
              </a:rPr>
              <a:t> year and geographic attributes.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019925" y="2526920"/>
            <a:ext cx="4505325" cy="5485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sz="1350" b="0" i="0" u="none">
                <a:solidFill>
                  <a:srgbClr val="94A3B8"/>
                </a:solidFill>
                <a:latin typeface="Inter"/>
              </a:rPr>
              <a:t>Verify whether the specified datasets and columns exist.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019925" y="3266000"/>
            <a:ext cx="5229225" cy="27429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sz="1350" b="0" i="0" u="none">
                <a:solidFill>
                  <a:srgbClr val="94A3B8"/>
                </a:solidFill>
                <a:latin typeface="Inter"/>
              </a:rPr>
              <a:t>Compare data types and missing-value counts.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019925" y="3730790"/>
            <a:ext cx="5229225" cy="27429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sz="1350" b="0" i="0" u="none">
                <a:solidFill>
                  <a:srgbClr val="94A3B8"/>
                </a:solidFill>
                <a:latin typeface="Inter"/>
              </a:rPr>
              <a:t>Compare unique-value counts.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019925" y="4195581"/>
            <a:ext cx="5229225" cy="27429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sz="1350" b="0" i="0" u="none">
                <a:solidFill>
                  <a:srgbClr val="94A3B8"/>
                </a:solidFill>
                <a:latin typeface="Inter"/>
              </a:rPr>
              <a:t>Count common values between selected columns.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019925" y="4660371"/>
            <a:ext cx="5229225" cy="27429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sz="1350" b="0" i="0" u="none">
                <a:solidFill>
                  <a:srgbClr val="94A3B8"/>
                </a:solidFill>
                <a:latin typeface="Inter"/>
              </a:rPr>
              <a:t>Record missing-column or type-compatibility issues.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686550" y="5098690"/>
            <a:ext cx="5562600" cy="27429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sz="1350" b="1" i="0" u="none">
                <a:solidFill>
                  <a:srgbClr val="10B981"/>
                </a:solidFill>
                <a:latin typeface="Inter"/>
              </a:rPr>
              <a:t>Expected Output: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686550" y="5420605"/>
            <a:ext cx="5562600" cy="27429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sz="1350" b="0" i="0" u="none">
                <a:solidFill>
                  <a:srgbClr val="F8FAFC"/>
                </a:solidFill>
                <a:latin typeface="monospace"/>
              </a:rPr>
              <a:t>Column_Mapping_Report.xlsx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1508001"/>
            <a:ext cx="114300" cy="200025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2227434"/>
            <a:ext cx="114300" cy="200025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0550" y="2644601"/>
            <a:ext cx="114300" cy="200025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0550" y="3365230"/>
            <a:ext cx="114300" cy="200025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0550" y="4028110"/>
            <a:ext cx="114300" cy="200025"/>
          </a:xfrm>
          <a:prstGeom prst="rect">
            <a:avLst/>
          </a:prstGeom>
        </p:spPr>
      </p:pic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0550" y="4690990"/>
            <a:ext cx="114300" cy="200025"/>
          </a:xfrm>
          <a:prstGeom prst="rect">
            <a:avLst/>
          </a:prstGeom>
        </p:spPr>
      </p:pic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0550" y="5353871"/>
            <a:ext cx="114300" cy="200025"/>
          </a:xfrm>
          <a:prstGeom prst="rect">
            <a:avLst/>
          </a:prstGeom>
        </p:spPr>
      </p:pic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0550" y="6197056"/>
            <a:ext cx="114300" cy="200025"/>
          </a:xfrm>
          <a:prstGeom prst="rect">
            <a:avLst/>
          </a:prstGeom>
        </p:spPr>
      </p:pic>
      <p:sp>
        <p:nvSpPr>
          <p:cNvPr id="11" name="Rectangle 10"/>
          <p:cNvSpPr/>
          <p:nvPr/>
        </p:nvSpPr>
        <p:spPr>
          <a:xfrm>
            <a:off x="571500" y="476250"/>
            <a:ext cx="57150" cy="434280"/>
          </a:xfrm>
          <a:prstGeom prst="rect">
            <a:avLst/>
          </a:prstGeom>
          <a:solidFill>
            <a:srgbClr val="0EA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96000" y="0"/>
            <a:ext cx="6096000" cy="9177486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762000" y="476250"/>
            <a:ext cx="6300787" cy="43428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3420"/>
              </a:lnSpc>
            </a:pPr>
            <a:r>
              <a:rPr sz="2850" b="1" i="0" u="none">
                <a:solidFill>
                  <a:srgbClr val="F8FAFC"/>
                </a:solidFill>
                <a:latin typeface="Inter"/>
              </a:rPr>
              <a:t>FINAL ARCHITECTURE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71500" y="1094705"/>
            <a:ext cx="6500812" cy="25137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1979"/>
              </a:lnSpc>
            </a:pPr>
            <a:r>
              <a:rPr sz="1650" b="1" i="0" u="none">
                <a:solidFill>
                  <a:srgbClr val="10B981"/>
                </a:solidFill>
                <a:latin typeface="Inter"/>
              </a:rPr>
              <a:t>Sprint 2 Deliverables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71500" y="6570523"/>
            <a:ext cx="5048250" cy="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560"/>
              </a:lnSpc>
            </a:pPr>
            <a:r>
              <a:rPr sz="975" b="0" i="1" u="none" dirty="0">
                <a:solidFill>
                  <a:srgbClr val="94A3B8"/>
                </a:solidFill>
                <a:latin typeface="Inter"/>
              </a:rPr>
              <a:t>* Architecture is subject to change in subsequent sprints as the warehouse evolves.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04875" y="1488951"/>
            <a:ext cx="4714875" cy="82287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sz="1350" b="1" i="0" u="none" dirty="0">
                <a:solidFill>
                  <a:srgbClr val="94A3B8"/>
                </a:solidFill>
                <a:latin typeface="Inter"/>
              </a:rPr>
              <a:t>Data Profiling:</a:t>
            </a:r>
            <a:r>
              <a:rPr sz="1350" b="0" i="0" u="none" dirty="0">
                <a:solidFill>
                  <a:srgbClr val="94A3B8"/>
                </a:solidFill>
                <a:latin typeface="Inter"/>
              </a:rPr>
              <a:t> Data profiling report documenting dataset structure, data types, missing values, duplicates, and statistical summaries.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04875" y="2208384"/>
            <a:ext cx="4714875" cy="5485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sz="1350" b="1" i="0" u="none">
                <a:solidFill>
                  <a:srgbClr val="94A3B8"/>
                </a:solidFill>
                <a:latin typeface="Inter"/>
              </a:rPr>
              <a:t>Data Quality:</a:t>
            </a:r>
            <a:r>
              <a:rPr sz="1350" b="0" i="0" u="none">
                <a:solidFill>
                  <a:srgbClr val="94A3B8"/>
                </a:solidFill>
                <a:latin typeface="Inter"/>
              </a:rPr>
              <a:t> Data quality report and documented validation rules.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23925" y="2625551"/>
            <a:ext cx="4714875" cy="82287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sz="1350" b="1" i="0" u="none">
                <a:solidFill>
                  <a:srgbClr val="94A3B8"/>
                </a:solidFill>
                <a:latin typeface="Inter"/>
              </a:rPr>
              <a:t>Data Cleaning &amp; Standardization:</a:t>
            </a:r>
            <a:r>
              <a:rPr sz="1350" b="0" i="0" u="none">
                <a:solidFill>
                  <a:srgbClr val="94A3B8"/>
                </a:solidFill>
                <a:latin typeface="Inter"/>
              </a:rPr>
              <a:t> Cleaned and standardized datasets with consistent formats and column structures.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23925" y="3346180"/>
            <a:ext cx="4714875" cy="5485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sz="1350" b="1" i="0" u="none">
                <a:solidFill>
                  <a:srgbClr val="94A3B8"/>
                </a:solidFill>
                <a:latin typeface="Inter"/>
              </a:rPr>
              <a:t>Data Warehouse Design:</a:t>
            </a:r>
            <a:r>
              <a:rPr sz="1350" b="0" i="0" u="none">
                <a:solidFill>
                  <a:srgbClr val="94A3B8"/>
                </a:solidFill>
                <a:latin typeface="Inter"/>
              </a:rPr>
              <a:t> Star schema design with fact and dimension table definitions.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23925" y="4009060"/>
            <a:ext cx="4714875" cy="5485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sz="1350" b="1" i="0" u="none">
                <a:solidFill>
                  <a:srgbClr val="94A3B8"/>
                </a:solidFill>
                <a:latin typeface="Inter"/>
              </a:rPr>
              <a:t>PostgreSQL Data Warehouse:</a:t>
            </a:r>
            <a:r>
              <a:rPr sz="1350" b="0" i="0" u="none">
                <a:solidFill>
                  <a:srgbClr val="94A3B8"/>
                </a:solidFill>
                <a:latin typeface="Inter"/>
              </a:rPr>
              <a:t> Implementation of the data warehouse schema and tables in PostgreSQL.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23925" y="4671940"/>
            <a:ext cx="4714875" cy="5485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sz="1350" b="1" i="0" u="none">
                <a:solidFill>
                  <a:srgbClr val="94A3B8"/>
                </a:solidFill>
                <a:latin typeface="Inter"/>
              </a:rPr>
              <a:t>Warehouse ETL:</a:t>
            </a:r>
            <a:r>
              <a:rPr sz="1350" b="0" i="0" u="none">
                <a:solidFill>
                  <a:srgbClr val="94A3B8"/>
                </a:solidFill>
                <a:latin typeface="Inter"/>
              </a:rPr>
              <a:t> Pentaho transformations and SQL scripts for loading data into the warehouse.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23925" y="5334821"/>
            <a:ext cx="4714875" cy="6463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sz="1350" b="1" i="0" u="none">
                <a:solidFill>
                  <a:srgbClr val="94A3B8"/>
                </a:solidFill>
                <a:latin typeface="Inter"/>
              </a:rPr>
              <a:t>Warehouse Validation:</a:t>
            </a:r>
            <a:r>
              <a:rPr sz="1350" b="0" i="0" u="none">
                <a:solidFill>
                  <a:srgbClr val="94A3B8"/>
                </a:solidFill>
                <a:latin typeface="Inter"/>
              </a:rPr>
              <a:t> Validation results covering record counts, data integrity, and source-to-target consistency.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23925" y="5981181"/>
            <a:ext cx="4714875" cy="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sz="1350" b="1" i="0" u="none" dirty="0">
                <a:solidFill>
                  <a:srgbClr val="94A3B8"/>
                </a:solidFill>
                <a:latin typeface="Inter"/>
              </a:rPr>
              <a:t>Git Repository Updates:</a:t>
            </a:r>
            <a:r>
              <a:rPr sz="1350" b="0" i="0" u="none" dirty="0">
                <a:solidFill>
                  <a:srgbClr val="94A3B8"/>
                </a:solidFill>
                <a:latin typeface="Inter"/>
              </a:rPr>
              <a:t> Updated repository containing Sprint 2 scripts, configurations, datasets, and documentation.</a:t>
            </a:r>
          </a:p>
        </p:txBody>
      </p:sp>
      <p:pic>
        <p:nvPicPr>
          <p:cNvPr id="26" name="Picture 25">
            <a:extLst>
              <a:ext uri="{FF2B5EF4-FFF2-40B4-BE49-F238E27FC236}">
                <a16:creationId xmlns:a16="http://schemas.microsoft.com/office/drawing/2014/main" id="{B33EA4AF-8082-BCDB-F257-24D648237105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b="1293"/>
          <a:stretch>
            <a:fillRect/>
          </a:stretch>
        </p:blipFill>
        <p:spPr>
          <a:xfrm>
            <a:off x="7643812" y="58454"/>
            <a:ext cx="3439716" cy="6799545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0" y="0"/>
            <a:ext cx="6096000" cy="6858000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1500" y="4459188"/>
            <a:ext cx="381000" cy="381000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1500" y="4983063"/>
            <a:ext cx="381000" cy="381000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71500" y="5506938"/>
            <a:ext cx="381000" cy="381000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71500" y="6030813"/>
            <a:ext cx="381000" cy="381000"/>
          </a:xfrm>
          <a:prstGeom prst="rect">
            <a:avLst/>
          </a:prstGeom>
        </p:spPr>
      </p:pic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95325" y="4573488"/>
            <a:ext cx="133350" cy="152400"/>
          </a:xfrm>
          <a:prstGeom prst="rect">
            <a:avLst/>
          </a:prstGeom>
        </p:spPr>
      </p:pic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85800" y="5097363"/>
            <a:ext cx="152400" cy="152400"/>
          </a:xfrm>
          <a:prstGeom prst="rect">
            <a:avLst/>
          </a:prstGeom>
        </p:spPr>
      </p:pic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85800" y="5621238"/>
            <a:ext cx="152400" cy="152400"/>
          </a:xfrm>
          <a:prstGeom prst="rect">
            <a:avLst/>
          </a:prstGeom>
        </p:spPr>
      </p:pic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85800" y="6145113"/>
            <a:ext cx="152400" cy="15240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571500" y="476250"/>
            <a:ext cx="6191250" cy="24378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1920"/>
              </a:lnSpc>
            </a:pPr>
            <a:r>
              <a:rPr sz="1200" b="1" i="0" u="none">
                <a:solidFill>
                  <a:srgbClr val="0EA5E9"/>
                </a:solidFill>
                <a:latin typeface="Inter"/>
              </a:rPr>
              <a:t>ENTERPRISE DATA ENGINEERING PROJECT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71500" y="862905"/>
            <a:ext cx="5300662" cy="219432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4320"/>
              </a:lnSpc>
            </a:pPr>
            <a:r>
              <a:rPr sz="3600" b="1" i="0" u="none">
                <a:solidFill>
                  <a:srgbClr val="F8FAFC"/>
                </a:solidFill>
                <a:latin typeface="Inter"/>
              </a:rPr>
              <a:t>SPRINT 3: GOVERNANCE, ORCHESTRATION &amp; ANALYTICS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71500" y="3438227"/>
            <a:ext cx="5048250" cy="639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520"/>
              </a:lnSpc>
            </a:pPr>
            <a:r>
              <a:rPr sz="1800" b="0" i="0" u="none">
                <a:solidFill>
                  <a:srgbClr val="10B981"/>
                </a:solidFill>
                <a:latin typeface="Inter"/>
              </a:rPr>
              <a:t>From trusted data pipelines to operational insight.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95375" y="4549675"/>
            <a:ext cx="3167062" cy="2000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F8FAFC"/>
                </a:solidFill>
                <a:latin typeface="Inter"/>
              </a:rPr>
              <a:t>SOURCES &amp; BRONZE LAYER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95375" y="5073550"/>
            <a:ext cx="2238375" cy="2000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F8FAFC"/>
                </a:solidFill>
                <a:latin typeface="Inter"/>
              </a:rPr>
              <a:t>SILVER CLEANSING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95375" y="5597425"/>
            <a:ext cx="3131343" cy="2000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F8FAFC"/>
                </a:solidFill>
                <a:latin typeface="Inter"/>
              </a:rPr>
              <a:t>POSTGRESQL WAREHOUSE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95375" y="6121300"/>
            <a:ext cx="2547937" cy="2000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F8FAFC"/>
                </a:solidFill>
                <a:latin typeface="Inter"/>
              </a:rPr>
              <a:t>POWER BI ANALYTICS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571500" y="476250"/>
            <a:ext cx="57150" cy="502890"/>
          </a:xfrm>
          <a:prstGeom prst="rect">
            <a:avLst/>
          </a:prstGeom>
          <a:solidFill>
            <a:srgbClr val="0EA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571500" y="1360140"/>
            <a:ext cx="11049000" cy="685800"/>
          </a:xfrm>
          <a:prstGeom prst="roundRect">
            <a:avLst>
              <a:gd name="adj" fmla="val 5555"/>
            </a:avLst>
          </a:prstGeom>
          <a:solidFill>
            <a:srgbClr val="0C22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571500" y="4655790"/>
            <a:ext cx="11049000" cy="443805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571500" y="1360140"/>
            <a:ext cx="38100" cy="6858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571500" y="2331690"/>
            <a:ext cx="3492400" cy="2038350"/>
          </a:xfrm>
          <a:prstGeom prst="roundRect">
            <a:avLst>
              <a:gd name="adj" fmla="val 7476"/>
            </a:avLst>
          </a:prstGeom>
          <a:solidFill>
            <a:srgbClr val="1E293B"/>
          </a:solidFill>
          <a:ln w="9525">
            <a:solidFill>
              <a:srgbClr val="334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4349650" y="2331690"/>
            <a:ext cx="3492549" cy="2038350"/>
          </a:xfrm>
          <a:prstGeom prst="roundRect">
            <a:avLst>
              <a:gd name="adj" fmla="val 7476"/>
            </a:avLst>
          </a:prstGeom>
          <a:solidFill>
            <a:srgbClr val="1E293B"/>
          </a:solidFill>
          <a:ln w="9525">
            <a:solidFill>
              <a:srgbClr val="334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8127950" y="2331690"/>
            <a:ext cx="3492400" cy="2038350"/>
          </a:xfrm>
          <a:prstGeom prst="roundRect">
            <a:avLst>
              <a:gd name="adj" fmla="val 7476"/>
            </a:avLst>
          </a:prstGeom>
          <a:solidFill>
            <a:srgbClr val="1E293B"/>
          </a:solidFill>
          <a:ln w="9525">
            <a:solidFill>
              <a:srgbClr val="334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571500" y="4655790"/>
            <a:ext cx="11049000" cy="9525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9150" y="2607915"/>
            <a:ext cx="342900" cy="304800"/>
          </a:xfrm>
          <a:prstGeom prst="rect">
            <a:avLst/>
          </a:prstGeom>
        </p:spPr>
      </p:pic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97300" y="2607915"/>
            <a:ext cx="381000" cy="304800"/>
          </a:xfrm>
          <a:prstGeom prst="rect">
            <a:avLst/>
          </a:prstGeom>
        </p:spPr>
      </p:pic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375600" y="2607915"/>
            <a:ext cx="342900" cy="304800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762000" y="476250"/>
            <a:ext cx="11430000" cy="50289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3959"/>
              </a:lnSpc>
            </a:pPr>
            <a:r>
              <a:rPr sz="3300" b="1" i="0" u="none">
                <a:solidFill>
                  <a:srgbClr val="F8FAFC"/>
                </a:solidFill>
                <a:latin typeface="Inter"/>
              </a:rPr>
              <a:t>SPRINT 3 GOAL &amp; SCOPE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00100" y="1550640"/>
            <a:ext cx="11391900" cy="3048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sz="1500" b="1" i="0" u="none">
                <a:solidFill>
                  <a:srgbClr val="F8FAFC"/>
                </a:solidFill>
                <a:latin typeface="Inter"/>
              </a:rPr>
              <a:t>Goal:</a:t>
            </a:r>
            <a:r>
              <a:rPr sz="1500" b="0" i="0" u="none">
                <a:solidFill>
                  <a:srgbClr val="F8FAFC"/>
                </a:solidFill>
                <a:latin typeface="Inter"/>
              </a:rPr>
              <a:t> Strengthen trust, traceability, repeatability, and usability of the energy data platform.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-404812" y="4855815"/>
            <a:ext cx="13001625" cy="24378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ts val="1920"/>
              </a:lnSpc>
            </a:pPr>
            <a:r>
              <a:rPr sz="1200" b="1" i="0" u="none">
                <a:solidFill>
                  <a:srgbClr val="10B981"/>
                </a:solidFill>
                <a:latin typeface="Inter"/>
              </a:rPr>
              <a:t>Success Measure:</a:t>
            </a:r>
            <a:r>
              <a:rPr sz="1200" b="0" i="0" u="none">
                <a:solidFill>
                  <a:srgbClr val="10B981"/>
                </a:solidFill>
                <a:latin typeface="Inter"/>
              </a:rPr>
              <a:t> Documented lineage. Reproducible ETL. Reconciled reporting.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19150" y="3093690"/>
            <a:ext cx="3933694" cy="2286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>
              <a:lnSpc>
                <a:spcPts val="1800"/>
              </a:lnSpc>
            </a:pPr>
            <a:r>
              <a:rPr sz="1500" b="1" i="0" u="none">
                <a:solidFill>
                  <a:srgbClr val="F8FAFC"/>
                </a:solidFill>
                <a:latin typeface="Inter"/>
              </a:rPr>
              <a:t>1. Governance &amp; Lineage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19150" y="3436590"/>
            <a:ext cx="3092350" cy="685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125" b="0" i="0" u="none">
                <a:solidFill>
                  <a:srgbClr val="94A3B8"/>
                </a:solidFill>
                <a:latin typeface="Inter"/>
              </a:rPr>
              <a:t>Document source-to-target mappings, dataset ownership, transformation rules, and data-quality limitations.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97300" y="3093690"/>
            <a:ext cx="3933890" cy="2286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>
              <a:lnSpc>
                <a:spcPts val="1800"/>
              </a:lnSpc>
            </a:pPr>
            <a:r>
              <a:rPr sz="1500" b="1" i="0" u="none">
                <a:solidFill>
                  <a:srgbClr val="F8FAFC"/>
                </a:solidFill>
                <a:latin typeface="Inter"/>
              </a:rPr>
              <a:t>2. Orchestration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97300" y="3436590"/>
            <a:ext cx="3092499" cy="685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125" b="0" i="0" u="none">
                <a:solidFill>
                  <a:srgbClr val="94A3B8"/>
                </a:solidFill>
                <a:latin typeface="Inter"/>
              </a:rPr>
              <a:t>Review Pentaho dependencies, standardize run sequencing, and make ETL failures visible and recoverable.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375600" y="3093690"/>
            <a:ext cx="3816399" cy="2286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>
              <a:lnSpc>
                <a:spcPts val="1800"/>
              </a:lnSpc>
            </a:pPr>
            <a:r>
              <a:rPr sz="1500" b="1" i="0" u="none">
                <a:solidFill>
                  <a:srgbClr val="F8FAFC"/>
                </a:solidFill>
                <a:latin typeface="Inter"/>
              </a:rPr>
              <a:t>3. Analytics Readiness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375600" y="3436590"/>
            <a:ext cx="3092350" cy="685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125" b="0" i="0" u="none">
                <a:solidFill>
                  <a:srgbClr val="94A3B8"/>
                </a:solidFill>
                <a:latin typeface="Inter"/>
              </a:rPr>
              <a:t>Validate SQL reporting outputs and prepare a Power BI consumption layer from trusted warehouse data.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571500" y="476250"/>
            <a:ext cx="57150" cy="502890"/>
          </a:xfrm>
          <a:prstGeom prst="rect">
            <a:avLst/>
          </a:prstGeom>
          <a:solidFill>
            <a:srgbClr val="0EA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571500" y="4471838"/>
            <a:ext cx="11049000" cy="937170"/>
          </a:xfrm>
          <a:prstGeom prst="roundRect">
            <a:avLst>
              <a:gd name="adj" fmla="val 8130"/>
            </a:avLst>
          </a:prstGeom>
          <a:solidFill>
            <a:srgbClr val="161F30"/>
          </a:solidFill>
          <a:ln w="9525">
            <a:solidFill>
              <a:srgbClr val="334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1123950" y="2713732"/>
            <a:ext cx="9944100" cy="19050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84820" y="2332732"/>
            <a:ext cx="762000" cy="762000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49835" y="2332732"/>
            <a:ext cx="762000" cy="762000"/>
          </a:xfrm>
          <a:prstGeom prst="rect">
            <a:avLst/>
          </a:prstGeom>
        </p:spPr>
      </p:pic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14851" y="2332732"/>
            <a:ext cx="762000" cy="762000"/>
          </a:xfrm>
          <a:prstGeom prst="rect">
            <a:avLst/>
          </a:prstGeom>
        </p:spPr>
      </p:pic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979866" y="2332732"/>
            <a:ext cx="762000" cy="762000"/>
          </a:xfrm>
          <a:prstGeom prst="rect">
            <a:avLst/>
          </a:prstGeom>
        </p:spPr>
      </p:pic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244881" y="2332732"/>
            <a:ext cx="762000" cy="762000"/>
          </a:xfrm>
          <a:prstGeom prst="rect">
            <a:avLst/>
          </a:prstGeom>
        </p:spPr>
      </p:pic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413420" y="2580382"/>
            <a:ext cx="304800" cy="266700"/>
          </a:xfrm>
          <a:prstGeom prst="rect">
            <a:avLst/>
          </a:prstGeom>
        </p:spPr>
      </p:pic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3664148" y="2580382"/>
            <a:ext cx="333375" cy="266700"/>
          </a:xfrm>
          <a:prstGeom prst="rect">
            <a:avLst/>
          </a:prstGeom>
        </p:spPr>
      </p:pic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943451" y="2580382"/>
            <a:ext cx="304800" cy="266700"/>
          </a:xfrm>
          <a:prstGeom prst="rect">
            <a:avLst/>
          </a:prstGeom>
        </p:spPr>
      </p:pic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8227516" y="2580382"/>
            <a:ext cx="266700" cy="266700"/>
          </a:xfrm>
          <a:prstGeom prst="rect">
            <a:avLst/>
          </a:prstGeom>
        </p:spPr>
      </p:pic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10473481" y="2580382"/>
            <a:ext cx="304800" cy="266700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762000" y="476250"/>
            <a:ext cx="11430000" cy="50289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3959"/>
              </a:lnSpc>
            </a:pPr>
            <a:r>
              <a:rPr sz="3300" b="1" i="0" u="none">
                <a:solidFill>
                  <a:srgbClr val="F8FAFC"/>
                </a:solidFill>
                <a:latin typeface="Inter"/>
              </a:rPr>
              <a:t>END-TO-END DATA FLOW &amp; LINEAGE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71525" y="4671863"/>
            <a:ext cx="11420475" cy="2286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125" b="1" i="0" u="none">
                <a:solidFill>
                  <a:srgbClr val="0EA5E9"/>
                </a:solidFill>
                <a:latin typeface="Inter"/>
              </a:rPr>
              <a:t>Lineage Evidence:</a:t>
            </a:r>
            <a:r>
              <a:rPr sz="1125" b="0" i="0" u="none">
                <a:solidFill>
                  <a:srgbClr val="94A3B8"/>
                </a:solidFill>
                <a:latin typeface="Inter"/>
              </a:rPr>
              <a:t> Pentaho .ktr files, Pandas notebooks, SQL DDL, master CSVs, and operational queries.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71525" y="4995713"/>
            <a:ext cx="11420475" cy="21327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1679"/>
              </a:lnSpc>
            </a:pPr>
            <a:r>
              <a:rPr sz="1050" b="0" i="1" u="none">
                <a:solidFill>
                  <a:srgbClr val="EF4444"/>
                </a:solidFill>
                <a:latin typeface="Inter"/>
              </a:rPr>
              <a:t>* Important: This is the target end-to-end flow. Complete Silver-to-Gold load and Power BI dashboards are treated as Sprint 3 completion targets.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45730" y="3237607"/>
            <a:ext cx="1440180" cy="18276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ts val="1439"/>
              </a:lnSpc>
            </a:pPr>
            <a:r>
              <a:rPr sz="1200" b="1" i="0" u="none">
                <a:solidFill>
                  <a:srgbClr val="F8FAFC"/>
                </a:solidFill>
                <a:latin typeface="Inter"/>
              </a:rPr>
              <a:t>SOURCE DATA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41945" y="3496567"/>
            <a:ext cx="1047750" cy="59427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1560"/>
              </a:lnSpc>
            </a:pPr>
            <a:r>
              <a:rPr sz="975" b="0" i="0" u="none">
                <a:solidFill>
                  <a:srgbClr val="94A3B8"/>
                </a:solidFill>
                <a:latin typeface="Inter"/>
              </a:rPr>
              <a:t>Smart Meter</a:t>
            </a:r>
            <a:r>
              <a:t>
</a:t>
            </a:r>
            <a:r>
              <a:rPr sz="975" b="0" i="0" u="none">
                <a:solidFill>
                  <a:srgbClr val="94A3B8"/>
                </a:solidFill>
                <a:latin typeface="Inter"/>
              </a:rPr>
              <a:t> SCADA / IIoT</a:t>
            </a:r>
            <a:r>
              <a:t>
</a:t>
            </a:r>
            <a:r>
              <a:rPr sz="975" b="0" i="0" u="none">
                <a:solidFill>
                  <a:srgbClr val="94A3B8"/>
                </a:solidFill>
                <a:latin typeface="Inter"/>
              </a:rPr>
              <a:t> OMS / Billing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355776" y="3237607"/>
            <a:ext cx="950118" cy="18276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ts val="1439"/>
              </a:lnSpc>
            </a:pPr>
            <a:r>
              <a:rPr sz="1200" b="1" i="0" u="none">
                <a:solidFill>
                  <a:srgbClr val="F8FAFC"/>
                </a:solidFill>
                <a:latin typeface="Inter"/>
              </a:rPr>
              <a:t>BRONZE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080742" y="3496567"/>
            <a:ext cx="1500187" cy="59427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1560"/>
              </a:lnSpc>
            </a:pPr>
            <a:r>
              <a:rPr sz="975" b="0" i="0" u="none">
                <a:solidFill>
                  <a:srgbClr val="94A3B8"/>
                </a:solidFill>
                <a:latin typeface="Inter"/>
              </a:rPr>
              <a:t>Pentaho ingestion</a:t>
            </a:r>
            <a:r>
              <a:t>
</a:t>
            </a:r>
            <a:r>
              <a:rPr sz="975" b="0" i="0" u="none">
                <a:solidFill>
                  <a:srgbClr val="94A3B8"/>
                </a:solidFill>
                <a:latin typeface="Inter"/>
              </a:rPr>
              <a:t> Raw/staging tables</a:t>
            </a:r>
            <a:r>
              <a:t>
</a:t>
            </a:r>
            <a:r>
              <a:rPr sz="975" b="0" i="0" u="none">
                <a:solidFill>
                  <a:srgbClr val="94A3B8"/>
                </a:solidFill>
                <a:latin typeface="Inter"/>
              </a:rPr>
              <a:t> Source preservation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675798" y="3237607"/>
            <a:ext cx="840105" cy="18276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ts val="1439"/>
              </a:lnSpc>
            </a:pPr>
            <a:r>
              <a:rPr sz="1200" b="1" i="0" u="none">
                <a:solidFill>
                  <a:srgbClr val="F8FAFC"/>
                </a:solidFill>
                <a:latin typeface="Inter"/>
              </a:rPr>
              <a:t>SILVER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476726" y="3496567"/>
            <a:ext cx="1238250" cy="59427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1560"/>
              </a:lnSpc>
            </a:pPr>
            <a:r>
              <a:rPr sz="975" b="0" i="0" u="none">
                <a:solidFill>
                  <a:srgbClr val="94A3B8"/>
                </a:solidFill>
                <a:latin typeface="Inter"/>
              </a:rPr>
              <a:t>Pandas profiling</a:t>
            </a:r>
            <a:r>
              <a:t>
</a:t>
            </a:r>
            <a:r>
              <a:rPr sz="975" b="0" i="0" u="none">
                <a:solidFill>
                  <a:srgbClr val="94A3B8"/>
                </a:solidFill>
                <a:latin typeface="Inter"/>
              </a:rPr>
              <a:t> Quality checks</a:t>
            </a:r>
            <a:r>
              <a:t>
</a:t>
            </a:r>
            <a:r>
              <a:rPr sz="975" b="0" i="0" u="none">
                <a:solidFill>
                  <a:srgbClr val="94A3B8"/>
                </a:solidFill>
                <a:latin typeface="Inter"/>
              </a:rPr>
              <a:t> Standardization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695783" y="3237607"/>
            <a:ext cx="1330166" cy="18276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ts val="1439"/>
              </a:lnSpc>
            </a:pPr>
            <a:r>
              <a:rPr sz="1200" b="1" i="0" u="none">
                <a:solidFill>
                  <a:srgbClr val="F8FAFC"/>
                </a:solidFill>
                <a:latin typeface="Inter"/>
              </a:rPr>
              <a:t>WAREHOUSE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656016" y="3496567"/>
            <a:ext cx="1409700" cy="59427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1560"/>
              </a:lnSpc>
            </a:pPr>
            <a:r>
              <a:rPr sz="975" b="0" i="0" u="none">
                <a:solidFill>
                  <a:srgbClr val="94A3B8"/>
                </a:solidFill>
                <a:latin typeface="Inter"/>
              </a:rPr>
              <a:t>PostgreSQL</a:t>
            </a:r>
            <a:r>
              <a:t>
</a:t>
            </a:r>
            <a:r>
              <a:rPr sz="975" b="0" i="0" u="none">
                <a:solidFill>
                  <a:srgbClr val="94A3B8"/>
                </a:solidFill>
                <a:latin typeface="Inter"/>
              </a:rPr>
              <a:t> Dimensions &amp; facts</a:t>
            </a:r>
            <a:r>
              <a:t>
</a:t>
            </a:r>
            <a:r>
              <a:rPr sz="975" b="0" i="0" u="none">
                <a:solidFill>
                  <a:srgbClr val="94A3B8"/>
                </a:solidFill>
                <a:latin typeface="Inter"/>
              </a:rPr>
              <a:t> SQL report queries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863286" y="3237607"/>
            <a:ext cx="1525190" cy="18276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ts val="1439"/>
              </a:lnSpc>
            </a:pPr>
            <a:r>
              <a:rPr sz="1200" b="1" i="0" u="none">
                <a:solidFill>
                  <a:srgbClr val="F8FAFC"/>
                </a:solidFill>
                <a:latin typeface="Inter"/>
              </a:rPr>
              <a:t>CONSUMPTION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857928" y="3496567"/>
            <a:ext cx="1535906" cy="59427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1560"/>
              </a:lnSpc>
            </a:pPr>
            <a:r>
              <a:rPr sz="975" b="0" i="0" u="none">
                <a:solidFill>
                  <a:srgbClr val="94A3B8"/>
                </a:solidFill>
                <a:latin typeface="Inter"/>
              </a:rPr>
              <a:t>Operational reports</a:t>
            </a:r>
            <a:r>
              <a:t>
</a:t>
            </a:r>
            <a:r>
              <a:rPr sz="975" b="0" i="0" u="none">
                <a:solidFill>
                  <a:srgbClr val="94A3B8"/>
                </a:solidFill>
                <a:latin typeface="Inter"/>
              </a:rPr>
              <a:t> Power BI connection</a:t>
            </a:r>
            <a:r>
              <a:t>
</a:t>
            </a:r>
            <a:r>
              <a:rPr sz="975" b="0" i="0" u="none">
                <a:solidFill>
                  <a:srgbClr val="94A3B8"/>
                </a:solidFill>
                <a:latin typeface="Inter"/>
              </a:rPr>
              <a:t> Business insights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571500" y="476250"/>
            <a:ext cx="57150" cy="502890"/>
          </a:xfrm>
          <a:prstGeom prst="rect">
            <a:avLst/>
          </a:prstGeom>
          <a:solidFill>
            <a:srgbClr val="0EA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571500" y="2022276"/>
            <a:ext cx="5381625" cy="1472356"/>
          </a:xfrm>
          <a:prstGeom prst="roundRect">
            <a:avLst>
              <a:gd name="adj" fmla="val 10350"/>
            </a:avLst>
          </a:prstGeom>
          <a:solidFill>
            <a:srgbClr val="1E293B"/>
          </a:solidFill>
          <a:ln w="9525">
            <a:solidFill>
              <a:srgbClr val="334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6238875" y="2022276"/>
            <a:ext cx="5381625" cy="1472356"/>
          </a:xfrm>
          <a:prstGeom prst="roundRect">
            <a:avLst>
              <a:gd name="adj" fmla="val 10350"/>
            </a:avLst>
          </a:prstGeom>
          <a:solidFill>
            <a:srgbClr val="1E293B"/>
          </a:solidFill>
          <a:ln w="9525">
            <a:solidFill>
              <a:srgbClr val="334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571500" y="3780383"/>
            <a:ext cx="5381625" cy="1472356"/>
          </a:xfrm>
          <a:prstGeom prst="roundRect">
            <a:avLst>
              <a:gd name="adj" fmla="val 10350"/>
            </a:avLst>
          </a:prstGeom>
          <a:solidFill>
            <a:srgbClr val="1E293B"/>
          </a:solidFill>
          <a:ln w="9525">
            <a:solidFill>
              <a:srgbClr val="334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6238875" y="3780383"/>
            <a:ext cx="5381625" cy="1472356"/>
          </a:xfrm>
          <a:prstGeom prst="roundRect">
            <a:avLst>
              <a:gd name="adj" fmla="val 10350"/>
            </a:avLst>
          </a:prstGeom>
          <a:solidFill>
            <a:srgbClr val="1E293B"/>
          </a:solidFill>
          <a:ln w="9525">
            <a:solidFill>
              <a:srgbClr val="334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62175" y="5528964"/>
            <a:ext cx="161925" cy="142875"/>
          </a:xfrm>
          <a:prstGeom prst="rect">
            <a:avLst/>
          </a:prstGeom>
        </p:spPr>
      </p:pic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66775" y="2338387"/>
            <a:ext cx="238125" cy="209550"/>
          </a:xfrm>
          <a:prstGeom prst="rect">
            <a:avLst/>
          </a:prstGeom>
        </p:spPr>
      </p:pic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34150" y="2338387"/>
            <a:ext cx="209550" cy="209550"/>
          </a:xfrm>
          <a:prstGeom prst="rect">
            <a:avLst/>
          </a:prstGeom>
        </p:spPr>
      </p:pic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66775" y="4096494"/>
            <a:ext cx="238125" cy="209550"/>
          </a:xfrm>
          <a:prstGeom prst="rect">
            <a:avLst/>
          </a:prstGeom>
        </p:spPr>
      </p:pic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534150" y="4096494"/>
            <a:ext cx="161925" cy="20955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762000" y="476250"/>
            <a:ext cx="11430000" cy="50289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3959"/>
              </a:lnSpc>
            </a:pPr>
            <a:r>
              <a:rPr sz="3300" b="1" i="0" u="none">
                <a:solidFill>
                  <a:srgbClr val="F8FAFC"/>
                </a:solidFill>
                <a:latin typeface="Inter"/>
              </a:rPr>
              <a:t>DATA GOVERNANCE &amp; LINEAGE DELIVERABLES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-404812" y="5490864"/>
            <a:ext cx="13001625" cy="228600"/>
          </a:xfrm>
          <a:prstGeom prst="rect">
            <a:avLst/>
          </a:prstGeom>
          <a:noFill/>
        </p:spPr>
        <p:txBody>
          <a:bodyPr wrap="none" lIns="238125" tIns="0" rIns="0" bIns="0" anchor="t">
            <a:spAutoFit/>
          </a:bodyPr>
          <a:lstStyle/>
          <a:p>
            <a:pPr algn="ctr">
              <a:lnSpc>
                <a:spcPts val="1800"/>
              </a:lnSpc>
            </a:pPr>
            <a:r>
              <a:rPr sz="1125" b="1" i="0" u="none">
                <a:solidFill>
                  <a:srgbClr val="94A3B8"/>
                </a:solidFill>
                <a:latin typeface="Inter"/>
              </a:rPr>
              <a:t>Repository artefacts:</a:t>
            </a:r>
            <a:r>
              <a:rPr sz="1125" b="0" i="0" u="none">
                <a:solidFill>
                  <a:srgbClr val="94A3B8"/>
                </a:solidFill>
                <a:latin typeface="Inter"/>
              </a:rPr>
              <a:t> Source-to-Target Mappings.md, Data Lineage Documentation.md, operational_reports.sql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14450" y="2317551"/>
            <a:ext cx="5818227" cy="25137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>
              <a:lnSpc>
                <a:spcPts val="1979"/>
              </a:lnSpc>
            </a:pPr>
            <a:r>
              <a:rPr sz="1650" b="1" i="0" u="none">
                <a:solidFill>
                  <a:srgbClr val="0EA5E9"/>
                </a:solidFill>
                <a:latin typeface="Inter"/>
              </a:rPr>
              <a:t>Source-to-Target Mapping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66775" y="2711797"/>
            <a:ext cx="4886325" cy="4875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920"/>
              </a:lnSpc>
            </a:pPr>
            <a:r>
              <a:rPr sz="1200" b="0" i="0" u="none">
                <a:solidFill>
                  <a:srgbClr val="94A3B8"/>
                </a:solidFill>
                <a:latin typeface="Inter"/>
              </a:rPr>
              <a:t>Capture source file, source field, target table/column, conversion logic, and missing-value handling.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953250" y="2317551"/>
            <a:ext cx="5238750" cy="25137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>
              <a:lnSpc>
                <a:spcPts val="1979"/>
              </a:lnSpc>
            </a:pPr>
            <a:r>
              <a:rPr sz="1650" b="1" i="0" u="none">
                <a:solidFill>
                  <a:srgbClr val="0EA5E9"/>
                </a:solidFill>
                <a:latin typeface="Inter"/>
              </a:rPr>
              <a:t>Lineage Register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34150" y="2711797"/>
            <a:ext cx="4886325" cy="4875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920"/>
              </a:lnSpc>
            </a:pPr>
            <a:r>
              <a:rPr sz="1200" b="0" i="0" u="none">
                <a:solidFill>
                  <a:srgbClr val="94A3B8"/>
                </a:solidFill>
                <a:latin typeface="Inter"/>
              </a:rPr>
              <a:t>Trace each source through Pentaho ingestion, Silver cleansing notebooks, and warehouse objects.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14450" y="4075658"/>
            <a:ext cx="5818227" cy="25137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>
              <a:lnSpc>
                <a:spcPts val="1979"/>
              </a:lnSpc>
            </a:pPr>
            <a:r>
              <a:rPr sz="1650" b="1" i="0" u="none">
                <a:solidFill>
                  <a:srgbClr val="10B981"/>
                </a:solidFill>
                <a:latin typeface="Inter"/>
              </a:rPr>
              <a:t>Business Definitions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66775" y="4469903"/>
            <a:ext cx="4886325" cy="4875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920"/>
              </a:lnSpc>
            </a:pPr>
            <a:r>
              <a:rPr sz="1200" b="0" i="0" u="none">
                <a:solidFill>
                  <a:srgbClr val="94A3B8"/>
                </a:solidFill>
                <a:latin typeface="Inter"/>
              </a:rPr>
              <a:t>Define agreed meanings for energy consumption, reading timestamps, anomaly labels, and utility identifiers.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905625" y="4075658"/>
            <a:ext cx="5286375" cy="25137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>
              <a:lnSpc>
                <a:spcPts val="1979"/>
              </a:lnSpc>
            </a:pPr>
            <a:r>
              <a:rPr sz="1650" b="1" i="0" u="none">
                <a:solidFill>
                  <a:srgbClr val="10B981"/>
                </a:solidFill>
                <a:latin typeface="Inter"/>
              </a:rPr>
              <a:t>Issue &amp; Change Log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534150" y="4469903"/>
            <a:ext cx="4886325" cy="4875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920"/>
              </a:lnSpc>
            </a:pPr>
            <a:r>
              <a:rPr sz="1200" b="0" i="0" u="none">
                <a:solidFill>
                  <a:srgbClr val="94A3B8"/>
                </a:solidFill>
                <a:latin typeface="Inter"/>
              </a:rPr>
              <a:t>Track known schema mismatches, transformation failures, and approvals for data rule changes.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2716559"/>
            <a:ext cx="114300" cy="200025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3181350"/>
            <a:ext cx="114300" cy="200025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3646140"/>
            <a:ext cx="114300" cy="200025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4110930"/>
            <a:ext cx="114300" cy="200025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4575720"/>
            <a:ext cx="114300" cy="200025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571500" y="476250"/>
            <a:ext cx="57150" cy="502890"/>
          </a:xfrm>
          <a:prstGeom prst="rect">
            <a:avLst/>
          </a:prstGeom>
          <a:solidFill>
            <a:srgbClr val="0EA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6381750" y="2232719"/>
            <a:ext cx="5238750" cy="1482030"/>
          </a:xfrm>
          <a:prstGeom prst="roundRect">
            <a:avLst>
              <a:gd name="adj" fmla="val 10283"/>
            </a:avLst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6381750" y="3905250"/>
            <a:ext cx="5238750" cy="1472505"/>
          </a:xfrm>
          <a:prstGeom prst="roundRect">
            <a:avLst>
              <a:gd name="adj" fmla="val 10349"/>
            </a:avLst>
          </a:prstGeom>
          <a:solidFill>
            <a:srgbClr val="0B182A"/>
          </a:solidFill>
          <a:ln w="9525">
            <a:solidFill>
              <a:srgbClr val="0EA5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6381750" y="3705225"/>
            <a:ext cx="5238750" cy="9525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6381750" y="2232719"/>
            <a:ext cx="5238750" cy="9525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6381750" y="2232719"/>
            <a:ext cx="38100" cy="1482030"/>
          </a:xfrm>
          <a:prstGeom prst="rect">
            <a:avLst/>
          </a:prstGeom>
          <a:solidFill>
            <a:srgbClr val="EF44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11610975" y="2232719"/>
            <a:ext cx="9525" cy="1482030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ounded Rectangle 14"/>
          <p:cNvSpPr/>
          <p:nvPr/>
        </p:nvSpPr>
        <p:spPr>
          <a:xfrm>
            <a:off x="6629400" y="4501455"/>
            <a:ext cx="676275" cy="266700"/>
          </a:xfrm>
          <a:prstGeom prst="roundRect">
            <a:avLst>
              <a:gd name="adj" fmla="val 14285"/>
            </a:avLst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ounded Rectangle 15"/>
          <p:cNvSpPr/>
          <p:nvPr/>
        </p:nvSpPr>
        <p:spPr>
          <a:xfrm>
            <a:off x="7400925" y="4501455"/>
            <a:ext cx="933450" cy="266700"/>
          </a:xfrm>
          <a:prstGeom prst="roundRect">
            <a:avLst>
              <a:gd name="adj" fmla="val 14285"/>
            </a:avLst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ounded Rectangle 16"/>
          <p:cNvSpPr/>
          <p:nvPr/>
        </p:nvSpPr>
        <p:spPr>
          <a:xfrm>
            <a:off x="8429625" y="4501455"/>
            <a:ext cx="1409700" cy="266700"/>
          </a:xfrm>
          <a:prstGeom prst="roundRect">
            <a:avLst>
              <a:gd name="adj" fmla="val 14285"/>
            </a:avLst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ounded Rectangle 17"/>
          <p:cNvSpPr/>
          <p:nvPr/>
        </p:nvSpPr>
        <p:spPr>
          <a:xfrm>
            <a:off x="9934575" y="4501455"/>
            <a:ext cx="1076325" cy="266700"/>
          </a:xfrm>
          <a:prstGeom prst="roundRect">
            <a:avLst>
              <a:gd name="adj" fmla="val 14285"/>
            </a:avLst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ounded Rectangle 18"/>
          <p:cNvSpPr/>
          <p:nvPr/>
        </p:nvSpPr>
        <p:spPr>
          <a:xfrm>
            <a:off x="6629400" y="4863405"/>
            <a:ext cx="1143000" cy="266700"/>
          </a:xfrm>
          <a:prstGeom prst="roundRect">
            <a:avLst>
              <a:gd name="adj" fmla="val 14285"/>
            </a:avLst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ounded Rectangle 19"/>
          <p:cNvSpPr/>
          <p:nvPr/>
        </p:nvSpPr>
        <p:spPr>
          <a:xfrm>
            <a:off x="7867650" y="4863405"/>
            <a:ext cx="1095375" cy="266700"/>
          </a:xfrm>
          <a:prstGeom prst="roundRect">
            <a:avLst>
              <a:gd name="adj" fmla="val 14285"/>
            </a:avLst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21" name="Picture 20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1500" y="5059560"/>
            <a:ext cx="133350" cy="152400"/>
          </a:xfrm>
          <a:prstGeom prst="rect">
            <a:avLst/>
          </a:prstGeom>
        </p:spPr>
      </p:pic>
      <p:pic>
        <p:nvPicPr>
          <p:cNvPr id="22" name="Picture 21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57975" y="2499419"/>
            <a:ext cx="171450" cy="171450"/>
          </a:xfrm>
          <a:prstGeom prst="rect">
            <a:avLst/>
          </a:prstGeom>
        </p:spPr>
      </p:pic>
      <p:pic>
        <p:nvPicPr>
          <p:cNvPr id="23" name="Picture 22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629400" y="4171950"/>
            <a:ext cx="171450" cy="171450"/>
          </a:xfrm>
          <a:prstGeom prst="rect">
            <a:avLst/>
          </a:prstGeom>
        </p:spPr>
      </p:pic>
      <p:sp>
        <p:nvSpPr>
          <p:cNvPr id="24" name="TextBox 23"/>
          <p:cNvSpPr txBox="1"/>
          <p:nvPr/>
        </p:nvSpPr>
        <p:spPr>
          <a:xfrm>
            <a:off x="762000" y="476250"/>
            <a:ext cx="11430000" cy="50289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3959"/>
              </a:lnSpc>
            </a:pPr>
            <a:r>
              <a:rPr sz="3300" b="1" i="0" u="none">
                <a:solidFill>
                  <a:srgbClr val="F8FAFC"/>
                </a:solidFill>
                <a:latin typeface="Inter"/>
              </a:rPr>
              <a:t>PENTAHO ORCHESTRATION &amp; CONTROLS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71500" y="2232719"/>
            <a:ext cx="6875859" cy="27429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sz="1800" b="1" i="0" u="none">
                <a:solidFill>
                  <a:srgbClr val="10B981"/>
                </a:solidFill>
                <a:latin typeface="Inter"/>
              </a:rPr>
              <a:t>Execution Sequence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71500" y="5021460"/>
            <a:ext cx="5334000" cy="487560"/>
          </a:xfrm>
          <a:prstGeom prst="rect">
            <a:avLst/>
          </a:prstGeom>
          <a:noFill/>
        </p:spPr>
        <p:txBody>
          <a:bodyPr wrap="square" lIns="209550" tIns="0" rIns="0" bIns="0" anchor="t">
            <a:spAutoFit/>
          </a:bodyPr>
          <a:lstStyle/>
          <a:p>
            <a:pPr algn="l">
              <a:lnSpc>
                <a:spcPts val="1920"/>
              </a:lnSpc>
            </a:pPr>
            <a:r>
              <a:rPr sz="1200" b="1" i="0" u="none">
                <a:solidFill>
                  <a:srgbClr val="10B981"/>
                </a:solidFill>
                <a:latin typeface="Inter"/>
              </a:rPr>
              <a:t>Exit criterion:</a:t>
            </a:r>
            <a:r>
              <a:rPr sz="1200" b="0" i="0" u="none">
                <a:solidFill>
                  <a:srgbClr val="10B981"/>
                </a:solidFill>
                <a:latin typeface="Inter"/>
              </a:rPr>
              <a:t> Job runs from a clean start and produces auditable row counts.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04875" y="2697509"/>
            <a:ext cx="6215062" cy="27429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sz="1350" b="1" i="0" u="none">
                <a:solidFill>
                  <a:srgbClr val="94A3B8"/>
                </a:solidFill>
                <a:latin typeface="Inter"/>
              </a:rPr>
              <a:t>01.</a:t>
            </a:r>
            <a:r>
              <a:rPr sz="1350" b="0" i="0" u="none">
                <a:solidFill>
                  <a:srgbClr val="94A3B8"/>
                </a:solidFill>
                <a:latin typeface="Inter"/>
              </a:rPr>
              <a:t> Validate inputs and connection settings.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04875" y="3162300"/>
            <a:ext cx="6215062" cy="27429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sz="1350" b="1" i="0" u="none">
                <a:solidFill>
                  <a:srgbClr val="94A3B8"/>
                </a:solidFill>
                <a:latin typeface="Inter"/>
              </a:rPr>
              <a:t>02.</a:t>
            </a:r>
            <a:r>
              <a:rPr sz="1350" b="0" i="0" u="none">
                <a:solidFill>
                  <a:srgbClr val="94A3B8"/>
                </a:solidFill>
                <a:latin typeface="Inter"/>
              </a:rPr>
              <a:t> Run source ingestion transformations.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04875" y="3627090"/>
            <a:ext cx="6215062" cy="27429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sz="1350" b="1" i="0" u="none">
                <a:solidFill>
                  <a:srgbClr val="94A3B8"/>
                </a:solidFill>
                <a:latin typeface="Inter"/>
              </a:rPr>
              <a:t>03.</a:t>
            </a:r>
            <a:r>
              <a:rPr sz="1350" b="0" i="0" u="none">
                <a:solidFill>
                  <a:srgbClr val="94A3B8"/>
                </a:solidFill>
                <a:latin typeface="Inter"/>
              </a:rPr>
              <a:t> Execute Silver cleansing and validation.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04875" y="4091880"/>
            <a:ext cx="6215062" cy="27429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sz="1350" b="1" i="0" u="none">
                <a:solidFill>
                  <a:srgbClr val="94A3B8"/>
                </a:solidFill>
                <a:latin typeface="Inter"/>
              </a:rPr>
              <a:t>04.</a:t>
            </a:r>
            <a:r>
              <a:rPr sz="1350" b="0" i="0" u="none">
                <a:solidFill>
                  <a:srgbClr val="94A3B8"/>
                </a:solidFill>
                <a:latin typeface="Inter"/>
              </a:rPr>
              <a:t> Load dimensions before fact data.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04875" y="4556670"/>
            <a:ext cx="6215062" cy="27429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sz="1350" b="1" i="0" u="none">
                <a:solidFill>
                  <a:srgbClr val="94A3B8"/>
                </a:solidFill>
                <a:latin typeface="Inter"/>
              </a:rPr>
              <a:t>05.</a:t>
            </a:r>
            <a:r>
              <a:rPr sz="1350" b="0" i="0" u="none">
                <a:solidFill>
                  <a:srgbClr val="94A3B8"/>
                </a:solidFill>
                <a:latin typeface="Inter"/>
              </a:rPr>
              <a:t> Run reconciliation and report checks.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657975" y="2480369"/>
            <a:ext cx="5534025" cy="205680"/>
          </a:xfrm>
          <a:prstGeom prst="rect">
            <a:avLst/>
          </a:prstGeom>
          <a:noFill/>
        </p:spPr>
        <p:txBody>
          <a:bodyPr wrap="none" lIns="247650" tIns="0" rIns="0" bIns="0" anchor="t">
            <a:spAutoFit/>
          </a:bodyPr>
          <a:lstStyle/>
          <a:p>
            <a:pPr algn="l">
              <a:lnSpc>
                <a:spcPts val="1620"/>
              </a:lnSpc>
            </a:pPr>
            <a:r>
              <a:rPr sz="1350" b="1" i="0" u="none">
                <a:solidFill>
                  <a:srgbClr val="F8FAFC"/>
                </a:solidFill>
                <a:latin typeface="Inter"/>
              </a:rPr>
              <a:t>Repository Observation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657975" y="2781300"/>
            <a:ext cx="4810125" cy="685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125" b="0" i="0" u="none">
                <a:solidFill>
                  <a:srgbClr val="94A3B8"/>
                </a:solidFill>
                <a:latin typeface="Inter"/>
              </a:rPr>
              <a:t>energy_dw_master_job.kjb references loading_dimensions.ktr, which was missing in the archive. Resolve dependencies before execution.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629400" y="4152900"/>
            <a:ext cx="5562600" cy="205680"/>
          </a:xfrm>
          <a:prstGeom prst="rect">
            <a:avLst/>
          </a:prstGeom>
          <a:noFill/>
        </p:spPr>
        <p:txBody>
          <a:bodyPr wrap="none" lIns="247650" tIns="0" rIns="0" bIns="0" anchor="t">
            <a:spAutoFit/>
          </a:bodyPr>
          <a:lstStyle/>
          <a:p>
            <a:pPr algn="l">
              <a:lnSpc>
                <a:spcPts val="1620"/>
              </a:lnSpc>
            </a:pPr>
            <a:r>
              <a:rPr sz="1350" b="1" i="0" u="none">
                <a:solidFill>
                  <a:srgbClr val="0EA5E9"/>
                </a:solidFill>
                <a:latin typeface="Inter"/>
              </a:rPr>
              <a:t>Operational Controls Needed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743700" y="4558605"/>
            <a:ext cx="542925" cy="152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75" b="0" i="0" u="none">
                <a:solidFill>
                  <a:srgbClr val="F8FAFC"/>
                </a:solidFill>
                <a:latin typeface="Inter"/>
              </a:rPr>
              <a:t>Run IDs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515225" y="4558605"/>
            <a:ext cx="800100" cy="152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75" b="0" i="0" u="none">
                <a:solidFill>
                  <a:srgbClr val="F8FAFC"/>
                </a:solidFill>
                <a:latin typeface="Inter"/>
              </a:rPr>
              <a:t>Timestamps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543925" y="4558605"/>
            <a:ext cx="1276350" cy="152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75" b="0" i="0" u="none">
                <a:solidFill>
                  <a:srgbClr val="F8FAFC"/>
                </a:solidFill>
                <a:latin typeface="Inter"/>
              </a:rPr>
              <a:t>Input/Output counts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048875" y="4558605"/>
            <a:ext cx="942975" cy="152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75" b="0" i="0" u="none">
                <a:solidFill>
                  <a:srgbClr val="F8FAFC"/>
                </a:solidFill>
                <a:latin typeface="Inter"/>
              </a:rPr>
              <a:t>Rejected rows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743700" y="4920555"/>
            <a:ext cx="1009650" cy="152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75" b="0" i="0" u="none">
                <a:solidFill>
                  <a:srgbClr val="F8FAFC"/>
                </a:solidFill>
                <a:latin typeface="Inter"/>
              </a:rPr>
              <a:t>Failure reasons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981950" y="4920555"/>
            <a:ext cx="962025" cy="152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75" b="0" i="0" u="none">
                <a:solidFill>
                  <a:srgbClr val="F8FAFC"/>
                </a:solidFill>
                <a:latin typeface="Inter"/>
              </a:rPr>
              <a:t>Rerun strategy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6775" y="2274689"/>
            <a:ext cx="190500" cy="200025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6775" y="3013769"/>
            <a:ext cx="190500" cy="200025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6775" y="3752850"/>
            <a:ext cx="190500" cy="200025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6775" y="4491930"/>
            <a:ext cx="190500" cy="200025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6775" y="5231010"/>
            <a:ext cx="190500" cy="200025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571500" y="476250"/>
            <a:ext cx="57150" cy="502890"/>
          </a:xfrm>
          <a:prstGeom prst="rect">
            <a:avLst/>
          </a:prstGeom>
          <a:solidFill>
            <a:srgbClr val="0EA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571500" y="1495573"/>
            <a:ext cx="5238750" cy="4750742"/>
          </a:xfrm>
          <a:prstGeom prst="roundRect">
            <a:avLst>
              <a:gd name="adj" fmla="val 3207"/>
            </a:avLst>
          </a:prstGeom>
          <a:solidFill>
            <a:srgbClr val="1E293B"/>
          </a:solidFill>
          <a:ln w="9525">
            <a:solidFill>
              <a:srgbClr val="334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6381750" y="1495573"/>
            <a:ext cx="5238750" cy="3722042"/>
          </a:xfrm>
          <a:prstGeom prst="roundRect">
            <a:avLst>
              <a:gd name="adj" fmla="val 4094"/>
            </a:avLst>
          </a:prstGeom>
          <a:solidFill>
            <a:srgbClr val="181935"/>
          </a:solidFill>
          <a:ln w="9525">
            <a:solidFill>
              <a:srgbClr val="8B5C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ounded Rectangle 10"/>
          <p:cNvSpPr/>
          <p:nvPr/>
        </p:nvSpPr>
        <p:spPr>
          <a:xfrm>
            <a:off x="6381750" y="5408116"/>
            <a:ext cx="5238750" cy="838200"/>
          </a:xfrm>
          <a:prstGeom prst="roundRect">
            <a:avLst>
              <a:gd name="adj" fmla="val 13636"/>
            </a:avLst>
          </a:prstGeom>
          <a:solidFill>
            <a:srgbClr val="1A24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6381750" y="5408116"/>
            <a:ext cx="38100" cy="83820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66775" y="1813619"/>
            <a:ext cx="200025" cy="228600"/>
          </a:xfrm>
          <a:prstGeom prst="rect">
            <a:avLst/>
          </a:prstGeom>
        </p:spPr>
      </p:pic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77025" y="1813619"/>
            <a:ext cx="200025" cy="228600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762000" y="476250"/>
            <a:ext cx="11430000" cy="50289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3959"/>
              </a:lnSpc>
            </a:pPr>
            <a:r>
              <a:rPr sz="3300" b="1" i="0" u="none">
                <a:solidFill>
                  <a:srgbClr val="F8FAFC"/>
                </a:solidFill>
                <a:latin typeface="Inter"/>
              </a:rPr>
              <a:t>ANALYTICS &amp; REPORTING LAYER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276350" y="1790848"/>
            <a:ext cx="5670708" cy="27429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>
              <a:lnSpc>
                <a:spcPts val="2160"/>
              </a:lnSpc>
            </a:pPr>
            <a:r>
              <a:rPr sz="1800" b="1" i="0" u="none">
                <a:solidFill>
                  <a:srgbClr val="0EA5E9"/>
                </a:solidFill>
                <a:latin typeface="Inter"/>
              </a:rPr>
              <a:t>SQL Reporting Assets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200150" y="2255639"/>
            <a:ext cx="4410075" cy="5485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sz="1350" b="1" i="0" u="none">
                <a:solidFill>
                  <a:srgbClr val="F8FAFC"/>
                </a:solidFill>
                <a:latin typeface="Inter"/>
              </a:rPr>
              <a:t>Consumption KPIs:</a:t>
            </a:r>
            <a:r>
              <a:rPr sz="1350" b="0" i="0" u="none">
                <a:solidFill>
                  <a:srgbClr val="94A3B8"/>
                </a:solidFill>
                <a:latin typeface="Inter"/>
              </a:rPr>
              <a:t> Total, average, minimum, and maximum energy readings.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200150" y="2994719"/>
            <a:ext cx="4410075" cy="5485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sz="1350" b="1" i="0" u="none">
                <a:solidFill>
                  <a:srgbClr val="F8FAFC"/>
                </a:solidFill>
                <a:latin typeface="Inter"/>
              </a:rPr>
              <a:t>Time Trends:</a:t>
            </a:r>
            <a:r>
              <a:rPr sz="1350" b="0" i="0" u="none">
                <a:solidFill>
                  <a:srgbClr val="94A3B8"/>
                </a:solidFill>
                <a:latin typeface="Inter"/>
              </a:rPr>
              <a:t> Daily, hourly, and monthly consumption aggregations.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200150" y="3733800"/>
            <a:ext cx="4410075" cy="5485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sz="1350" b="1" i="0" u="none">
                <a:solidFill>
                  <a:srgbClr val="F8FAFC"/>
                </a:solidFill>
                <a:latin typeface="Inter"/>
              </a:rPr>
              <a:t>Anomaly Analysis:</a:t>
            </a:r>
            <a:r>
              <a:rPr sz="1350" b="0" i="0" u="none">
                <a:solidFill>
                  <a:srgbClr val="94A3B8"/>
                </a:solidFill>
                <a:latin typeface="Inter"/>
              </a:rPr>
              <a:t> Reading counts and consumption summaries by anomaly label.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200150" y="4472880"/>
            <a:ext cx="4410075" cy="5485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sz="1350" b="1" i="0" u="none">
                <a:solidFill>
                  <a:srgbClr val="F8FAFC"/>
                </a:solidFill>
                <a:latin typeface="Inter"/>
              </a:rPr>
              <a:t>Sensor Context:</a:t>
            </a:r>
            <a:r>
              <a:rPr sz="1350" b="0" i="0" u="none">
                <a:solidFill>
                  <a:srgbClr val="94A3B8"/>
                </a:solidFill>
                <a:latin typeface="Inter"/>
              </a:rPr>
              <a:t> Temperature, humidity, and wind-speed summaries.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200150" y="5211960"/>
            <a:ext cx="4410075" cy="5485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sz="1350" b="1" i="0" u="none">
                <a:solidFill>
                  <a:srgbClr val="F8FAFC"/>
                </a:solidFill>
                <a:latin typeface="Inter"/>
              </a:rPr>
              <a:t>Exception Review:</a:t>
            </a:r>
            <a:r>
              <a:rPr sz="1350" b="0" i="0" u="none">
                <a:solidFill>
                  <a:srgbClr val="94A3B8"/>
                </a:solidFill>
                <a:latin typeface="Inter"/>
              </a:rPr>
              <a:t> High-consumption readings and deviation tracking.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086600" y="1790848"/>
            <a:ext cx="5105400" cy="27429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>
              <a:lnSpc>
                <a:spcPts val="2160"/>
              </a:lnSpc>
            </a:pPr>
            <a:r>
              <a:rPr sz="1800" b="1" i="0" u="none">
                <a:solidFill>
                  <a:srgbClr val="8B5CF6"/>
                </a:solidFill>
                <a:latin typeface="Inter"/>
              </a:rPr>
              <a:t>Power BI Target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677025" y="2208014"/>
            <a:ext cx="4743450" cy="4875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920"/>
              </a:lnSpc>
            </a:pPr>
            <a:r>
              <a:rPr sz="1200" b="0" i="0" u="none">
                <a:solidFill>
                  <a:srgbClr val="F8FAFC"/>
                </a:solidFill>
                <a:latin typeface="Inter"/>
              </a:rPr>
              <a:t>Connect to validated PostgreSQL views and tables to build operational dashboard visuals.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610350" y="5598616"/>
            <a:ext cx="49149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125" b="1" i="0" u="none">
                <a:solidFill>
                  <a:srgbClr val="F59E0B"/>
                </a:solidFill>
                <a:latin typeface="Inter"/>
              </a:rPr>
              <a:t>Status:</a:t>
            </a:r>
            <a:r>
              <a:rPr sz="1125" b="0" i="0" u="none">
                <a:solidFill>
                  <a:srgbClr val="F8FAFC"/>
                </a:solidFill>
                <a:latin typeface="Inter"/>
              </a:rPr>
              <a:t> SQL report queries are in the repository. Dashboard build, refresh, and KPI validation remain Sprint 3 completion work.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9150" y="2127051"/>
            <a:ext cx="190500" cy="200025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9150" y="2866132"/>
            <a:ext cx="190500" cy="200025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9150" y="3330922"/>
            <a:ext cx="190500" cy="200025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9150" y="3795712"/>
            <a:ext cx="190500" cy="200025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9150" y="4534792"/>
            <a:ext cx="190500" cy="200025"/>
          </a:xfrm>
          <a:prstGeom prst="rect">
            <a:avLst/>
          </a:prstGeom>
        </p:spPr>
      </p:pic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97300" y="2127051"/>
            <a:ext cx="190500" cy="200025"/>
          </a:xfrm>
          <a:prstGeom prst="rect">
            <a:avLst/>
          </a:prstGeom>
        </p:spPr>
      </p:pic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97300" y="2866132"/>
            <a:ext cx="190500" cy="200025"/>
          </a:xfrm>
          <a:prstGeom prst="rect">
            <a:avLst/>
          </a:prstGeom>
        </p:spPr>
      </p:pic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97300" y="3605212"/>
            <a:ext cx="190500" cy="200025"/>
          </a:xfrm>
          <a:prstGeom prst="rect">
            <a:avLst/>
          </a:prstGeom>
        </p:spPr>
      </p:pic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97300" y="4344292"/>
            <a:ext cx="190500" cy="200025"/>
          </a:xfrm>
          <a:prstGeom prst="rect">
            <a:avLst/>
          </a:prstGeom>
        </p:spPr>
      </p:pic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97300" y="4809083"/>
            <a:ext cx="190500" cy="200025"/>
          </a:xfrm>
          <a:prstGeom prst="rect">
            <a:avLst/>
          </a:prstGeom>
        </p:spPr>
      </p:pic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75600" y="2127051"/>
            <a:ext cx="190500" cy="200025"/>
          </a:xfrm>
          <a:prstGeom prst="rect">
            <a:avLst/>
          </a:prstGeom>
        </p:spPr>
      </p:pic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75600" y="2866132"/>
            <a:ext cx="190500" cy="200025"/>
          </a:xfrm>
          <a:prstGeom prst="rect">
            <a:avLst/>
          </a:prstGeom>
        </p:spPr>
      </p:pic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75600" y="3879502"/>
            <a:ext cx="190500" cy="200025"/>
          </a:xfrm>
          <a:prstGeom prst="rect">
            <a:avLst/>
          </a:prstGeom>
        </p:spPr>
      </p:pic>
      <p:pic>
        <p:nvPicPr>
          <p:cNvPr id="16" name="Picture 15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75600" y="4618583"/>
            <a:ext cx="190500" cy="200025"/>
          </a:xfrm>
          <a:prstGeom prst="rect">
            <a:avLst/>
          </a:prstGeom>
        </p:spPr>
      </p:pic>
      <p:sp>
        <p:nvSpPr>
          <p:cNvPr id="17" name="Rectangle 16"/>
          <p:cNvSpPr/>
          <p:nvPr/>
        </p:nvSpPr>
        <p:spPr>
          <a:xfrm>
            <a:off x="571500" y="476250"/>
            <a:ext cx="57150" cy="502890"/>
          </a:xfrm>
          <a:prstGeom prst="rect">
            <a:avLst/>
          </a:prstGeom>
          <a:solidFill>
            <a:srgbClr val="0EA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ounded Rectangle 17"/>
          <p:cNvSpPr/>
          <p:nvPr/>
        </p:nvSpPr>
        <p:spPr>
          <a:xfrm>
            <a:off x="571500" y="1483221"/>
            <a:ext cx="3492400" cy="4293542"/>
          </a:xfrm>
          <a:prstGeom prst="roundRect">
            <a:avLst>
              <a:gd name="adj" fmla="val 4363"/>
            </a:avLst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ounded Rectangle 18"/>
          <p:cNvSpPr/>
          <p:nvPr/>
        </p:nvSpPr>
        <p:spPr>
          <a:xfrm>
            <a:off x="4349650" y="1483221"/>
            <a:ext cx="3492549" cy="4293542"/>
          </a:xfrm>
          <a:prstGeom prst="roundRect">
            <a:avLst>
              <a:gd name="adj" fmla="val 4363"/>
            </a:avLst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ounded Rectangle 19"/>
          <p:cNvSpPr/>
          <p:nvPr/>
        </p:nvSpPr>
        <p:spPr>
          <a:xfrm>
            <a:off x="8127950" y="1483221"/>
            <a:ext cx="3492400" cy="4293542"/>
          </a:xfrm>
          <a:prstGeom prst="roundRect">
            <a:avLst>
              <a:gd name="adj" fmla="val 4363"/>
            </a:avLst>
          </a:prstGeom>
          <a:solidFill>
            <a:srgbClr val="1614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571500" y="5767238"/>
            <a:ext cx="3492400" cy="9525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571500" y="1483221"/>
            <a:ext cx="3492400" cy="381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571500" y="1483221"/>
            <a:ext cx="9525" cy="4293542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4054375" y="1483221"/>
            <a:ext cx="9525" cy="4293542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ectangle 24"/>
          <p:cNvSpPr/>
          <p:nvPr/>
        </p:nvSpPr>
        <p:spPr>
          <a:xfrm>
            <a:off x="4349650" y="5767238"/>
            <a:ext cx="3492549" cy="9525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ectangle 25"/>
          <p:cNvSpPr/>
          <p:nvPr/>
        </p:nvSpPr>
        <p:spPr>
          <a:xfrm>
            <a:off x="4349650" y="1483221"/>
            <a:ext cx="3492549" cy="38100"/>
          </a:xfrm>
          <a:prstGeom prst="rect">
            <a:avLst/>
          </a:prstGeom>
          <a:solidFill>
            <a:srgbClr val="0EA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ectangle 26"/>
          <p:cNvSpPr/>
          <p:nvPr/>
        </p:nvSpPr>
        <p:spPr>
          <a:xfrm>
            <a:off x="4349650" y="1483221"/>
            <a:ext cx="9525" cy="4293542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ectangle 27"/>
          <p:cNvSpPr/>
          <p:nvPr/>
        </p:nvSpPr>
        <p:spPr>
          <a:xfrm>
            <a:off x="7832675" y="1483221"/>
            <a:ext cx="9525" cy="4293542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Rectangle 28"/>
          <p:cNvSpPr/>
          <p:nvPr/>
        </p:nvSpPr>
        <p:spPr>
          <a:xfrm>
            <a:off x="8127950" y="5767238"/>
            <a:ext cx="3492400" cy="9525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Rectangle 29"/>
          <p:cNvSpPr/>
          <p:nvPr/>
        </p:nvSpPr>
        <p:spPr>
          <a:xfrm>
            <a:off x="8127950" y="1483221"/>
            <a:ext cx="3492400" cy="38100"/>
          </a:xfrm>
          <a:prstGeom prst="rect">
            <a:avLst/>
          </a:prstGeom>
          <a:solidFill>
            <a:srgbClr val="EF44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Rectangle 30"/>
          <p:cNvSpPr/>
          <p:nvPr/>
        </p:nvSpPr>
        <p:spPr>
          <a:xfrm>
            <a:off x="8127950" y="1483221"/>
            <a:ext cx="9525" cy="4293542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Rectangle 31"/>
          <p:cNvSpPr/>
          <p:nvPr/>
        </p:nvSpPr>
        <p:spPr>
          <a:xfrm>
            <a:off x="11610826" y="1483221"/>
            <a:ext cx="9525" cy="4293542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3" name="Picture 32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9150" y="1776561"/>
            <a:ext cx="171450" cy="171450"/>
          </a:xfrm>
          <a:prstGeom prst="rect">
            <a:avLst/>
          </a:prstGeom>
        </p:spPr>
      </p:pic>
      <p:pic>
        <p:nvPicPr>
          <p:cNvPr id="34" name="Picture 33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97300" y="1776561"/>
            <a:ext cx="152400" cy="171450"/>
          </a:xfrm>
          <a:prstGeom prst="rect">
            <a:avLst/>
          </a:prstGeom>
        </p:spPr>
      </p:pic>
      <p:pic>
        <p:nvPicPr>
          <p:cNvPr id="35" name="Picture 34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375600" y="1776561"/>
            <a:ext cx="171450" cy="171450"/>
          </a:xfrm>
          <a:prstGeom prst="rect">
            <a:avLst/>
          </a:prstGeom>
        </p:spPr>
      </p:pic>
      <p:sp>
        <p:nvSpPr>
          <p:cNvPr id="36" name="TextBox 35"/>
          <p:cNvSpPr txBox="1"/>
          <p:nvPr/>
        </p:nvSpPr>
        <p:spPr>
          <a:xfrm>
            <a:off x="762000" y="476250"/>
            <a:ext cx="11430000" cy="50289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3959"/>
              </a:lnSpc>
            </a:pPr>
            <a:r>
              <a:rPr sz="3300" b="1" i="0" u="none">
                <a:solidFill>
                  <a:srgbClr val="F8FAFC"/>
                </a:solidFill>
                <a:latin typeface="Inter"/>
              </a:rPr>
              <a:t>VALIDATION, DEFINITION OF DONE &amp; RISKS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-404812" y="6014888"/>
            <a:ext cx="13001625" cy="24378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ts val="1920"/>
              </a:lnSpc>
            </a:pPr>
            <a:r>
              <a:rPr sz="1200" b="1" i="0" u="none">
                <a:solidFill>
                  <a:srgbClr val="10B981"/>
                </a:solidFill>
                <a:latin typeface="Inter"/>
              </a:rPr>
              <a:t>Sprint 3 Outcome:</a:t>
            </a:r>
            <a:r>
              <a:rPr sz="1200" b="0" i="0" u="none">
                <a:solidFill>
                  <a:srgbClr val="10B981"/>
                </a:solidFill>
                <a:latin typeface="Inter"/>
              </a:rPr>
              <a:t> Auditable data lineage, reliable orchestration, and analytics-ready data—with all remaining gaps reported transparently.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181100" y="1759446"/>
            <a:ext cx="3553647" cy="20568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>
              <a:lnSpc>
                <a:spcPts val="1620"/>
              </a:lnSpc>
            </a:pPr>
            <a:r>
              <a:rPr sz="1350" b="1" i="0" u="none">
                <a:solidFill>
                  <a:srgbClr val="F8FAFC"/>
                </a:solidFill>
                <a:latin typeface="Inter"/>
              </a:rPr>
              <a:t>Validation Checklist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940200" y="1759446"/>
            <a:ext cx="3573845" cy="20568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>
              <a:lnSpc>
                <a:spcPts val="1620"/>
              </a:lnSpc>
            </a:pPr>
            <a:r>
              <a:rPr sz="1350" b="1" i="0" u="none">
                <a:solidFill>
                  <a:srgbClr val="F8FAFC"/>
                </a:solidFill>
                <a:latin typeface="Inter"/>
              </a:rPr>
              <a:t>Definition of Done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737550" y="1759446"/>
            <a:ext cx="3454449" cy="20568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>
              <a:lnSpc>
                <a:spcPts val="1620"/>
              </a:lnSpc>
            </a:pPr>
            <a:r>
              <a:rPr sz="1350" b="1" i="0" u="none">
                <a:solidFill>
                  <a:srgbClr val="F8FAFC"/>
                </a:solidFill>
                <a:latin typeface="Inter"/>
              </a:rPr>
              <a:t>Risks Requiring Closure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152525" y="2108001"/>
            <a:ext cx="2758975" cy="5485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sz="1350" b="0" i="0" u="none">
                <a:solidFill>
                  <a:srgbClr val="94A3B8"/>
                </a:solidFill>
                <a:latin typeface="Inter"/>
              </a:rPr>
              <a:t>Source-to-target row counts reconcile.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152525" y="2847082"/>
            <a:ext cx="3413000" cy="27429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sz="1350" b="0" i="0" u="none">
                <a:solidFill>
                  <a:srgbClr val="94A3B8"/>
                </a:solidFill>
                <a:latin typeface="Inter"/>
              </a:rPr>
              <a:t>Key and null constraints pass.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152525" y="3311872"/>
            <a:ext cx="3413000" cy="27429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sz="1350" b="0" i="0" u="none">
                <a:solidFill>
                  <a:srgbClr val="94A3B8"/>
                </a:solidFill>
                <a:latin typeface="Inter"/>
              </a:rPr>
              <a:t>Dimensions load before facts.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152525" y="3776662"/>
            <a:ext cx="2758975" cy="5485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sz="1350" b="0" i="0" u="none">
                <a:solidFill>
                  <a:srgbClr val="94A3B8"/>
                </a:solidFill>
                <a:latin typeface="Inter"/>
              </a:rPr>
              <a:t>Reporting totals match warehouse queries.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152525" y="4515742"/>
            <a:ext cx="2758975" cy="5485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sz="1350" b="0" i="0" u="none">
                <a:solidFill>
                  <a:srgbClr val="94A3B8"/>
                </a:solidFill>
                <a:latin typeface="Inter"/>
              </a:rPr>
              <a:t>Failed records are logged and explainable.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4930675" y="2108001"/>
            <a:ext cx="2759124" cy="5485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sz="1350" b="0" i="0" u="none">
                <a:solidFill>
                  <a:srgbClr val="94A3B8"/>
                </a:solidFill>
                <a:latin typeface="Inter"/>
              </a:rPr>
              <a:t>Lineage and mapping docs reviewed.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4930675" y="2847082"/>
            <a:ext cx="2759124" cy="5485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sz="1350" b="0" i="0" u="none">
                <a:solidFill>
                  <a:srgbClr val="94A3B8"/>
                </a:solidFill>
                <a:latin typeface="Inter"/>
              </a:rPr>
              <a:t>Pentaho job dependency resolved.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4930675" y="3586162"/>
            <a:ext cx="2759124" cy="5485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sz="1350" b="0" i="0" u="none">
                <a:solidFill>
                  <a:srgbClr val="94A3B8"/>
                </a:solidFill>
                <a:latin typeface="Inter"/>
              </a:rPr>
              <a:t>SQL KPIs validated against warehouse.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4930675" y="4325242"/>
            <a:ext cx="3413187" cy="27429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sz="1350" b="0" i="0" u="none">
                <a:solidFill>
                  <a:srgbClr val="94A3B8"/>
                </a:solidFill>
                <a:latin typeface="Inter"/>
              </a:rPr>
              <a:t>Power BI dashboard connected.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4930675" y="4790033"/>
            <a:ext cx="2759124" cy="5485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sz="1350" b="0" i="0" u="none">
                <a:solidFill>
                  <a:srgbClr val="94A3B8"/>
                </a:solidFill>
                <a:latin typeface="Inter"/>
              </a:rPr>
              <a:t>Test evidence and Git updates committed.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8708975" y="2108001"/>
            <a:ext cx="2758975" cy="5485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sz="1350" b="0" i="0" u="none">
                <a:solidFill>
                  <a:srgbClr val="94A3B8"/>
                </a:solidFill>
                <a:latin typeface="Inter"/>
              </a:rPr>
              <a:t>Missing loading_dimensions.ktr.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8708975" y="2847082"/>
            <a:ext cx="2758975" cy="82287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sz="1350" b="0" i="0" u="none">
                <a:solidFill>
                  <a:srgbClr val="94A3B8"/>
                </a:solidFill>
                <a:latin typeface="Inter"/>
              </a:rPr>
              <a:t>Schema/key mismatches preventing reliable cross-domain reconciliation.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8708975" y="3860452"/>
            <a:ext cx="2758975" cy="5485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sz="1350" b="0" i="0" u="none">
                <a:solidFill>
                  <a:srgbClr val="94A3B8"/>
                </a:solidFill>
                <a:latin typeface="Inter"/>
              </a:rPr>
              <a:t>No complete meter-to-billing join evidenced.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8708975" y="4599533"/>
            <a:ext cx="2758975" cy="5485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sz="1350" b="0" i="0" u="none">
                <a:solidFill>
                  <a:srgbClr val="94A3B8"/>
                </a:solidFill>
                <a:latin typeface="Inter"/>
              </a:rPr>
              <a:t>Dashboard deployment unvalidated.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1950839"/>
            <a:ext cx="3492400" cy="3840212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49650" y="1950839"/>
            <a:ext cx="3492549" cy="3840212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127950" y="1950839"/>
            <a:ext cx="3492400" cy="3840212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936700" y="2341364"/>
            <a:ext cx="762000" cy="7620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794228" y="3293864"/>
            <a:ext cx="3046943" cy="3199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ts val="2520"/>
              </a:lnSpc>
            </a:pPr>
            <a:r>
              <a:rPr sz="2100" b="0" i="0" u="none" dirty="0">
                <a:solidFill>
                  <a:srgbClr val="F8FAFC"/>
                </a:solidFill>
                <a:latin typeface="Inter SemiBold"/>
              </a:rPr>
              <a:t>Perseus Mistry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6775" y="3661469"/>
            <a:ext cx="2901850" cy="21327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1679"/>
              </a:lnSpc>
            </a:pPr>
            <a:r>
              <a:rPr sz="1050" b="0" i="0" u="none" dirty="0">
                <a:solidFill>
                  <a:srgbClr val="0EA5E9"/>
                </a:solidFill>
                <a:latin typeface="Inter"/>
              </a:rPr>
              <a:t>26MML1027</a:t>
            </a:r>
          </a:p>
        </p:txBody>
      </p:sp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714851" y="2341364"/>
            <a:ext cx="762000" cy="76200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4572375" y="3293864"/>
            <a:ext cx="3047099" cy="3199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ts val="2520"/>
              </a:lnSpc>
            </a:pPr>
            <a:r>
              <a:rPr sz="2100" b="0" i="0" u="none">
                <a:solidFill>
                  <a:srgbClr val="F8FAFC"/>
                </a:solidFill>
                <a:latin typeface="Inter SemiBold"/>
              </a:rPr>
              <a:t>Sai Skanda U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44925" y="3661469"/>
            <a:ext cx="2901999" cy="21327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1679"/>
              </a:lnSpc>
            </a:pPr>
            <a:r>
              <a:rPr sz="1050" b="0" i="0" u="none">
                <a:solidFill>
                  <a:srgbClr val="10B981"/>
                </a:solidFill>
                <a:latin typeface="Inter"/>
              </a:rPr>
              <a:t>26MML1014</a:t>
            </a:r>
          </a:p>
        </p:txBody>
      </p:sp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493150" y="2341364"/>
            <a:ext cx="762000" cy="76200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8350679" y="3293864"/>
            <a:ext cx="3046943" cy="3199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ts val="2520"/>
              </a:lnSpc>
            </a:pPr>
            <a:r>
              <a:rPr sz="2100" b="0" i="0" u="none">
                <a:solidFill>
                  <a:srgbClr val="F8FAFC"/>
                </a:solidFill>
                <a:latin typeface="Inter SemiBold"/>
              </a:rPr>
              <a:t>Jaikrishna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423225" y="3661469"/>
            <a:ext cx="2901850" cy="21327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1679"/>
              </a:lnSpc>
            </a:pPr>
            <a:r>
              <a:rPr sz="1050" b="0" i="0" u="none">
                <a:solidFill>
                  <a:srgbClr val="0EA5E9"/>
                </a:solidFill>
                <a:latin typeface="Inter"/>
              </a:rPr>
              <a:t>26MML1003</a:t>
            </a:r>
          </a:p>
        </p:txBody>
      </p:sp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2165300" y="2550914"/>
            <a:ext cx="304800" cy="342900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866775" y="4112865"/>
            <a:ext cx="2901850" cy="274290"/>
          </a:xfrm>
          <a:prstGeom prst="rect">
            <a:avLst/>
          </a:prstGeom>
          <a:noFill/>
        </p:spPr>
        <p:txBody>
          <a:bodyPr wrap="square" lIns="161925" tIns="0" rIns="0" bIns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sz="1350" b="0" i="0" u="none" dirty="0">
                <a:solidFill>
                  <a:srgbClr val="94A3B8"/>
                </a:solidFill>
                <a:latin typeface="Inter"/>
              </a:rPr>
              <a:t>Handling Documentation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66775" y="4482405"/>
            <a:ext cx="2901850" cy="274290"/>
          </a:xfrm>
          <a:prstGeom prst="rect">
            <a:avLst/>
          </a:prstGeom>
          <a:noFill/>
        </p:spPr>
        <p:txBody>
          <a:bodyPr wrap="square" lIns="161925" tIns="0" rIns="0" bIns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sz="1350" b="0" i="0" u="none">
                <a:solidFill>
                  <a:srgbClr val="94A3B8"/>
                </a:solidFill>
                <a:latin typeface="Inter"/>
              </a:rPr>
              <a:t>GitHub Repository Mgmt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66775" y="4851945"/>
            <a:ext cx="2901850" cy="548580"/>
          </a:xfrm>
          <a:prstGeom prst="rect">
            <a:avLst/>
          </a:prstGeom>
          <a:noFill/>
        </p:spPr>
        <p:txBody>
          <a:bodyPr wrap="square" lIns="161925" tIns="0" rIns="0" bIns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sz="1350" b="0" i="0" u="none">
                <a:solidFill>
                  <a:srgbClr val="94A3B8"/>
                </a:solidFill>
                <a:latin typeface="Inter"/>
              </a:rPr>
              <a:t>Pentaho Transformation Debugging/Supervising</a:t>
            </a:r>
          </a:p>
        </p:txBody>
      </p:sp>
      <p:pic>
        <p:nvPicPr>
          <p:cNvPr id="19" name="Picture 18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881538" y="2550914"/>
            <a:ext cx="428625" cy="342900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4644925" y="4112865"/>
            <a:ext cx="2901999" cy="274290"/>
          </a:xfrm>
          <a:prstGeom prst="rect">
            <a:avLst/>
          </a:prstGeom>
          <a:noFill/>
        </p:spPr>
        <p:txBody>
          <a:bodyPr wrap="square" lIns="161925" tIns="0" rIns="0" bIns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sz="1350" b="0" i="0" u="none">
                <a:solidFill>
                  <a:srgbClr val="94A3B8"/>
                </a:solidFill>
                <a:latin typeface="Inter"/>
              </a:rPr>
              <a:t>Finding Datasets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644925" y="4482405"/>
            <a:ext cx="2901999" cy="274290"/>
          </a:xfrm>
          <a:prstGeom prst="rect">
            <a:avLst/>
          </a:prstGeom>
          <a:noFill/>
        </p:spPr>
        <p:txBody>
          <a:bodyPr wrap="square" lIns="161925" tIns="0" rIns="0" bIns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sz="1350" b="0" i="0" u="none">
                <a:solidFill>
                  <a:srgbClr val="94A3B8"/>
                </a:solidFill>
                <a:latin typeface="Inter"/>
              </a:rPr>
              <a:t>Pentaho Transformations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644925" y="4851945"/>
            <a:ext cx="2901999" cy="548580"/>
          </a:xfrm>
          <a:prstGeom prst="rect">
            <a:avLst/>
          </a:prstGeom>
          <a:noFill/>
        </p:spPr>
        <p:txBody>
          <a:bodyPr wrap="square" lIns="161925" tIns="0" rIns="0" bIns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sz="1350" b="0" i="0" u="none">
                <a:solidFill>
                  <a:srgbClr val="94A3B8"/>
                </a:solidFill>
                <a:latin typeface="Inter"/>
              </a:rPr>
              <a:t>Mapping Data Sources (Documentation)</a:t>
            </a:r>
          </a:p>
        </p:txBody>
      </p:sp>
      <p:pic>
        <p:nvPicPr>
          <p:cNvPr id="23" name="Picture 22" descr="image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9721750" y="2550914"/>
            <a:ext cx="304800" cy="342900"/>
          </a:xfrm>
          <a:prstGeom prst="rect">
            <a:avLst/>
          </a:prstGeom>
        </p:spPr>
      </p:pic>
      <p:sp>
        <p:nvSpPr>
          <p:cNvPr id="24" name="TextBox 23"/>
          <p:cNvSpPr txBox="1"/>
          <p:nvPr/>
        </p:nvSpPr>
        <p:spPr>
          <a:xfrm>
            <a:off x="8423225" y="4112865"/>
            <a:ext cx="2901850" cy="274290"/>
          </a:xfrm>
          <a:prstGeom prst="rect">
            <a:avLst/>
          </a:prstGeom>
          <a:noFill/>
        </p:spPr>
        <p:txBody>
          <a:bodyPr wrap="square" lIns="161925" tIns="0" rIns="0" bIns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sz="1350" b="0" i="0" u="none">
                <a:solidFill>
                  <a:srgbClr val="94A3B8"/>
                </a:solidFill>
                <a:latin typeface="Inter"/>
              </a:rPr>
              <a:t>Finding Datasets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423225" y="4482405"/>
            <a:ext cx="2901850" cy="274290"/>
          </a:xfrm>
          <a:prstGeom prst="rect">
            <a:avLst/>
          </a:prstGeom>
          <a:noFill/>
        </p:spPr>
        <p:txBody>
          <a:bodyPr wrap="square" lIns="161925" tIns="0" rIns="0" bIns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sz="1350" b="0" i="0" u="none">
                <a:solidFill>
                  <a:srgbClr val="94A3B8"/>
                </a:solidFill>
                <a:latin typeface="Inter"/>
              </a:rPr>
              <a:t>Pentaho Transformations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423225" y="4851945"/>
            <a:ext cx="2901850" cy="274290"/>
          </a:xfrm>
          <a:prstGeom prst="rect">
            <a:avLst/>
          </a:prstGeom>
          <a:noFill/>
        </p:spPr>
        <p:txBody>
          <a:bodyPr wrap="square" lIns="161925" tIns="0" rIns="0" bIns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sz="1350" b="0" i="0" u="none">
                <a:solidFill>
                  <a:srgbClr val="94A3B8"/>
                </a:solidFill>
                <a:latin typeface="Inter"/>
              </a:rPr>
              <a:t>Pentaho Jobs Integration</a:t>
            </a:r>
          </a:p>
        </p:txBody>
      </p:sp>
      <p:pic>
        <p:nvPicPr>
          <p:cNvPr id="27" name="Picture 26" descr="image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866775" y="4155727"/>
            <a:ext cx="85725" cy="180975"/>
          </a:xfrm>
          <a:prstGeom prst="rect">
            <a:avLst/>
          </a:prstGeom>
        </p:spPr>
      </p:pic>
      <p:pic>
        <p:nvPicPr>
          <p:cNvPr id="28" name="Picture 27" descr="image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866775" y="4525267"/>
            <a:ext cx="85725" cy="180975"/>
          </a:xfrm>
          <a:prstGeom prst="rect">
            <a:avLst/>
          </a:prstGeom>
        </p:spPr>
      </p:pic>
      <p:pic>
        <p:nvPicPr>
          <p:cNvPr id="29" name="Picture 28" descr="image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866775" y="4894808"/>
            <a:ext cx="85725" cy="180975"/>
          </a:xfrm>
          <a:prstGeom prst="rect">
            <a:avLst/>
          </a:prstGeom>
        </p:spPr>
      </p:pic>
      <p:pic>
        <p:nvPicPr>
          <p:cNvPr id="30" name="Picture 29" descr="image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4644925" y="4155727"/>
            <a:ext cx="85725" cy="180975"/>
          </a:xfrm>
          <a:prstGeom prst="rect">
            <a:avLst/>
          </a:prstGeom>
        </p:spPr>
      </p:pic>
      <p:pic>
        <p:nvPicPr>
          <p:cNvPr id="31" name="Picture 30" descr="image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4644925" y="4525267"/>
            <a:ext cx="85725" cy="180975"/>
          </a:xfrm>
          <a:prstGeom prst="rect">
            <a:avLst/>
          </a:prstGeom>
        </p:spPr>
      </p:pic>
      <p:pic>
        <p:nvPicPr>
          <p:cNvPr id="32" name="Picture 31" descr="image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4644925" y="4894808"/>
            <a:ext cx="85725" cy="180975"/>
          </a:xfrm>
          <a:prstGeom prst="rect">
            <a:avLst/>
          </a:prstGeom>
        </p:spPr>
      </p:pic>
      <p:pic>
        <p:nvPicPr>
          <p:cNvPr id="33" name="Picture 32" descr="image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8423225" y="4155727"/>
            <a:ext cx="85725" cy="180975"/>
          </a:xfrm>
          <a:prstGeom prst="rect">
            <a:avLst/>
          </a:prstGeom>
        </p:spPr>
      </p:pic>
      <p:pic>
        <p:nvPicPr>
          <p:cNvPr id="34" name="Picture 33" descr="image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8423225" y="4525267"/>
            <a:ext cx="85725" cy="180975"/>
          </a:xfrm>
          <a:prstGeom prst="rect">
            <a:avLst/>
          </a:prstGeom>
        </p:spPr>
      </p:pic>
      <p:pic>
        <p:nvPicPr>
          <p:cNvPr id="35" name="Picture 34" descr="image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8423225" y="4894808"/>
            <a:ext cx="85725" cy="180975"/>
          </a:xfrm>
          <a:prstGeom prst="rect">
            <a:avLst/>
          </a:prstGeom>
        </p:spPr>
      </p:pic>
      <p:sp>
        <p:nvSpPr>
          <p:cNvPr id="36" name="TextBox 35"/>
          <p:cNvSpPr txBox="1"/>
          <p:nvPr/>
        </p:nvSpPr>
        <p:spPr>
          <a:xfrm>
            <a:off x="762000" y="476250"/>
            <a:ext cx="11401425" cy="50289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3959"/>
              </a:lnSpc>
            </a:pPr>
            <a:r>
              <a:rPr sz="3300" b="1" i="0" u="none">
                <a:solidFill>
                  <a:srgbClr val="F8FAFC"/>
                </a:solidFill>
                <a:latin typeface="Inter"/>
              </a:rPr>
              <a:t>TEAM CONTRIBUTIONS</a:t>
            </a:r>
          </a:p>
        </p:txBody>
      </p:sp>
      <p:sp>
        <p:nvSpPr>
          <p:cNvPr id="37" name="Rectangle 36"/>
          <p:cNvSpPr/>
          <p:nvPr/>
        </p:nvSpPr>
        <p:spPr>
          <a:xfrm>
            <a:off x="571500" y="476250"/>
            <a:ext cx="57150" cy="502890"/>
          </a:xfrm>
          <a:prstGeom prst="rect">
            <a:avLst/>
          </a:prstGeom>
          <a:solidFill>
            <a:srgbClr val="0EA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  <p:extLst>
      <p:ext uri="{BB962C8B-B14F-4D97-AF65-F5344CB8AC3E}">
        <p14:creationId xmlns:p14="http://schemas.microsoft.com/office/powerpoint/2010/main" val="127991233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76400" y="4323417"/>
            <a:ext cx="8839200" cy="857250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67400" y="942042"/>
            <a:ext cx="457200" cy="4572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080748" y="1684992"/>
            <a:ext cx="4030503" cy="9239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6000" b="1" i="0" u="none">
                <a:solidFill>
                  <a:srgbClr val="F8FAFC"/>
                </a:solidFill>
                <a:latin typeface="Inter"/>
              </a:rPr>
              <a:t>Thank You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595687" y="2799417"/>
            <a:ext cx="5000625" cy="3238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2100" b="0" i="0" u="none">
                <a:solidFill>
                  <a:srgbClr val="10B981"/>
                </a:solidFill>
                <a:latin typeface="Inter Medium"/>
              </a:rPr>
              <a:t>Enterprise Energy Data Platform (EEDP)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605337" y="3504267"/>
            <a:ext cx="2981325" cy="2476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650" b="0" i="0" u="none">
                <a:solidFill>
                  <a:srgbClr val="94A3B8"/>
                </a:solidFill>
                <a:latin typeface="Inter"/>
              </a:rPr>
              <a:t>We are open to any questions.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676400" y="4841662"/>
            <a:ext cx="2692300" cy="4667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200" b="0" i="0" u="none">
                <a:solidFill>
                  <a:srgbClr val="0EA5E9"/>
                </a:solidFill>
                <a:latin typeface="Inter Medium"/>
              </a:rPr>
              <a:t>26MML1003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749700" y="4841662"/>
            <a:ext cx="2692449" cy="4667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200" b="0" i="0" u="none">
                <a:solidFill>
                  <a:srgbClr val="0EA5E9"/>
                </a:solidFill>
                <a:latin typeface="Inter Medium"/>
              </a:rPr>
              <a:t>26MML1014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823150" y="4841662"/>
            <a:ext cx="2692300" cy="4667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200" b="0" i="0" u="none">
                <a:solidFill>
                  <a:srgbClr val="0EA5E9"/>
                </a:solidFill>
                <a:latin typeface="Inter Medium"/>
              </a:rPr>
              <a:t>26MML1027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09243" y="4613929"/>
            <a:ext cx="2826915" cy="2000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350" b="0" i="0" u="none" dirty="0">
                <a:solidFill>
                  <a:srgbClr val="F8FAFC"/>
                </a:solidFill>
                <a:latin typeface="Inter SemiBold"/>
              </a:rPr>
              <a:t>Jaikrishna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65906" y="4618291"/>
            <a:ext cx="2827072" cy="2000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350" b="0" i="0" u="none">
                <a:solidFill>
                  <a:srgbClr val="F8FAFC"/>
                </a:solidFill>
                <a:latin typeface="Inter SemiBold"/>
              </a:rPr>
              <a:t>Sai Skanda U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55842" y="4618291"/>
            <a:ext cx="2826915" cy="2000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350" b="0" i="0" u="none" dirty="0">
                <a:solidFill>
                  <a:srgbClr val="F8FAFC"/>
                </a:solidFill>
                <a:latin typeface="Inter SemiBold"/>
              </a:rPr>
              <a:t>Perseus Mistry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267</TotalTime>
  <Words>2430</Words>
  <Application>Microsoft Office PowerPoint</Application>
  <PresentationFormat>Widescreen</PresentationFormat>
  <Paragraphs>342</Paragraphs>
  <Slides>25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25</vt:i4>
      </vt:variant>
    </vt:vector>
  </HeadingPairs>
  <TitlesOfParts>
    <vt:vector size="32" baseType="lpstr">
      <vt:lpstr>Arial</vt:lpstr>
      <vt:lpstr>Calibri</vt:lpstr>
      <vt:lpstr>Inter</vt:lpstr>
      <vt:lpstr>Inter Medium</vt:lpstr>
      <vt:lpstr>Inter SemiBold</vt:lpstr>
      <vt:lpstr>monospace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Perseus Mistry</cp:lastModifiedBy>
  <cp:revision>17</cp:revision>
  <dcterms:created xsi:type="dcterms:W3CDTF">2013-01-27T09:14:16Z</dcterms:created>
  <dcterms:modified xsi:type="dcterms:W3CDTF">2026-10-15T17:36:51Z</dcterms:modified>
  <cp:category/>
</cp:coreProperties>
</file>