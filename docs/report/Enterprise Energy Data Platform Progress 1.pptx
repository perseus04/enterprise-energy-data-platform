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74" r:id="rId13"/>
    <p:sldId id="275" r:id="rId14"/>
    <p:sldId id="276" r:id="rId15"/>
    <p:sldId id="277" r:id="rId16"/>
    <p:sldId id="278" r:id="rId17"/>
    <p:sldId id="266" r:id="rId18"/>
    <p:sldId id="267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44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image" Target="../media/image4.png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19" Type="http://schemas.openxmlformats.org/officeDocument/2006/relationships/image" Target="../media/image32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7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74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12" Type="http://schemas.openxmlformats.org/officeDocument/2006/relationships/image" Target="../media/image7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7.pn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750" y="3811934"/>
            <a:ext cx="8572500" cy="23238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95437" y="722114"/>
            <a:ext cx="9001125" cy="21944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759"/>
              </a:lnSpc>
            </a:pPr>
            <a:r>
              <a:rPr sz="4800" b="0" i="0" u="none">
                <a:solidFill>
                  <a:srgbClr val="F8FAFC"/>
                </a:solidFill>
                <a:latin typeface="Inter ExtraBold"/>
              </a:rPr>
              <a:t>Enterprise Energy Data Platform </a:t>
            </a:r>
            <a:r>
              <a:t>
</a:t>
            </a:r>
            <a:r>
              <a:rPr sz="4800" b="0" i="0" u="none">
                <a:solidFill>
                  <a:srgbClr val="0EA5E9"/>
                </a:solidFill>
                <a:latin typeface="Inter Light"/>
              </a:rPr>
              <a:t>(EEDP)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09750" y="3107084"/>
            <a:ext cx="85725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0" i="0" u="none">
                <a:solidFill>
                  <a:srgbClr val="0EA5E9"/>
                </a:solidFill>
                <a:latin typeface="Inter Medium"/>
              </a:rPr>
              <a:t>ABC Energy Ltd.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5025" y="4107209"/>
            <a:ext cx="4040505" cy="159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1050" b="0" i="0" u="none">
                <a:solidFill>
                  <a:srgbClr val="10B981"/>
                </a:solidFill>
                <a:latin typeface="Inter SemiBold"/>
              </a:rPr>
              <a:t>CURRENT 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5025" y="4343400"/>
            <a:ext cx="3848100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F8FAFC"/>
                </a:solidFill>
                <a:latin typeface="Inter"/>
              </a:rPr>
              <a:t>Sprint 0 &amp; Sprint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8875" y="4107209"/>
            <a:ext cx="4040505" cy="159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1050" b="0" i="0" u="none">
                <a:solidFill>
                  <a:srgbClr val="10B981"/>
                </a:solidFill>
                <a:latin typeface="Inter SemiBold"/>
              </a:rPr>
              <a:t>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8875" y="4343400"/>
            <a:ext cx="3848100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F8FAFC"/>
                </a:solidFill>
                <a:latin typeface="Inter"/>
              </a:rPr>
              <a:t>Data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5025" y="4872930"/>
            <a:ext cx="4040505" cy="159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1050" b="0" i="0" u="none" dirty="0">
                <a:solidFill>
                  <a:srgbClr val="10B981"/>
                </a:solidFill>
                <a:latin typeface="Inter SemiBold"/>
              </a:rPr>
              <a:t>TEAM MEMBERS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5025" y="5109120"/>
            <a:ext cx="3848100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 dirty="0">
                <a:solidFill>
                  <a:srgbClr val="F8FAFC"/>
                </a:solidFill>
                <a:latin typeface="Inter"/>
              </a:rPr>
              <a:t>26MML1003 – Jaikrishna</a:t>
            </a:r>
            <a:r>
              <a:rPr dirty="0"/>
              <a:t>
</a:t>
            </a:r>
            <a:r>
              <a:rPr sz="1200" b="0" i="0" u="none" dirty="0">
                <a:solidFill>
                  <a:srgbClr val="F8FAFC"/>
                </a:solidFill>
                <a:latin typeface="Inter"/>
              </a:rPr>
              <a:t>26MML1014 - Sai Skanda U</a:t>
            </a:r>
            <a:r>
              <a:rPr dirty="0"/>
              <a:t>
</a:t>
            </a:r>
            <a:r>
              <a:rPr sz="1200" b="0" i="0" u="none" dirty="0">
                <a:solidFill>
                  <a:srgbClr val="F8FAFC"/>
                </a:solidFill>
                <a:latin typeface="Inter"/>
              </a:rPr>
              <a:t>26MML1027 – Perseus Mistry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8875" y="4872930"/>
            <a:ext cx="4040505" cy="159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1050" b="0" i="0" u="none">
                <a:solidFill>
                  <a:srgbClr val="10B981"/>
                </a:solidFill>
                <a:latin typeface="Inter SemiBold"/>
              </a:rPr>
              <a:t>FACULTY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8875" y="5109120"/>
            <a:ext cx="3848100" cy="243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F8FAFC"/>
                </a:solidFill>
                <a:latin typeface="Inter"/>
              </a:rPr>
              <a:t>Dr. M. Renukadevi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1965870"/>
            <a:ext cx="5238750" cy="381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1549747"/>
            <a:ext cx="5238750" cy="609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1500" b="0" i="0" u="none">
                <a:solidFill>
                  <a:srgbClr val="F8FAFC"/>
                </a:solidFill>
                <a:latin typeface="Inter"/>
              </a:rPr>
              <a:t>EEDP is a Data Engineering platform for ABC Energy Ltd., serving more than </a:t>
            </a:r>
            <a:r>
              <a:rPr sz="1500" b="0" i="0" u="none">
                <a:solidFill>
                  <a:srgbClr val="10B981"/>
                </a:solidFill>
                <a:latin typeface="Inter"/>
              </a:rPr>
              <a:t>10 million consumers</a:t>
            </a:r>
            <a:r>
              <a:rPr sz="1500" b="0" i="0" u="none">
                <a:solidFill>
                  <a:srgbClr val="F8FAFC"/>
                </a:solidFill>
                <a:latin typeface="Inter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2397472"/>
            <a:ext cx="5238750" cy="822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The project addresses the problem of fragmented enterprise energy data across multiple systems by providing a unified process for: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5734794"/>
            <a:ext cx="5238750" cy="4420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1" u="none" dirty="0">
                <a:solidFill>
                  <a:srgbClr val="94A3B8"/>
                </a:solidFill>
                <a:latin typeface="Inter"/>
              </a:rPr>
              <a:t>Note: Sprints 0 &amp; 1 focus on foundational elements. </a:t>
            </a:r>
            <a:r>
              <a:rPr lang="en-IN" sz="1125" b="0" i="1" u="none" dirty="0">
                <a:solidFill>
                  <a:srgbClr val="94A3B8"/>
                </a:solidFill>
                <a:latin typeface="Inter"/>
              </a:rPr>
              <a:t>Sprint 2 focuses on data preprocessing and st</a:t>
            </a:r>
            <a:endParaRPr sz="1125" b="0" i="1" u="none" dirty="0">
              <a:solidFill>
                <a:srgbClr val="94A3B8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04875" y="3410842"/>
            <a:ext cx="4905375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 dirty="0">
                <a:solidFill>
                  <a:srgbClr val="94A3B8"/>
                </a:solidFill>
                <a:latin typeface="Inter"/>
              </a:rPr>
              <a:t>Data Ingestion</a:t>
            </a:r>
            <a:r>
              <a:rPr sz="1350" b="0" i="0" u="none" dirty="0">
                <a:solidFill>
                  <a:srgbClr val="94A3B8"/>
                </a:solidFill>
                <a:latin typeface="Inter"/>
              </a:rPr>
              <a:t> </a:t>
            </a:r>
            <a:r>
              <a:rPr sz="1350" b="0" i="0" u="none" dirty="0">
                <a:solidFill>
                  <a:srgbClr val="10B981"/>
                </a:solidFill>
                <a:latin typeface="Inter"/>
              </a:rPr>
              <a:t>[Current Phase: Done]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4875" y="3875633"/>
            <a:ext cx="4905375" cy="257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2160"/>
              </a:lnSpc>
            </a:pPr>
            <a:r>
              <a:rPr sz="1350" b="1" i="0" u="none" dirty="0">
                <a:solidFill>
                  <a:srgbClr val="94A3B8"/>
                </a:solidFill>
                <a:latin typeface="Inter"/>
              </a:rPr>
              <a:t>Data Cleaning &amp; Validation</a:t>
            </a:r>
            <a:r>
              <a:rPr lang="en-IN" sz="1350" b="1" i="0" u="none" dirty="0">
                <a:solidFill>
                  <a:srgbClr val="94A3B8"/>
                </a:solidFill>
                <a:latin typeface="Inter"/>
              </a:rPr>
              <a:t> </a:t>
            </a:r>
            <a:r>
              <a:rPr lang="en-IN" sz="1350" dirty="0">
                <a:solidFill>
                  <a:srgbClr val="10B981"/>
                </a:solidFill>
                <a:latin typeface="Inter"/>
              </a:rPr>
              <a:t>[Current Phase: Done]</a:t>
            </a:r>
            <a:endParaRPr sz="1350" b="1" i="0" u="none" dirty="0">
              <a:solidFill>
                <a:srgbClr val="94A3B8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04875" y="4340423"/>
            <a:ext cx="4905375" cy="257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2160"/>
              </a:lnSpc>
            </a:pPr>
            <a:r>
              <a:rPr sz="1350" b="1" i="0" u="none" dirty="0">
                <a:solidFill>
                  <a:srgbClr val="94A3B8"/>
                </a:solidFill>
                <a:latin typeface="Inter"/>
              </a:rPr>
              <a:t>Data Integration</a:t>
            </a:r>
            <a:r>
              <a:rPr lang="en-IN" sz="1350" b="1" i="0" u="none" dirty="0">
                <a:solidFill>
                  <a:srgbClr val="94A3B8"/>
                </a:solidFill>
                <a:latin typeface="Inter"/>
              </a:rPr>
              <a:t> </a:t>
            </a:r>
            <a:r>
              <a:rPr lang="en-IN" sz="1350" dirty="0">
                <a:solidFill>
                  <a:srgbClr val="10B981"/>
                </a:solidFill>
                <a:latin typeface="Inter"/>
              </a:rPr>
              <a:t>[Current Phase: Done]</a:t>
            </a:r>
            <a:endParaRPr sz="1350" b="1" i="0" u="none" dirty="0">
              <a:solidFill>
                <a:srgbClr val="94A3B8"/>
              </a:solidFill>
              <a:latin typeface="Inte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04875" y="4805213"/>
            <a:ext cx="4905375" cy="2573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2160"/>
              </a:lnSpc>
            </a:pPr>
            <a:r>
              <a:rPr sz="1350" b="1" i="0" u="none" dirty="0">
                <a:solidFill>
                  <a:srgbClr val="94A3B8"/>
                </a:solidFill>
                <a:latin typeface="Inter"/>
              </a:rPr>
              <a:t>Data Storage</a:t>
            </a:r>
            <a:r>
              <a:rPr lang="en-IN" sz="1350" b="1" i="0" u="none" dirty="0">
                <a:solidFill>
                  <a:srgbClr val="94A3B8"/>
                </a:solidFill>
                <a:latin typeface="Inter"/>
              </a:rPr>
              <a:t> </a:t>
            </a:r>
            <a:r>
              <a:rPr lang="en-IN" sz="1350" dirty="0">
                <a:solidFill>
                  <a:srgbClr val="10B981"/>
                </a:solidFill>
                <a:latin typeface="Inter"/>
              </a:rPr>
              <a:t>[Current Phase: Done]</a:t>
            </a:r>
            <a:endParaRPr sz="1350" b="1" i="0" u="none" dirty="0">
              <a:solidFill>
                <a:srgbClr val="94A3B8"/>
              </a:solidFill>
              <a:latin typeface="Inte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04875" y="5270003"/>
            <a:ext cx="4905375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94A3B8"/>
                </a:solidFill>
                <a:latin typeface="Inter"/>
              </a:rPr>
              <a:t>Analytics &amp; Reporting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275" y="1975395"/>
            <a:ext cx="5219700" cy="37909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2000" y="476250"/>
            <a:ext cx="11401425" cy="50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Inter"/>
              </a:rPr>
              <a:t>PROJECT OVERVIEW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1500" y="476250"/>
            <a:ext cx="57150" cy="50289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429892"/>
            <a:ext cx="114300" cy="20002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894683"/>
            <a:ext cx="114300" cy="20002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359473"/>
            <a:ext cx="114300" cy="20002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824263"/>
            <a:ext cx="114300" cy="20002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5289053"/>
            <a:ext cx="114300" cy="2000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690" y="1221178"/>
            <a:ext cx="5238750" cy="559459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940" y="1221178"/>
            <a:ext cx="5238750" cy="5594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43025" y="1750665"/>
            <a:ext cx="4280535" cy="319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520"/>
              </a:lnSpc>
            </a:pPr>
            <a:r>
              <a:rPr sz="2100" b="0" i="0" u="none">
                <a:solidFill>
                  <a:srgbClr val="0EA5E9"/>
                </a:solidFill>
                <a:latin typeface="Inter SemiBold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025" y="2345189"/>
            <a:ext cx="4457700" cy="822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 dirty="0">
                <a:solidFill>
                  <a:srgbClr val="F8FAFC"/>
                </a:solidFill>
                <a:latin typeface="Inter"/>
              </a:rPr>
              <a:t>ABC Energy generates large volumes of data distributed across heterogeneous, independent sources.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53275" y="1750665"/>
            <a:ext cx="4280535" cy="319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ts val="2520"/>
              </a:lnSpc>
            </a:pPr>
            <a:r>
              <a:rPr sz="2100" b="0" i="0" u="none">
                <a:solidFill>
                  <a:srgbClr val="10B981"/>
                </a:solidFill>
                <a:latin typeface="Inter SemiBold"/>
              </a:rPr>
              <a:t>The Need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2275" y="2408122"/>
            <a:ext cx="4457700" cy="1257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75"/>
              </a:lnSpc>
            </a:pPr>
            <a:r>
              <a:rPr sz="1650" b="0" i="0" u="none" dirty="0">
                <a:solidFill>
                  <a:srgbClr val="F8FAFC"/>
                </a:solidFill>
                <a:latin typeface="Inter"/>
              </a:rPr>
              <a:t>ABC Energy requires a </a:t>
            </a:r>
            <a:r>
              <a:rPr sz="1650" b="0" i="0" u="none" dirty="0">
                <a:solidFill>
                  <a:srgbClr val="0EA5E9"/>
                </a:solidFill>
                <a:latin typeface="Inter"/>
              </a:rPr>
              <a:t>centralized Data Engineering platform</a:t>
            </a:r>
            <a:r>
              <a:rPr sz="1650" b="0" i="0" u="none" dirty="0">
                <a:solidFill>
                  <a:srgbClr val="F8FAFC"/>
                </a:solidFill>
                <a:latin typeface="Inter"/>
              </a:rPr>
              <a:t> capable of integrating, validating, and preparing enterprise data for reliable analytics and decision-making.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025" y="1777305"/>
            <a:ext cx="266700" cy="2667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95400" y="3417391"/>
            <a:ext cx="4124325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Data exists in different formats and structures.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400" y="3882181"/>
            <a:ext cx="4124325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No unified view of enterprise information.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400" y="4346971"/>
            <a:ext cx="41243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Data contains missing, invalid, or duplicate records.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400" y="4811762"/>
            <a:ext cx="41243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 dirty="0">
                <a:solidFill>
                  <a:srgbClr val="94A3B8"/>
                </a:solidFill>
                <a:latin typeface="Inter"/>
              </a:rPr>
              <a:t>Difficult to integrate information from diverse systems.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5400" y="5254695"/>
            <a:ext cx="41243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 dirty="0">
                <a:solidFill>
                  <a:srgbClr val="94A3B8"/>
                </a:solidFill>
                <a:latin typeface="Inter"/>
              </a:rPr>
              <a:t>Manual preparation increases effort and reduces consistency.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2275" y="1777305"/>
            <a:ext cx="266700" cy="2667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0050" y="4157932"/>
            <a:ext cx="533400" cy="6096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91575" y="4424632"/>
            <a:ext cx="266700" cy="3048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96400" y="4157932"/>
            <a:ext cx="685800" cy="609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58190" y="337288"/>
            <a:ext cx="11401425" cy="50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Inter"/>
              </a:rPr>
              <a:t>BUSINESS PROBLEM &amp; NEED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500" y="359144"/>
            <a:ext cx="57150" cy="50289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2025" y="3436441"/>
            <a:ext cx="190500" cy="20002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2025" y="3901231"/>
            <a:ext cx="190500" cy="20002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2025" y="4366021"/>
            <a:ext cx="190500" cy="200025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2025" y="4830812"/>
            <a:ext cx="190500" cy="200025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2025" y="5295603"/>
            <a:ext cx="190500" cy="2000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2034629"/>
            <a:ext cx="11049000" cy="335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F8FAFC"/>
                </a:solidFill>
                <a:latin typeface="Inter"/>
              </a:rPr>
              <a:t>To solve the fragmented data challenge, the EEDP must deliver on the following core requirements: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4875" y="2750790"/>
            <a:ext cx="49053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0EA5E9"/>
                </a:solidFill>
                <a:latin typeface="Inter"/>
              </a:rPr>
              <a:t>Integrate Sources: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Bring relevant enterprise data sources into a common platform.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4875" y="3489870"/>
            <a:ext cx="49053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0EA5E9"/>
                </a:solidFill>
                <a:latin typeface="Inter"/>
              </a:rPr>
              <a:t>Standardize: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Provide standardized and validated data for downstream applications.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4875" y="4228951"/>
            <a:ext cx="49053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0EA5E9"/>
                </a:solidFill>
                <a:latin typeface="Inter"/>
              </a:rPr>
              <a:t>Define Fields: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Maintain clear definitions and meanings for important data fields.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875" y="4968031"/>
            <a:ext cx="49053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0EA5E9"/>
                </a:solidFill>
                <a:latin typeface="Inter"/>
              </a:rPr>
              <a:t>Map Lineage: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Maintain source-to-target mappings for data integration.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15125" y="2750790"/>
            <a:ext cx="49053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0EA5E9"/>
                </a:solidFill>
                <a:latin typeface="Inter"/>
              </a:rPr>
              <a:t>Traceability: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Provide complete traceability across the data pipeline.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15125" y="3489870"/>
            <a:ext cx="49053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0EA5E9"/>
                </a:solidFill>
                <a:latin typeface="Inter"/>
              </a:rPr>
              <a:t>Centralized Storage: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Provide reliable storage for processed enterprise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15125" y="4228951"/>
            <a:ext cx="49053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0EA5E9"/>
                </a:solidFill>
                <a:latin typeface="Inter"/>
              </a:rPr>
              <a:t>Enable Reporting: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Support reliable reporting and analytics dashboards.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15125" y="4968031"/>
            <a:ext cx="49053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0EA5E9"/>
                </a:solidFill>
                <a:latin typeface="Inter"/>
              </a:rPr>
              <a:t>Future-Proof: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Establish a foundation for future energy-data use cases.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476250"/>
            <a:ext cx="11401425" cy="50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Inter"/>
              </a:rPr>
              <a:t>BUSINESS REQUIREMENTS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476250"/>
            <a:ext cx="57150" cy="50289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769840"/>
            <a:ext cx="190500" cy="20002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508920"/>
            <a:ext cx="190500" cy="20002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248001"/>
            <a:ext cx="190500" cy="20002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987081"/>
            <a:ext cx="190500" cy="20002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2769840"/>
            <a:ext cx="190500" cy="20002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3508920"/>
            <a:ext cx="190500" cy="200025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4248001"/>
            <a:ext cx="190500" cy="200025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0" y="4987081"/>
            <a:ext cx="190500" cy="2000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419225"/>
            <a:ext cx="3492400" cy="230877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650" y="1419225"/>
            <a:ext cx="3492549" cy="230877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7950" y="1419225"/>
            <a:ext cx="3492400" cy="230877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4013745"/>
            <a:ext cx="3492400" cy="230877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9650" y="4013745"/>
            <a:ext cx="3492549" cy="230877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7950" y="4013745"/>
            <a:ext cx="3492400" cy="230877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6775" y="1714500"/>
            <a:ext cx="476250" cy="47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6775" y="2381250"/>
            <a:ext cx="3046943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0" i="0" u="none">
                <a:solidFill>
                  <a:srgbClr val="F8FAFC"/>
                </a:solidFill>
                <a:latin typeface="Inter SemiBold"/>
              </a:rPr>
              <a:t>Identify &amp; 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6775" y="2746920"/>
            <a:ext cx="29018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 dirty="0">
                <a:solidFill>
                  <a:srgbClr val="94A3B8"/>
                </a:solidFill>
                <a:latin typeface="Inter"/>
              </a:rPr>
              <a:t>Identify relevant enterprise sources, understand structures, and perform deep data profiling and quality analysis.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44925" y="1714500"/>
            <a:ext cx="476250" cy="4762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44925" y="2381250"/>
            <a:ext cx="3047099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0" i="0" u="none">
                <a:solidFill>
                  <a:srgbClr val="F8FAFC"/>
                </a:solidFill>
                <a:latin typeface="Inter SemiBold"/>
              </a:rPr>
              <a:t>Clean &amp; Standardize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4925" y="2746920"/>
            <a:ext cx="290199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Thoroughly clean, validate, and standardize incoming enterprise data to resolve inconsistencies.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23225" y="1714500"/>
            <a:ext cx="476250" cy="4762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23225" y="2381250"/>
            <a:ext cx="3046943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0" i="0" u="none">
                <a:solidFill>
                  <a:srgbClr val="F8FAFC"/>
                </a:solidFill>
                <a:latin typeface="Inter SemiBold"/>
              </a:rPr>
              <a:t>ETL Pipelines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3225" y="2746920"/>
            <a:ext cx="29018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Develop repeatable, robust ETL pipelines using Pentaho Data Integration for automated workflows.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6775" y="4309020"/>
            <a:ext cx="476250" cy="4762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6775" y="4975770"/>
            <a:ext cx="3046943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0" i="0" u="none">
                <a:solidFill>
                  <a:srgbClr val="F8FAFC"/>
                </a:solidFill>
                <a:latin typeface="Inter SemiBold"/>
              </a:rPr>
              <a:t>Central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775" y="5341441"/>
            <a:ext cx="29018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Store processed data efficiently using PostgreSQL to act as the central staging and data warehouse.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44925" y="4309020"/>
            <a:ext cx="476250" cy="4762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644925" y="4975770"/>
            <a:ext cx="3047099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0" i="0" u="none">
                <a:solidFill>
                  <a:srgbClr val="F8FAFC"/>
                </a:solidFill>
                <a:latin typeface="Inter SemiBold"/>
              </a:rPr>
              <a:t>Documentation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4925" y="5341441"/>
            <a:ext cx="290199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Develop a data dictionary, define source-to-staging mappings, and maintain version control via Git.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23225" y="4309020"/>
            <a:ext cx="476250" cy="4762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423225" y="4975770"/>
            <a:ext cx="3046943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0" i="0" u="none">
                <a:solidFill>
                  <a:srgbClr val="10B981"/>
                </a:solidFill>
                <a:latin typeface="Inter SemiBold"/>
              </a:rPr>
              <a:t>Analytics Foundation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3225" y="5341441"/>
            <a:ext cx="29018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Establish a solid, reliable foundation for future Power BI analytics and energy reporting use cases.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0600" y="1838325"/>
            <a:ext cx="228600" cy="228600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54463" y="1838325"/>
            <a:ext cx="257175" cy="228600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18475" y="1838325"/>
            <a:ext cx="285750" cy="228600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90600" y="4432845"/>
            <a:ext cx="228600" cy="228600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783038" y="4432845"/>
            <a:ext cx="200025" cy="228600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547050" y="4432845"/>
            <a:ext cx="228600" cy="2286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62000" y="476250"/>
            <a:ext cx="11401425" cy="50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Inter"/>
              </a:rPr>
              <a:t>PROJECT OBJECTIVES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1500" y="476250"/>
            <a:ext cx="57150" cy="50289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70608"/>
            <a:ext cx="11049000" cy="4200525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8184998"/>
              </p:ext>
            </p:extLst>
          </p:nvPr>
        </p:nvGraphicFramePr>
        <p:xfrm>
          <a:off x="581025" y="1780133"/>
          <a:ext cx="11029949" cy="4181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59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663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7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0134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0EA5E9"/>
                          </a:solidFill>
                          <a:latin typeface="Inter SemiBold"/>
                        </a:rPr>
                        <a:t>Area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0EA5E9"/>
                          </a:solidFill>
                          <a:latin typeface="Inter SemiBold"/>
                        </a:rPr>
                        <a:t>Scope / Activity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0EA5E9"/>
                          </a:solidFill>
                          <a:latin typeface="Inter SemiBold"/>
                        </a:rPr>
                        <a:t>Tool / Tech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134">
                <a:tc>
                  <a:txBody>
                    <a:bodyPr/>
                    <a:lstStyle/>
                    <a:p>
                      <a:pPr algn="l"/>
                      <a:r>
                        <a:rPr sz="1125" b="1" i="0" u="none" dirty="0">
                          <a:solidFill>
                            <a:schemeClr val="bg1"/>
                          </a:solidFill>
                          <a:latin typeface="Inter"/>
                        </a:rPr>
                        <a:t>Requirement Analysis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Business requirement documentation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Markdown / MS Word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134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chemeClr val="bg1"/>
                          </a:solidFill>
                          <a:latin typeface="Inter"/>
                        </a:rPr>
                        <a:t>Data Discovery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Identification &amp; analysis of enterprise sources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Python / Excel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134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chemeClr val="bg1"/>
                          </a:solidFill>
                          <a:latin typeface="Inter"/>
                        </a:rPr>
                        <a:t>Data Dictionary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Documentation of source fields and attributes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Excel / Markdown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134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chemeClr val="bg1"/>
                          </a:solidFill>
                          <a:latin typeface="Inter"/>
                        </a:rPr>
                        <a:t>Data Ingestion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Extraction and loading of heterogeneous data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Pentaho Data Integration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134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chemeClr val="bg1"/>
                          </a:solidFill>
                          <a:latin typeface="Inter"/>
                        </a:rPr>
                        <a:t>Data Profiling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Analysis of data structure and quality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Python / Pandas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134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chemeClr val="bg1"/>
                          </a:solidFill>
                          <a:latin typeface="Inter"/>
                        </a:rPr>
                        <a:t>Data Cleaning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Data cleansing and validation rules implementation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Python / Pandas, Pentaho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134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chemeClr val="bg1"/>
                          </a:solidFill>
                          <a:latin typeface="Inter"/>
                        </a:rPr>
                        <a:t>Data Storage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Staging and centralized data warehouse setup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PostgreSQL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0134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chemeClr val="bg1"/>
                          </a:solidFill>
                          <a:latin typeface="Inter"/>
                        </a:rPr>
                        <a:t>Data Lineage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Source-to-target mapping &amp; lineage docs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Markdown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0134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chemeClr val="bg1"/>
                          </a:solidFill>
                          <a:latin typeface="Inter"/>
                        </a:rPr>
                        <a:t>ETL Orchestration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Automated ETL workflow development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Pentaho Data Integration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0135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chemeClr val="bg1"/>
                          </a:solidFill>
                          <a:latin typeface="Inter"/>
                        </a:rPr>
                        <a:t>Version Control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Source-code and project collaboration management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Git / GitHub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81025" y="2146845"/>
            <a:ext cx="220593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86955" y="2146845"/>
            <a:ext cx="60663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853338" y="2146845"/>
            <a:ext cx="275763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81025" y="2527845"/>
            <a:ext cx="220593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786955" y="2527845"/>
            <a:ext cx="60663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853338" y="2527845"/>
            <a:ext cx="275763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1025" y="2908845"/>
            <a:ext cx="220593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86955" y="2908845"/>
            <a:ext cx="60663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853338" y="2908845"/>
            <a:ext cx="275763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1025" y="3289845"/>
            <a:ext cx="220593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86955" y="3289845"/>
            <a:ext cx="60663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853338" y="3289845"/>
            <a:ext cx="275763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81025" y="3670845"/>
            <a:ext cx="220593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786955" y="3670845"/>
            <a:ext cx="60663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853338" y="3670845"/>
            <a:ext cx="275763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81025" y="4051845"/>
            <a:ext cx="220593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786955" y="4051845"/>
            <a:ext cx="60663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853338" y="4051845"/>
            <a:ext cx="275763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81025" y="4432845"/>
            <a:ext cx="220593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786955" y="4432845"/>
            <a:ext cx="60663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853338" y="4432845"/>
            <a:ext cx="275763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1025" y="4813845"/>
            <a:ext cx="220593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86955" y="4813845"/>
            <a:ext cx="60663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853338" y="4813845"/>
            <a:ext cx="275763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1025" y="5194845"/>
            <a:ext cx="220593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786955" y="5194845"/>
            <a:ext cx="60663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853338" y="5194845"/>
            <a:ext cx="275763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81025" y="5575845"/>
            <a:ext cx="220593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786955" y="5575845"/>
            <a:ext cx="6066383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853338" y="5575845"/>
            <a:ext cx="2757636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2000" y="476250"/>
            <a:ext cx="11401425" cy="50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Inter"/>
              </a:rPr>
              <a:t>PROJECT SCOPE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1500" y="476250"/>
            <a:ext cx="57150" cy="50289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151608"/>
            <a:ext cx="11049000" cy="3438525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656880"/>
              </p:ext>
            </p:extLst>
          </p:nvPr>
        </p:nvGraphicFramePr>
        <p:xfrm>
          <a:off x="581025" y="2161133"/>
          <a:ext cx="11029948" cy="3419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74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29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120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9941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0EA5E9"/>
                          </a:solidFill>
                          <a:latin typeface="Inter SemiBold"/>
                        </a:rPr>
                        <a:t>Dataset Name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0EA5E9"/>
                          </a:solidFill>
                          <a:latin typeface="Inter SemiBold"/>
                        </a:rPr>
                        <a:t>Type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0EA5E9"/>
                          </a:solidFill>
                          <a:latin typeface="Inter SemiBold"/>
                        </a:rPr>
                        <a:t>Primary Domain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0EA5E9"/>
                          </a:solidFill>
                          <a:latin typeface="Inter SemiBold"/>
                        </a:rPr>
                        <a:t>Key Variables (Subset)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941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asset_maintenance.csv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Predictive Maintenance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Temp, Rotational Speed, Torque, Wear, Failure Type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941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Billing_payments.csv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Utility Financials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Peak Demand, Generation, Sector Revenues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941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CIS.xml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XML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Customer Info System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Root, Result, Child Data, Unique Attributes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9941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iiot_smart_grid_dataset.csv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Smart Grid Telemetry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Voltage, Current, Power Factor, Renewable Gen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9941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OMS_data.csv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Outage Management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Event Times, NERC Region, Demand Loss, Affected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941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owid-energy-data.json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JSON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Global Energy Trends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Generation &amp; Shares (Biofuel, Coal, Gas, Solar, Wind)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9941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scada_pipeline.csv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SCADA Pipeline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Pressure, Flow Rate, Valve State, Alarms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9947"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smart_meter_data.csv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CSV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chemeClr val="bg1"/>
                          </a:solidFill>
                          <a:latin typeface="Inter"/>
                        </a:rPr>
                        <a:t>Smart Meter Consump.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 dirty="0">
                          <a:solidFill>
                            <a:schemeClr val="bg1"/>
                          </a:solidFill>
                          <a:latin typeface="Inter"/>
                        </a:rPr>
                        <a:t>Electricity Consumed, Weather Metrics, Anomaly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81025" y="2527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338512" y="2527845"/>
            <a:ext cx="110296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441477" y="2527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198965" y="2527845"/>
            <a:ext cx="44120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1025" y="2908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338512" y="2908845"/>
            <a:ext cx="110296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41477" y="2908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198965" y="2908845"/>
            <a:ext cx="44120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1025" y="3289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8512" y="3289845"/>
            <a:ext cx="110296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441477" y="3289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198965" y="3289845"/>
            <a:ext cx="44120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81025" y="3670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38512" y="3670845"/>
            <a:ext cx="110296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441477" y="3670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198965" y="3670845"/>
            <a:ext cx="44120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81025" y="4051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338512" y="4051845"/>
            <a:ext cx="110296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441477" y="4051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198965" y="4051845"/>
            <a:ext cx="44120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81025" y="4432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338512" y="4432845"/>
            <a:ext cx="110296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441477" y="4432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198965" y="4432845"/>
            <a:ext cx="44120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1025" y="4813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38512" y="4813845"/>
            <a:ext cx="110296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441477" y="4813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198965" y="4813845"/>
            <a:ext cx="44120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81025" y="5194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338512" y="5194845"/>
            <a:ext cx="1102965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441477" y="5194845"/>
            <a:ext cx="2757487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198965" y="5194845"/>
            <a:ext cx="4412009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62000" y="476250"/>
            <a:ext cx="11401425" cy="50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Inter"/>
              </a:rPr>
              <a:t>ENTERPRISE DATA SOURCES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1500" y="476250"/>
            <a:ext cx="57150" cy="50289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381250"/>
            <a:ext cx="5381625" cy="134674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875" y="2381250"/>
            <a:ext cx="5381625" cy="134674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013745"/>
            <a:ext cx="5381625" cy="134674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8875" y="4013745"/>
            <a:ext cx="5381625" cy="134674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775" y="2721173"/>
            <a:ext cx="666750" cy="6667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4150" y="2721173"/>
            <a:ext cx="666750" cy="6667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6775" y="4353669"/>
            <a:ext cx="666750" cy="6667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4150" y="4353669"/>
            <a:ext cx="666750" cy="6667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9650" y="2902148"/>
            <a:ext cx="381000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24025" y="2676525"/>
            <a:ext cx="3740467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0" i="0" u="none">
                <a:solidFill>
                  <a:srgbClr val="0EA5E9"/>
                </a:solidFill>
                <a:latin typeface="Inter SemiBold"/>
              </a:rPr>
              <a:t>Data Integration &amp; Storage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24025" y="2975520"/>
            <a:ext cx="35623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1" i="0" u="none">
                <a:solidFill>
                  <a:srgbClr val="F8FAFC"/>
                </a:solidFill>
                <a:latin typeface="Inter"/>
              </a:rPr>
              <a:t>Pentaho (Spoon):</a:t>
            </a:r>
            <a:r>
              <a:rPr sz="1125" b="0" i="0" u="none">
                <a:solidFill>
                  <a:srgbClr val="94A3B8"/>
                </a:solidFill>
                <a:latin typeface="Inter"/>
              </a:rPr>
              <a:t> ETL development &amp; orchestration.</a:t>
            </a:r>
            <a:r>
              <a:t>
</a:t>
            </a:r>
            <a:r>
              <a:rPr sz="1125" b="1" i="0" u="none">
                <a:solidFill>
                  <a:srgbClr val="F8FAFC"/>
                </a:solidFill>
                <a:latin typeface="Inter"/>
              </a:rPr>
              <a:t>PostgreSQL:</a:t>
            </a:r>
            <a:r>
              <a:rPr sz="1125" b="0" i="0" u="none">
                <a:solidFill>
                  <a:srgbClr val="94A3B8"/>
                </a:solidFill>
                <a:latin typeface="Inter"/>
              </a:rPr>
              <a:t> Staging and centralized data storage.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34175" y="2902148"/>
            <a:ext cx="266700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91400" y="2676525"/>
            <a:ext cx="3360420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0" i="0" u="none">
                <a:solidFill>
                  <a:srgbClr val="0EA5E9"/>
                </a:solidFill>
                <a:latin typeface="Inter SemiBold"/>
              </a:rPr>
              <a:t>Analysis &amp; Processing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91400" y="297552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1" i="0" u="none">
                <a:solidFill>
                  <a:srgbClr val="F8FAFC"/>
                </a:solidFill>
                <a:latin typeface="Inter"/>
              </a:rPr>
              <a:t>Python:</a:t>
            </a:r>
            <a:r>
              <a:rPr sz="1125" b="0" i="0" u="none">
                <a:solidFill>
                  <a:srgbClr val="94A3B8"/>
                </a:solidFill>
                <a:latin typeface="Inter"/>
              </a:rPr>
              <a:t> Data analysis and advanced profiling.</a:t>
            </a:r>
            <a:r>
              <a:t>
</a:t>
            </a:r>
            <a:r>
              <a:rPr sz="1125" b="1" i="0" u="none">
                <a:solidFill>
                  <a:srgbClr val="F8FAFC"/>
                </a:solidFill>
                <a:latin typeface="Inter"/>
              </a:rPr>
              <a:t>Pandas:</a:t>
            </a:r>
            <a:r>
              <a:rPr sz="1125" b="0" i="0" u="none">
                <a:solidFill>
                  <a:srgbClr val="94A3B8"/>
                </a:solidFill>
                <a:latin typeface="Inter"/>
              </a:rPr>
              <a:t> Data manipulation and quality analysis.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6800" y="4534644"/>
            <a:ext cx="266700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724025" y="4309020"/>
            <a:ext cx="3490436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0" i="0" u="none">
                <a:solidFill>
                  <a:srgbClr val="0EA5E9"/>
                </a:solidFill>
                <a:latin typeface="Inter SemiBold"/>
              </a:rPr>
              <a:t>Version Control &amp; Mgmt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24025" y="4608016"/>
            <a:ext cx="332422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1" i="0" u="none">
                <a:solidFill>
                  <a:srgbClr val="F8FAFC"/>
                </a:solidFill>
                <a:latin typeface="Inter"/>
              </a:rPr>
              <a:t>Git/GitHub:</a:t>
            </a:r>
            <a:r>
              <a:rPr sz="1125" b="0" i="0" u="none">
                <a:solidFill>
                  <a:srgbClr val="94A3B8"/>
                </a:solidFill>
                <a:latin typeface="Inter"/>
              </a:rPr>
              <a:t> Version control &amp; team collaboration.</a:t>
            </a:r>
            <a:r>
              <a:t>
</a:t>
            </a:r>
            <a:r>
              <a:rPr sz="1125" b="1" i="0" u="none">
                <a:solidFill>
                  <a:srgbClr val="F8FAFC"/>
                </a:solidFill>
                <a:latin typeface="Inter"/>
              </a:rPr>
              <a:t>Scrum:</a:t>
            </a:r>
            <a:r>
              <a:rPr sz="1125" b="0" i="0" u="none">
                <a:solidFill>
                  <a:srgbClr val="94A3B8"/>
                </a:solidFill>
                <a:latin typeface="Inter"/>
              </a:rPr>
              <a:t> Sprint and backlog management.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15125" y="4534644"/>
            <a:ext cx="304800" cy="304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91400" y="4309020"/>
            <a:ext cx="3720465" cy="251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0" i="0" u="none">
                <a:solidFill>
                  <a:srgbClr val="10B981"/>
                </a:solidFill>
                <a:latin typeface="Inter SemiBold"/>
              </a:rPr>
              <a:t>Analytics &amp; Documentation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91400" y="4608016"/>
            <a:ext cx="35433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1" i="0" u="none">
                <a:solidFill>
                  <a:srgbClr val="F8FAFC"/>
                </a:solidFill>
                <a:latin typeface="Inter"/>
              </a:rPr>
              <a:t>Power BI:</a:t>
            </a:r>
            <a:r>
              <a:rPr sz="1125" b="0" i="0" u="none">
                <a:solidFill>
                  <a:srgbClr val="94A3B8"/>
                </a:solidFill>
                <a:latin typeface="Inter"/>
              </a:rPr>
              <a:t> Analytics and visualization dashboarding.</a:t>
            </a:r>
            <a:r>
              <a:t>
</a:t>
            </a:r>
            <a:r>
              <a:rPr sz="1125" b="1" i="0" u="none">
                <a:solidFill>
                  <a:srgbClr val="F8FAFC"/>
                </a:solidFill>
                <a:latin typeface="Inter"/>
              </a:rPr>
              <a:t>Markdown/Word:</a:t>
            </a:r>
            <a:r>
              <a:rPr sz="1125" b="0" i="0" u="none">
                <a:solidFill>
                  <a:srgbClr val="94A3B8"/>
                </a:solidFill>
                <a:latin typeface="Inter"/>
              </a:rPr>
              <a:t> Technical project documentation.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476250"/>
            <a:ext cx="11401425" cy="50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Inter"/>
              </a:rPr>
              <a:t>TECHNOLOGY STACK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1500" y="476250"/>
            <a:ext cx="57150" cy="50289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52475" y="334848"/>
            <a:ext cx="5000625" cy="1005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 dirty="0">
                <a:solidFill>
                  <a:srgbClr val="F8FAFC"/>
                </a:solidFill>
                <a:latin typeface="Inter"/>
              </a:rPr>
              <a:t>INITIAL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1975" y="334848"/>
            <a:ext cx="57150" cy="50413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19125" y="1066338"/>
            <a:ext cx="5200650" cy="2742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0" i="0" u="none" dirty="0">
                <a:solidFill>
                  <a:srgbClr val="10B981"/>
                </a:solidFill>
                <a:latin typeface="Inter SemiBold"/>
              </a:rPr>
              <a:t>Sprint 0 &amp; Sprint 1 Deliverables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125" y="1531128"/>
            <a:ext cx="4953000" cy="822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 dirty="0">
                <a:solidFill>
                  <a:srgbClr val="94A3B8"/>
                </a:solidFill>
                <a:latin typeface="Inter"/>
              </a:rPr>
              <a:t>The current architecture focuses on establishing the foundational data pipelines, collecting diverse file formats, and loading them into a structured database.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125" y="6573276"/>
            <a:ext cx="4953000" cy="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050" b="0" i="1" u="none" dirty="0">
                <a:solidFill>
                  <a:srgbClr val="94A3B8"/>
                </a:solidFill>
                <a:latin typeface="Inter"/>
              </a:rPr>
              <a:t>* Architecture is subject to change in subsequent sprints as the warehouse evolves.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592124"/>
            <a:ext cx="46196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 dirty="0">
                <a:solidFill>
                  <a:srgbClr val="94A3B8"/>
                </a:solidFill>
                <a:latin typeface="Inter"/>
              </a:rPr>
              <a:t>Data Collection:</a:t>
            </a:r>
            <a:r>
              <a:rPr sz="1350" b="0" i="0" u="none" dirty="0">
                <a:solidFill>
                  <a:srgbClr val="94A3B8"/>
                </a:solidFill>
                <a:latin typeface="Inter"/>
              </a:rPr>
              <a:t> Ingestion of CSV, JSON, Excel, XML, and SQL formats.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331204"/>
            <a:ext cx="46196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 dirty="0">
                <a:solidFill>
                  <a:srgbClr val="94A3B8"/>
                </a:solidFill>
                <a:latin typeface="Inter"/>
              </a:rPr>
              <a:t>Column Mapping:</a:t>
            </a:r>
            <a:r>
              <a:rPr sz="1350" b="0" i="0" u="none" dirty="0">
                <a:solidFill>
                  <a:srgbClr val="94A3B8"/>
                </a:solidFill>
                <a:latin typeface="Inter"/>
              </a:rPr>
              <a:t> Identifying appropriate columns and schemas for staging.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4070285"/>
            <a:ext cx="46196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94A3B8"/>
                </a:solidFill>
                <a:latin typeface="Inter"/>
              </a:rPr>
              <a:t>Pentaho Processing: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Applying formatting rules and handling missing values systematically.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4809365"/>
            <a:ext cx="46196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94A3B8"/>
                </a:solidFill>
                <a:latin typeface="Inter"/>
              </a:rPr>
              <a:t>Logging &amp; Error Handling: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Displaying logs and capturing pipeline metrics.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5548446"/>
            <a:ext cx="4619625" cy="5128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 dirty="0">
                <a:solidFill>
                  <a:srgbClr val="94A3B8"/>
                </a:solidFill>
                <a:latin typeface="Inter"/>
              </a:rPr>
              <a:t>PostgreSQL DB:</a:t>
            </a:r>
            <a:r>
              <a:rPr sz="1350" b="0" i="0" u="none" dirty="0">
                <a:solidFill>
                  <a:srgbClr val="94A3B8"/>
                </a:solidFill>
                <a:latin typeface="Inter"/>
              </a:rPr>
              <a:t> Storing output tables in a centralized relational database.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" y="2611174"/>
            <a:ext cx="114300" cy="20002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" y="3350254"/>
            <a:ext cx="114300" cy="200025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" y="4089335"/>
            <a:ext cx="114300" cy="200025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" y="4828415"/>
            <a:ext cx="114300" cy="20002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" y="5567496"/>
            <a:ext cx="114300" cy="200025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CCC2E9C-C003-59EE-C3DD-422CC2696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8259" y="0"/>
            <a:ext cx="5933741" cy="678729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836390"/>
            <a:ext cx="5381625" cy="189160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8875" y="1836390"/>
            <a:ext cx="5381625" cy="189160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013745"/>
            <a:ext cx="5381625" cy="189160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875" y="4013745"/>
            <a:ext cx="5381625" cy="18916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5350" y="2131665"/>
            <a:ext cx="50006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Inter SemiBold"/>
              </a:rPr>
              <a:t>Challenge: </a:t>
            </a:r>
            <a:r>
              <a:rPr sz="1500" b="0" i="0" u="none">
                <a:solidFill>
                  <a:srgbClr val="94A3B8"/>
                </a:solidFill>
                <a:latin typeface="Inter"/>
              </a:rPr>
              <a:t>Heterogeneous Source Formats</a:t>
            </a:r>
          </a:p>
        </p:txBody>
      </p:sp>
      <p:sp>
        <p:nvSpPr>
          <p:cNvPr id="8" name="Rectangle 7"/>
          <p:cNvSpPr/>
          <p:nvPr/>
        </p:nvSpPr>
        <p:spPr>
          <a:xfrm>
            <a:off x="895350" y="2503140"/>
            <a:ext cx="47625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5350" y="2655540"/>
            <a:ext cx="5000625" cy="205680"/>
          </a:xfrm>
          <a:prstGeom prst="rect">
            <a:avLst/>
          </a:prstGeom>
          <a:noFill/>
        </p:spPr>
        <p:txBody>
          <a:bodyPr wrap="square" lIns="247650" tIns="0" r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1350" b="0" i="0" u="none">
                <a:solidFill>
                  <a:srgbClr val="10B981"/>
                </a:solidFill>
                <a:latin typeface="Inter SemiBold"/>
              </a:rPr>
              <a:t>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350" y="2975520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Implemented rigorous data profiling and dynamic standardization processes to unify file structures.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2725" y="2131665"/>
            <a:ext cx="50006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Inter SemiBold"/>
              </a:rPr>
              <a:t>Challenge: </a:t>
            </a:r>
            <a:r>
              <a:rPr sz="1500" b="0" i="0" u="none">
                <a:solidFill>
                  <a:srgbClr val="94A3B8"/>
                </a:solidFill>
                <a:latin typeface="Inter"/>
              </a:rPr>
              <a:t>Data Quality Inconsistencies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62725" y="2503140"/>
            <a:ext cx="47625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62725" y="2655540"/>
            <a:ext cx="5000625" cy="205680"/>
          </a:xfrm>
          <a:prstGeom prst="rect">
            <a:avLst/>
          </a:prstGeom>
          <a:noFill/>
        </p:spPr>
        <p:txBody>
          <a:bodyPr wrap="square" lIns="247650" tIns="0" r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1350" b="0" i="0" u="none">
                <a:solidFill>
                  <a:srgbClr val="10B981"/>
                </a:solidFill>
                <a:latin typeface="Inter SemiBold"/>
              </a:rPr>
              <a:t>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2725" y="2975520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Developed strict validation and automated cleaning rules within Python and Pentaho pipelines.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5350" y="4309020"/>
            <a:ext cx="50006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Inter SemiBold"/>
              </a:rPr>
              <a:t>Challenge: </a:t>
            </a:r>
            <a:r>
              <a:rPr sz="1500" b="0" i="0" u="none">
                <a:solidFill>
                  <a:srgbClr val="94A3B8"/>
                </a:solidFill>
                <a:latin typeface="Inter"/>
              </a:rPr>
              <a:t>Multiple Enterprise Systems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350" y="4680495"/>
            <a:ext cx="47625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5350" y="4832895"/>
            <a:ext cx="5000625" cy="205680"/>
          </a:xfrm>
          <a:prstGeom prst="rect">
            <a:avLst/>
          </a:prstGeom>
          <a:noFill/>
        </p:spPr>
        <p:txBody>
          <a:bodyPr wrap="square" lIns="247650" tIns="0" r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1350" b="0" i="0" u="none">
                <a:solidFill>
                  <a:srgbClr val="10B981"/>
                </a:solidFill>
                <a:latin typeface="Inter SemiBold"/>
              </a:rPr>
              <a:t>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5350" y="5152876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Designed a centralized integration architecture (PostgreSQL Data Warehouse) as a single source of truth.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2725" y="4309020"/>
            <a:ext cx="50006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>
                <a:solidFill>
                  <a:srgbClr val="F8FAFC"/>
                </a:solidFill>
                <a:latin typeface="Inter SemiBold"/>
              </a:rPr>
              <a:t>Challenge: </a:t>
            </a:r>
            <a:r>
              <a:rPr sz="1500" b="0" i="0" u="none">
                <a:solidFill>
                  <a:srgbClr val="94A3B8"/>
                </a:solidFill>
                <a:latin typeface="Inter"/>
              </a:rPr>
              <a:t>Difficulty Tracing Source Fields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62725" y="4680495"/>
            <a:ext cx="476250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62725" y="4832895"/>
            <a:ext cx="5000625" cy="205680"/>
          </a:xfrm>
          <a:prstGeom prst="rect">
            <a:avLst/>
          </a:prstGeom>
          <a:noFill/>
        </p:spPr>
        <p:txBody>
          <a:bodyPr wrap="square" lIns="247650" tIns="0" r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1350" b="0" i="0" u="none">
                <a:solidFill>
                  <a:srgbClr val="10B981"/>
                </a:solidFill>
                <a:latin typeface="Inter SemiBold"/>
              </a:rPr>
              <a:t>Solution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2725" y="5152876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0" i="0" u="none">
                <a:solidFill>
                  <a:srgbClr val="94A3B8"/>
                </a:solidFill>
                <a:latin typeface="Inter"/>
              </a:rPr>
              <a:t>Established a comprehensive Data Dictionary and detailed source-to-target mapping documentation.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350" y="2674590"/>
            <a:ext cx="171450" cy="17145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2725" y="2674590"/>
            <a:ext cx="171450" cy="17145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5350" y="4851945"/>
            <a:ext cx="171450" cy="17145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62725" y="4851945"/>
            <a:ext cx="171450" cy="1714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2000" y="476250"/>
            <a:ext cx="11401425" cy="50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Inter"/>
              </a:rPr>
              <a:t>CHALLENGES &amp; SOLUTIONS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1500" y="476250"/>
            <a:ext cx="57150" cy="50289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08AE217E-6246-63B1-6943-F0A14198A8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33FCF51-6402-B00C-1885-03E0837F5520}"/>
              </a:ext>
            </a:extLst>
          </p:cNvPr>
          <p:cNvSpPr txBox="1"/>
          <p:nvPr/>
        </p:nvSpPr>
        <p:spPr>
          <a:xfrm>
            <a:off x="4233813" y="3039614"/>
            <a:ext cx="372437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4400" b="1" dirty="0">
                <a:solidFill>
                  <a:srgbClr val="F8FAFC"/>
                </a:solidFill>
                <a:latin typeface="Inter"/>
              </a:rPr>
              <a:t>Sprint 2</a:t>
            </a:r>
          </a:p>
        </p:txBody>
      </p:sp>
    </p:spTree>
    <p:extLst>
      <p:ext uri="{BB962C8B-B14F-4D97-AF65-F5344CB8AC3E}">
        <p14:creationId xmlns:p14="http://schemas.microsoft.com/office/powerpoint/2010/main" val="3822171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775495"/>
            <a:ext cx="114300" cy="200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280197"/>
            <a:ext cx="114300" cy="200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746117"/>
            <a:ext cx="114300" cy="2000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210907"/>
            <a:ext cx="114300" cy="2000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675697"/>
            <a:ext cx="114300" cy="20002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5140488"/>
            <a:ext cx="114300" cy="20002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5551923"/>
            <a:ext cx="114300" cy="20002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71500" y="476250"/>
            <a:ext cx="57150" cy="50289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81750" y="2384970"/>
            <a:ext cx="5238750" cy="2209502"/>
          </a:xfrm>
          <a:prstGeom prst="roundRect">
            <a:avLst>
              <a:gd name="adj" fmla="val 6897"/>
            </a:avLst>
          </a:prstGeom>
          <a:solidFill>
            <a:srgbClr val="161F30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7025" y="2699295"/>
            <a:ext cx="133350" cy="1714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7025" y="3529756"/>
            <a:ext cx="133350" cy="1714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2000" y="476250"/>
            <a:ext cx="11430000" cy="5028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 dirty="0">
                <a:solidFill>
                  <a:srgbClr val="F8FAFC"/>
                </a:solidFill>
                <a:latin typeface="Inter"/>
              </a:rPr>
              <a:t>DATA PROFILING &amp; STRUCTURAL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" y="1360140"/>
            <a:ext cx="11620500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>
                <a:solidFill>
                  <a:srgbClr val="10B981"/>
                </a:solidFill>
                <a:latin typeface="Inter"/>
              </a:rPr>
              <a:t>Sprint 2 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1824930"/>
            <a:ext cx="11620500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Understand the structure and quality of source datasets before cleaning and standardization.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" y="2384970"/>
            <a:ext cx="6875859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u="none">
                <a:solidFill>
                  <a:srgbClr val="0EA5E9"/>
                </a:solidFill>
                <a:latin typeface="Inter"/>
              </a:rPr>
              <a:t>Implementation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7025" y="2680245"/>
            <a:ext cx="5514975" cy="205680"/>
          </a:xfrm>
          <a:prstGeom prst="rect">
            <a:avLst/>
          </a:prstGeom>
          <a:noFill/>
        </p:spPr>
        <p:txBody>
          <a:bodyPr wrap="none" lIns="209550" tIns="0" r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1350" b="1" i="0" u="none">
                <a:solidFill>
                  <a:srgbClr val="10B981"/>
                </a:solidFill>
                <a:latin typeface="Inter"/>
              </a:rPr>
              <a:t>Expected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7025" y="3028801"/>
            <a:ext cx="5514975" cy="2437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F8FAFC"/>
                </a:solidFill>
                <a:latin typeface="monospace"/>
              </a:rPr>
              <a:t>Data_Profiling_Report.xlsx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7025" y="3510706"/>
            <a:ext cx="5514975" cy="205680"/>
          </a:xfrm>
          <a:prstGeom prst="rect">
            <a:avLst/>
          </a:prstGeom>
          <a:noFill/>
        </p:spPr>
        <p:txBody>
          <a:bodyPr wrap="none" lIns="209550" tIns="0" r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1350" b="1" i="0" u="none">
                <a:solidFill>
                  <a:srgbClr val="10B981"/>
                </a:solidFill>
                <a:latin typeface="Inter"/>
              </a:rPr>
              <a:t>Business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7025" y="3811637"/>
            <a:ext cx="4743450" cy="48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94A3B8"/>
                </a:solidFill>
                <a:latin typeface="Inter"/>
              </a:rPr>
              <a:t>Establishes a baseline for identifying incomplete, inconsistent and potentially invalid data before downstream processing.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875" y="2756445"/>
            <a:ext cx="6215062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Load CSV, Excel and JSON datasets using Pandas.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875" y="3261147"/>
            <a:ext cx="50006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Identify the number of records and columns in each dataset.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875" y="3727067"/>
            <a:ext cx="6215062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Inspect column data types and sample values.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4875" y="4191857"/>
            <a:ext cx="6215062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 dirty="0">
                <a:solidFill>
                  <a:srgbClr val="94A3B8"/>
                </a:solidFill>
                <a:latin typeface="Inter"/>
              </a:rPr>
              <a:t>Calculate missing-value counts and percentages.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4875" y="4656647"/>
            <a:ext cx="6215062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 dirty="0">
                <a:solidFill>
                  <a:srgbClr val="94A3B8"/>
                </a:solidFill>
                <a:latin typeface="Inter"/>
              </a:rPr>
              <a:t>Identify duplicate values and unique-value counts.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4875" y="5121438"/>
            <a:ext cx="50006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 dirty="0">
                <a:solidFill>
                  <a:srgbClr val="94A3B8"/>
                </a:solidFill>
                <a:latin typeface="Inter"/>
              </a:rPr>
              <a:t>Calculate minimum, maximum and mean for numeric columns.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4875" y="5532873"/>
            <a:ext cx="6215062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Prepare a structured profiling report in Excel format.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025" y="2943000"/>
            <a:ext cx="190500" cy="200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025" y="3407790"/>
            <a:ext cx="190500" cy="200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025" y="3872580"/>
            <a:ext cx="190500" cy="2000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275" y="2943000"/>
            <a:ext cx="190500" cy="2000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275" y="3682080"/>
            <a:ext cx="190500" cy="20002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275" y="4695451"/>
            <a:ext cx="190500" cy="20002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476250"/>
            <a:ext cx="57150" cy="50289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71500" y="5648401"/>
            <a:ext cx="11049000" cy="1024830"/>
          </a:xfrm>
          <a:prstGeom prst="roundRect">
            <a:avLst>
              <a:gd name="adj" fmla="val 3717"/>
            </a:avLst>
          </a:prstGeom>
          <a:solidFill>
            <a:srgbClr val="0C2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71500" y="2139179"/>
            <a:ext cx="5238750" cy="3215433"/>
          </a:xfrm>
          <a:prstGeom prst="roundRect">
            <a:avLst>
              <a:gd name="adj" fmla="val 4156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381750" y="2139179"/>
            <a:ext cx="5238750" cy="3215433"/>
          </a:xfrm>
          <a:prstGeom prst="roundRect">
            <a:avLst>
              <a:gd name="adj" fmla="val 4156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71500" y="5648401"/>
            <a:ext cx="38100" cy="102483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025" y="2550540"/>
            <a:ext cx="180975" cy="2095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2275" y="2550540"/>
            <a:ext cx="238125" cy="2095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2000" y="476250"/>
            <a:ext cx="11430000" cy="5028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Inter"/>
              </a:rPr>
              <a:t>DATA QUALITY &amp; 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" y="1209599"/>
            <a:ext cx="11620500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 dirty="0">
                <a:solidFill>
                  <a:srgbClr val="10B981"/>
                </a:solidFill>
                <a:latin typeface="Inter"/>
              </a:rPr>
              <a:t>Sprint 2 Objective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" y="1674389"/>
            <a:ext cx="11620500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 dirty="0">
                <a:solidFill>
                  <a:srgbClr val="94A3B8"/>
                </a:solidFill>
                <a:latin typeface="Inter"/>
              </a:rPr>
              <a:t>Identify common data-quality issues and domain-specific inconsistencies in energy datasets.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" y="5838901"/>
            <a:ext cx="11391900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F8FAFC"/>
                </a:solidFill>
                <a:latin typeface="Inter"/>
              </a:rPr>
              <a:t>Output: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A structured quality report containing the dataset, affected column, issue type, issue count and severity.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" y="6208441"/>
            <a:ext cx="11391900" cy="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F8FAFC"/>
                </a:solidFill>
                <a:latin typeface="Inter"/>
              </a:rPr>
              <a:t>Business Value: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Makes data-quality issues visible before the data is used for operational analysis or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" y="2529704"/>
            <a:ext cx="5540692" cy="25137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1" i="0" u="none">
                <a:solidFill>
                  <a:srgbClr val="0EA5E9"/>
                </a:solidFill>
                <a:latin typeface="Inter"/>
              </a:rPr>
              <a:t>General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24700" y="2529704"/>
            <a:ext cx="5067300" cy="25137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1" i="0" u="none">
                <a:solidFill>
                  <a:srgbClr val="F59E0B"/>
                </a:solidFill>
                <a:latin typeface="Inter"/>
              </a:rPr>
              <a:t>Domain-Specific Validation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5400" y="2923950"/>
            <a:ext cx="5238750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Detect missing values in dataset columns.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5400" y="3388740"/>
            <a:ext cx="5238750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Identify duplicate records.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5400" y="3853530"/>
            <a:ext cx="42195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Assign issue severity based on the proportion of missing values.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5650" y="2923950"/>
            <a:ext cx="42195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F8FAFC"/>
                </a:solidFill>
                <a:latin typeface="Inter"/>
              </a:rPr>
              <a:t>SCADA: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Check for negative sensor measurements and invalid timestamps.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5650" y="3663030"/>
            <a:ext cx="4219575" cy="822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F8FAFC"/>
                </a:solidFill>
                <a:latin typeface="Inter"/>
              </a:rPr>
              <a:t>Smart meters: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Check for negative consumption-related values and humidity outside the 0–100 range.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5650" y="4676401"/>
            <a:ext cx="42195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F8FAFC"/>
                </a:solidFill>
                <a:latin typeface="Inter"/>
              </a:rPr>
              <a:t>Other energy datasets: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Apply dataset-specific checks where expected columns are available.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682478"/>
            <a:ext cx="114300" cy="200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421559"/>
            <a:ext cx="114300" cy="200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897436"/>
            <a:ext cx="114300" cy="2000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362227"/>
            <a:ext cx="114300" cy="2000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827017"/>
            <a:ext cx="114300" cy="20002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2682478"/>
            <a:ext cx="190500" cy="20002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3421559"/>
            <a:ext cx="190500" cy="20002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4171727"/>
            <a:ext cx="190500" cy="20002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71500" y="476250"/>
            <a:ext cx="57150" cy="50482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71500" y="5726460"/>
            <a:ext cx="11049000" cy="655290"/>
          </a:xfrm>
          <a:prstGeom prst="roundRect">
            <a:avLst>
              <a:gd name="adj" fmla="val 11628"/>
            </a:avLst>
          </a:prstGeom>
          <a:solidFill>
            <a:srgbClr val="1A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311003"/>
            <a:ext cx="219075" cy="1905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1750" y="2311003"/>
            <a:ext cx="219075" cy="1905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2000" y="476250"/>
            <a:ext cx="11430000" cy="1005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Inter"/>
              </a:rPr>
              <a:t>DATA STANDARDIZATION &amp; MASTER DATA PREPARATION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1267123"/>
            <a:ext cx="11620500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>
                <a:solidFill>
                  <a:srgbClr val="10B981"/>
                </a:solidFill>
                <a:latin typeface="Inter"/>
              </a:rPr>
              <a:t>Sprint 2 Objective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" y="1731913"/>
            <a:ext cx="11620500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Improve consistency across source datasets and prepare structured records for downstream integration.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285750" y="5916960"/>
            <a:ext cx="12763500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sz="1350" b="1" i="0" u="none">
                <a:solidFill>
                  <a:srgbClr val="10B981"/>
                </a:solidFill>
                <a:latin typeface="Inter"/>
              </a:rPr>
              <a:t>Intended Outcome: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More consistent customer/utility, asset and grid records for downstream integration and analysis.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" y="2291953"/>
            <a:ext cx="6875859" cy="228600"/>
          </a:xfrm>
          <a:prstGeom prst="rect">
            <a:avLst/>
          </a:prstGeom>
          <a:noFill/>
        </p:spPr>
        <p:txBody>
          <a:bodyPr wrap="none" lIns="295275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u="none">
                <a:solidFill>
                  <a:srgbClr val="0EA5E9"/>
                </a:solidFill>
                <a:latin typeface="Inter"/>
              </a:rPr>
              <a:t>Standardization Operations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1750" y="2291953"/>
            <a:ext cx="5810250" cy="228600"/>
          </a:xfrm>
          <a:prstGeom prst="rect">
            <a:avLst/>
          </a:prstGeom>
          <a:noFill/>
        </p:spPr>
        <p:txBody>
          <a:bodyPr wrap="none" lIns="295275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u="none">
                <a:solidFill>
                  <a:srgbClr val="0EA5E9"/>
                </a:solidFill>
                <a:latin typeface="Inter"/>
              </a:rPr>
              <a:t>Master Data Preparation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4875" y="2663428"/>
            <a:ext cx="50006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Normalize column names by removing inconsistent punctuation and formatting.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875" y="3402509"/>
            <a:ext cx="50006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Trim leading and trailing whitespace from selected text fields.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875" y="3878386"/>
            <a:ext cx="6215062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Normalize repeated whitespace within text values.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875" y="4343177"/>
            <a:ext cx="6215062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Rename selected fields into consistent names.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4875" y="4807967"/>
            <a:ext cx="6215062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Remove duplicate records using selected identifiers.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5125" y="2663428"/>
            <a:ext cx="50006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F8FAFC"/>
                </a:solidFill>
                <a:latin typeface="Inter"/>
              </a:rPr>
              <a:t>Customer/utility master: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Prepare utility identifiers, names, state, type and customer-count attributes from billing data.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15125" y="3402509"/>
            <a:ext cx="5000625" cy="822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F8FAFC"/>
                </a:solidFill>
                <a:latin typeface="Inter"/>
              </a:rPr>
              <a:t>Asset master: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Prepare asset identifiers, product identifiers, asset types and failure-related attributes from maintenance data.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15125" y="4152677"/>
            <a:ext cx="50006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F8FAFC"/>
                </a:solidFill>
                <a:latin typeface="Inter"/>
              </a:rPr>
              <a:t>Grid master: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Extract distinct grid-segment identifiers from SCADA data.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2545970"/>
            <a:ext cx="114300" cy="200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3189800"/>
            <a:ext cx="114300" cy="200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3833631"/>
            <a:ext cx="114300" cy="2000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4477461"/>
            <a:ext cx="114300" cy="2000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4847001"/>
            <a:ext cx="114300" cy="20002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" y="5169086"/>
            <a:ext cx="114300" cy="20002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550" y="2545970"/>
            <a:ext cx="190500" cy="20002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550" y="3285050"/>
            <a:ext cx="190500" cy="2000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550" y="3749840"/>
            <a:ext cx="190500" cy="20002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550" y="4214631"/>
            <a:ext cx="190500" cy="20002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550" y="4679421"/>
            <a:ext cx="190500" cy="20002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71500" y="476250"/>
            <a:ext cx="57150" cy="50289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28650" y="1930714"/>
            <a:ext cx="5238750" cy="3929431"/>
          </a:xfrm>
          <a:prstGeom prst="roundRect">
            <a:avLst>
              <a:gd name="adj" fmla="val 3365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38900" y="1930714"/>
            <a:ext cx="5238750" cy="3929431"/>
          </a:xfrm>
          <a:prstGeom prst="roundRect">
            <a:avLst>
              <a:gd name="adj" fmla="val 3365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686550" y="4946290"/>
            <a:ext cx="4743450" cy="74860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686550" y="5027083"/>
            <a:ext cx="4743450" cy="952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300" y="2197414"/>
            <a:ext cx="219075" cy="17145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6550" y="2197414"/>
            <a:ext cx="171450" cy="1714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62000" y="476250"/>
            <a:ext cx="11430000" cy="5028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Inter"/>
              </a:rPr>
              <a:t>CROSS-DATASET COLUMN MAPPING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50" y="1166068"/>
            <a:ext cx="11620500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800" b="1" i="0" u="none">
                <a:solidFill>
                  <a:srgbClr val="10B981"/>
                </a:solidFill>
                <a:latin typeface="Inter"/>
              </a:rPr>
              <a:t>Sprint 2 Objective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650" y="1493713"/>
            <a:ext cx="11620500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Identify related attributes across heterogeneous datasets and assess whether they may support integration.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650" y="6385061"/>
            <a:ext cx="11620500" cy="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sz="1050" b="1" i="1" u="none">
                <a:solidFill>
                  <a:srgbClr val="EF4444"/>
                </a:solidFill>
                <a:latin typeface="Inter"/>
              </a:rPr>
              <a:t>Important:</a:t>
            </a:r>
            <a:r>
              <a:rPr sz="1050" b="0" i="1" u="none">
                <a:solidFill>
                  <a:srgbClr val="EF4444"/>
                </a:solidFill>
                <a:latin typeface="Inter"/>
              </a:rPr>
              <a:t> A related attribute does not automatically establish a valid join key. Mapping relationships must be verified before integrating datasets.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300" y="2178364"/>
            <a:ext cx="6225778" cy="205680"/>
          </a:xfrm>
          <a:prstGeom prst="rect">
            <a:avLst/>
          </a:prstGeom>
          <a:noFill/>
        </p:spPr>
        <p:txBody>
          <a:bodyPr wrap="none" lIns="295275" tIns="0" r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1350" b="1" i="0" u="none">
                <a:solidFill>
                  <a:srgbClr val="0EA5E9"/>
                </a:solidFill>
                <a:latin typeface="Inter"/>
              </a:rPr>
              <a:t>Relationships Examined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6550" y="2178364"/>
            <a:ext cx="5562600" cy="205680"/>
          </a:xfrm>
          <a:prstGeom prst="rect">
            <a:avLst/>
          </a:prstGeom>
          <a:noFill/>
        </p:spPr>
        <p:txBody>
          <a:bodyPr wrap="none" lIns="247650" tIns="0" r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1350" b="1" i="0" u="none">
                <a:solidFill>
                  <a:srgbClr val="0EA5E9"/>
                </a:solidFill>
                <a:latin typeface="Inter"/>
              </a:rPr>
              <a:t>Mapping Checks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09675" y="2526920"/>
            <a:ext cx="45053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F8FAFC"/>
                </a:solidFill>
                <a:latin typeface="Inter"/>
              </a:rPr>
              <a:t>Renewable energy monitoring ↔ OWID energy data: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country, year and ISO code.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9675" y="3170750"/>
            <a:ext cx="45053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F8FAFC"/>
                </a:solidFill>
                <a:latin typeface="Inter"/>
              </a:rPr>
              <a:t>Smart meter ↔ IIoT: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timestamp, energy consumption, temperature and humidity.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9675" y="3814581"/>
            <a:ext cx="45053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F8FAFC"/>
                </a:solidFill>
                <a:latin typeface="Inter"/>
              </a:rPr>
              <a:t>SCADA ↔ IIoT: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operational timestamp, energy consumption and temperature.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09675" y="4458411"/>
            <a:ext cx="5595937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F8FAFC"/>
                </a:solidFill>
                <a:latin typeface="Inter"/>
              </a:rPr>
              <a:t>SCADA ↔ Smart meter: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timestamp and temperature.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09675" y="4827951"/>
            <a:ext cx="45053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F8FAFC"/>
                </a:solidFill>
                <a:latin typeface="Inter"/>
              </a:rPr>
              <a:t>OMS ↔ Billing: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geographic and customer-related attributes.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9675" y="5150036"/>
            <a:ext cx="45053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F8FAFC"/>
                </a:solidFill>
                <a:latin typeface="Inter"/>
              </a:rPr>
              <a:t>OMS ↔ Renewable energy data: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year and geographic attributes.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19925" y="2526920"/>
            <a:ext cx="450532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Verify whether the specified datasets and columns exist.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19925" y="3266000"/>
            <a:ext cx="5229225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Compare data types and missing-value counts.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9925" y="3730790"/>
            <a:ext cx="5229225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Compare unique-value counts.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19925" y="4195581"/>
            <a:ext cx="5229225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Count common values between selected columns.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19925" y="4660371"/>
            <a:ext cx="5229225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Record missing-column or type-compatibility issues.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86550" y="5098690"/>
            <a:ext cx="5562600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10B981"/>
                </a:solidFill>
                <a:latin typeface="Inter"/>
              </a:rPr>
              <a:t>Expected Output: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86550" y="5420605"/>
            <a:ext cx="5562600" cy="2742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F8FAFC"/>
                </a:solidFill>
                <a:latin typeface="monospace"/>
              </a:rPr>
              <a:t>Column_Mapping_Report.xlsx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508001"/>
            <a:ext cx="114300" cy="200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227434"/>
            <a:ext cx="114300" cy="200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" y="2644601"/>
            <a:ext cx="114300" cy="2000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" y="3365230"/>
            <a:ext cx="114300" cy="2000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" y="4028110"/>
            <a:ext cx="114300" cy="20002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" y="4690990"/>
            <a:ext cx="114300" cy="20002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" y="5353871"/>
            <a:ext cx="114300" cy="20002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" y="6197056"/>
            <a:ext cx="114300" cy="20002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0"/>
            <a:ext cx="6096000" cy="917748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2000" y="476250"/>
            <a:ext cx="6300787" cy="434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420"/>
              </a:lnSpc>
            </a:pPr>
            <a:r>
              <a:rPr sz="2850" b="1" i="0" u="none">
                <a:solidFill>
                  <a:srgbClr val="F8FAFC"/>
                </a:solidFill>
                <a:latin typeface="Inter"/>
              </a:rPr>
              <a:t>FINAL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" y="1094705"/>
            <a:ext cx="6500812" cy="2513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979"/>
              </a:lnSpc>
            </a:pPr>
            <a:r>
              <a:rPr sz="1650" b="1" i="0" u="none">
                <a:solidFill>
                  <a:srgbClr val="10B981"/>
                </a:solidFill>
                <a:latin typeface="Inter"/>
              </a:rPr>
              <a:t>Sprint 2 Deliverables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6570523"/>
            <a:ext cx="5048250" cy="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975" b="0" i="1" u="none" dirty="0">
                <a:solidFill>
                  <a:srgbClr val="94A3B8"/>
                </a:solidFill>
                <a:latin typeface="Inter"/>
              </a:rPr>
              <a:t>* Architecture is subject to change in subsequent sprints as the warehouse evolves.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875" y="1488951"/>
            <a:ext cx="4714875" cy="822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 dirty="0">
                <a:solidFill>
                  <a:srgbClr val="94A3B8"/>
                </a:solidFill>
                <a:latin typeface="Inter"/>
              </a:rPr>
              <a:t>Data Profiling:</a:t>
            </a:r>
            <a:r>
              <a:rPr sz="1350" b="0" i="0" u="none" dirty="0">
                <a:solidFill>
                  <a:srgbClr val="94A3B8"/>
                </a:solidFill>
                <a:latin typeface="Inter"/>
              </a:rPr>
              <a:t> Data profiling report documenting dataset structure, data types, missing values, duplicates, and statistical summaries.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4875" y="2208384"/>
            <a:ext cx="47148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94A3B8"/>
                </a:solidFill>
                <a:latin typeface="Inter"/>
              </a:rPr>
              <a:t>Data Quality: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Data quality report and documented validation rules.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925" y="2625551"/>
            <a:ext cx="4714875" cy="822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94A3B8"/>
                </a:solidFill>
                <a:latin typeface="Inter"/>
              </a:rPr>
              <a:t>Data Cleaning &amp; Standardization: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Cleaned and standardized datasets with consistent formats and column structures.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925" y="3346180"/>
            <a:ext cx="47148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94A3B8"/>
                </a:solidFill>
                <a:latin typeface="Inter"/>
              </a:rPr>
              <a:t>Data Warehouse Design: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Star schema design with fact and dimension table definitions.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925" y="4009060"/>
            <a:ext cx="47148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94A3B8"/>
                </a:solidFill>
                <a:latin typeface="Inter"/>
              </a:rPr>
              <a:t>PostgreSQL Data Warehouse: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Implementation of the data warehouse schema and tables in PostgreSQL.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925" y="4671940"/>
            <a:ext cx="4714875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94A3B8"/>
                </a:solidFill>
                <a:latin typeface="Inter"/>
              </a:rPr>
              <a:t>Warehouse ETL: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Pentaho transformations and SQL scripts for loading data into the warehouse.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925" y="5334821"/>
            <a:ext cx="4714875" cy="646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>
                <a:solidFill>
                  <a:srgbClr val="94A3B8"/>
                </a:solidFill>
                <a:latin typeface="Inter"/>
              </a:rPr>
              <a:t>Warehouse Validation:</a:t>
            </a:r>
            <a:r>
              <a:rPr sz="1350" b="0" i="0" u="none">
                <a:solidFill>
                  <a:srgbClr val="94A3B8"/>
                </a:solidFill>
                <a:latin typeface="Inter"/>
              </a:rPr>
              <a:t> Validation results covering record counts, data integrity, and source-to-target consistency.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925" y="5981181"/>
            <a:ext cx="4714875" cy="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1" i="0" u="none" dirty="0">
                <a:solidFill>
                  <a:srgbClr val="94A3B8"/>
                </a:solidFill>
                <a:latin typeface="Inter"/>
              </a:rPr>
              <a:t>Git Repository Updates:</a:t>
            </a:r>
            <a:r>
              <a:rPr sz="1350" b="0" i="0" u="none" dirty="0">
                <a:solidFill>
                  <a:srgbClr val="94A3B8"/>
                </a:solidFill>
                <a:latin typeface="Inter"/>
              </a:rPr>
              <a:t> Updated repository containing Sprint 2 scripts, configurations, datasets, and documentation.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33EA4AF-8082-BCDB-F257-24D64823710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1293"/>
          <a:stretch>
            <a:fillRect/>
          </a:stretch>
        </p:blipFill>
        <p:spPr>
          <a:xfrm>
            <a:off x="7643812" y="58454"/>
            <a:ext cx="3439716" cy="679954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950839"/>
            <a:ext cx="3492400" cy="384021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650" y="1950839"/>
            <a:ext cx="3492549" cy="384021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7950" y="1950839"/>
            <a:ext cx="3492400" cy="38402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6700" y="2341364"/>
            <a:ext cx="762000" cy="76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4228" y="3293864"/>
            <a:ext cx="3046943" cy="319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0" i="0" u="none" dirty="0">
                <a:solidFill>
                  <a:srgbClr val="F8FAFC"/>
                </a:solidFill>
                <a:latin typeface="Inter SemiBold"/>
              </a:rPr>
              <a:t>Perseus Mistry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6775" y="3661469"/>
            <a:ext cx="2901850" cy="2132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sz="1050" b="0" i="0" u="none" dirty="0">
                <a:solidFill>
                  <a:srgbClr val="0EA5E9"/>
                </a:solidFill>
                <a:latin typeface="Inter"/>
              </a:rPr>
              <a:t>26MML1027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4851" y="2341364"/>
            <a:ext cx="762000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375" y="3293864"/>
            <a:ext cx="3047099" cy="319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0" i="0" u="none">
                <a:solidFill>
                  <a:srgbClr val="F8FAFC"/>
                </a:solidFill>
                <a:latin typeface="Inter SemiBold"/>
              </a:rPr>
              <a:t>Sai Skanda 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4925" y="3661469"/>
            <a:ext cx="2901999" cy="2132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sz="1050" b="0" i="0" u="none">
                <a:solidFill>
                  <a:srgbClr val="10B981"/>
                </a:solidFill>
                <a:latin typeface="Inter"/>
              </a:rPr>
              <a:t>26MML1014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3150" y="2341364"/>
            <a:ext cx="762000" cy="76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50679" y="3293864"/>
            <a:ext cx="3046943" cy="3199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ts val="2520"/>
              </a:lnSpc>
            </a:pPr>
            <a:r>
              <a:rPr sz="2100" b="0" i="0" u="none">
                <a:solidFill>
                  <a:srgbClr val="F8FAFC"/>
                </a:solidFill>
                <a:latin typeface="Inter SemiBold"/>
              </a:rPr>
              <a:t>Jaikrishna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3225" y="3661469"/>
            <a:ext cx="2901850" cy="2132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sz="1050" b="0" i="0" u="none">
                <a:solidFill>
                  <a:srgbClr val="0EA5E9"/>
                </a:solidFill>
                <a:latin typeface="Inter"/>
              </a:rPr>
              <a:t>26MML1003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65300" y="2550914"/>
            <a:ext cx="304800" cy="342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6775" y="4112865"/>
            <a:ext cx="2901850" cy="274290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 dirty="0">
                <a:solidFill>
                  <a:srgbClr val="94A3B8"/>
                </a:solidFill>
                <a:latin typeface="Inter"/>
              </a:rPr>
              <a:t>Handling Documentation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6775" y="4482405"/>
            <a:ext cx="2901850" cy="274290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GitHub Repository Mgmt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775" y="4851945"/>
            <a:ext cx="2901850" cy="548580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Pentaho Transformation Debugging/Supervising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81538" y="2550914"/>
            <a:ext cx="428625" cy="3429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644925" y="4112865"/>
            <a:ext cx="2901999" cy="274290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Finding Datasets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4925" y="4482405"/>
            <a:ext cx="2901999" cy="274290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Pentaho Transformations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4925" y="4851945"/>
            <a:ext cx="2901999" cy="548580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Mapping Data Sources (Documentation)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21750" y="2550914"/>
            <a:ext cx="304800" cy="3429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423225" y="4112865"/>
            <a:ext cx="2901850" cy="274290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Finding Datasets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3225" y="4482405"/>
            <a:ext cx="2901850" cy="274290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Pentaho Transformations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3225" y="4851945"/>
            <a:ext cx="2901850" cy="274290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sz="1350" b="0" i="0" u="none">
                <a:solidFill>
                  <a:srgbClr val="94A3B8"/>
                </a:solidFill>
                <a:latin typeface="Inter"/>
              </a:rPr>
              <a:t>Pentaho Jobs Integration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6775" y="4155727"/>
            <a:ext cx="85725" cy="180975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6775" y="4525267"/>
            <a:ext cx="85725" cy="180975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6775" y="4894808"/>
            <a:ext cx="85725" cy="180975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44925" y="4155727"/>
            <a:ext cx="85725" cy="180975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44925" y="4525267"/>
            <a:ext cx="85725" cy="180975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44925" y="4894808"/>
            <a:ext cx="85725" cy="180975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23225" y="4155727"/>
            <a:ext cx="85725" cy="180975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23225" y="4525267"/>
            <a:ext cx="85725" cy="180975"/>
          </a:xfrm>
          <a:prstGeom prst="rect">
            <a:avLst/>
          </a:prstGeom>
        </p:spPr>
      </p:pic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23225" y="4894808"/>
            <a:ext cx="85725" cy="180975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62000" y="476250"/>
            <a:ext cx="11401425" cy="50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300" b="1" i="0" u="none">
                <a:solidFill>
                  <a:srgbClr val="F8FAFC"/>
                </a:solidFill>
                <a:latin typeface="Inter"/>
              </a:rPr>
              <a:t>TEAM CONTRIBUTIONS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1500" y="476250"/>
            <a:ext cx="57150" cy="50289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4323417"/>
            <a:ext cx="8839200" cy="8572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94204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80748" y="1684992"/>
            <a:ext cx="4030503" cy="9239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000" b="1" i="0" u="none">
                <a:solidFill>
                  <a:srgbClr val="F8FAFC"/>
                </a:solidFill>
                <a:latin typeface="Inter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95687" y="2799417"/>
            <a:ext cx="5000625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0" i="0" u="none">
                <a:solidFill>
                  <a:srgbClr val="10B981"/>
                </a:solidFill>
                <a:latin typeface="Inter Medium"/>
              </a:rPr>
              <a:t>Enterprise Energy Data Platform (EEDP)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05337" y="3504267"/>
            <a:ext cx="29813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50" b="0" i="0" u="none">
                <a:solidFill>
                  <a:srgbClr val="94A3B8"/>
                </a:solidFill>
                <a:latin typeface="Inter"/>
              </a:rPr>
              <a:t>We are open to any questions.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6400" y="4841662"/>
            <a:ext cx="269230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0EA5E9"/>
                </a:solidFill>
                <a:latin typeface="Inter Medium"/>
              </a:rPr>
              <a:t>26MML1003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49700" y="4841662"/>
            <a:ext cx="2692449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0EA5E9"/>
                </a:solidFill>
                <a:latin typeface="Inter Medium"/>
              </a:rPr>
              <a:t>26MML1014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3150" y="4841662"/>
            <a:ext cx="2692300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0EA5E9"/>
                </a:solidFill>
                <a:latin typeface="Inter Medium"/>
              </a:rPr>
              <a:t>26MML1027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9243" y="4613929"/>
            <a:ext cx="282691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 dirty="0">
                <a:solidFill>
                  <a:srgbClr val="F8FAFC"/>
                </a:solidFill>
                <a:latin typeface="Inter SemiBold"/>
              </a:rPr>
              <a:t>Jaikrishna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5906" y="4618291"/>
            <a:ext cx="2827072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F8FAFC"/>
                </a:solidFill>
                <a:latin typeface="Inter SemiBold"/>
              </a:rPr>
              <a:t>Sai Skanda 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55842" y="4618291"/>
            <a:ext cx="2826915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 dirty="0">
                <a:solidFill>
                  <a:srgbClr val="F8FAFC"/>
                </a:solidFill>
                <a:latin typeface="Inter SemiBold"/>
              </a:rPr>
              <a:t>Perseus Mistry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1734</Words>
  <Application>Microsoft Office PowerPoint</Application>
  <PresentationFormat>Widescreen</PresentationFormat>
  <Paragraphs>252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Arial</vt:lpstr>
      <vt:lpstr>Calibri</vt:lpstr>
      <vt:lpstr>Inter</vt:lpstr>
      <vt:lpstr>Inter ExtraBold</vt:lpstr>
      <vt:lpstr>Inter Light</vt:lpstr>
      <vt:lpstr>Inter Medium</vt:lpstr>
      <vt:lpstr>Inter SemiBold</vt:lpstr>
      <vt:lpstr>monospace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Perseus Mistry</cp:lastModifiedBy>
  <cp:revision>12</cp:revision>
  <dcterms:created xsi:type="dcterms:W3CDTF">2013-01-27T09:14:16Z</dcterms:created>
  <dcterms:modified xsi:type="dcterms:W3CDTF">2026-10-09T17:25:35Z</dcterms:modified>
  <cp:category/>
</cp:coreProperties>
</file>